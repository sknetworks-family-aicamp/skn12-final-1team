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1" r:id="rId2"/>
    <p:sldId id="2562" r:id="rId3"/>
    <p:sldId id="2563" r:id="rId4"/>
    <p:sldId id="2564" r:id="rId5"/>
    <p:sldId id="2566" r:id="rId6"/>
    <p:sldId id="2567" r:id="rId7"/>
    <p:sldId id="2568" r:id="rId8"/>
    <p:sldId id="2569" r:id="rId9"/>
    <p:sldId id="2570" r:id="rId10"/>
    <p:sldId id="2571" r:id="rId11"/>
    <p:sldId id="2582" r:id="rId12"/>
    <p:sldId id="2583" r:id="rId13"/>
    <p:sldId id="2572" r:id="rId14"/>
    <p:sldId id="2581" r:id="rId15"/>
    <p:sldId id="2573" r:id="rId16"/>
    <p:sldId id="2574" r:id="rId17"/>
    <p:sldId id="2575" r:id="rId18"/>
    <p:sldId id="2576" r:id="rId19"/>
    <p:sldId id="2577" r:id="rId20"/>
    <p:sldId id="2578" r:id="rId21"/>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T 기업 주간 보고서" id="{AB152E7B-4B9F-4CD4-84AA-F16EBCBFB5CE}">
          <p14:sldIdLst>
            <p14:sldId id="2561"/>
            <p14:sldId id="2562"/>
          </p14:sldIdLst>
        </p14:section>
        <p14:section name="금주 진행 목표" id="{FD18AE95-7D59-434A-B45C-EE83A8894B1F}">
          <p14:sldIdLst>
            <p14:sldId id="2563"/>
            <p14:sldId id="2564"/>
            <p14:sldId id="2566"/>
            <p14:sldId id="2567"/>
            <p14:sldId id="2568"/>
          </p14:sldIdLst>
        </p14:section>
        <p14:section name="금주 진행 상황" id="{D5B5FB4D-3290-4A2E-928E-1937DA3CAE9A}">
          <p14:sldIdLst>
            <p14:sldId id="2569"/>
            <p14:sldId id="2570"/>
            <p14:sldId id="2571"/>
            <p14:sldId id="2582"/>
            <p14:sldId id="2583"/>
            <p14:sldId id="2572"/>
            <p14:sldId id="2581"/>
          </p14:sldIdLst>
        </p14:section>
        <p14:section name="팀원별 진행 상황" id="{C0F2C011-0951-474A-8AE5-008EEF579715}">
          <p14:sldIdLst>
            <p14:sldId id="2573"/>
            <p14:sldId id="2574"/>
            <p14:sldId id="2575"/>
            <p14:sldId id="2576"/>
            <p14:sldId id="2577"/>
            <p14:sldId id="25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15" autoAdjust="0"/>
    <p:restoredTop sz="94660"/>
  </p:normalViewPr>
  <p:slideViewPr>
    <p:cSldViewPr snapToGrid="0">
      <p:cViewPr varScale="1">
        <p:scale>
          <a:sx n="113" d="100"/>
          <a:sy n="113" d="100"/>
        </p:scale>
        <p:origin x="400" y="29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2E2A824-377E-4BAC-889C-7299E009807D}"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pPr latinLnBrk="1"/>
          <a:endParaRPr lang="ko-KR" altLang="en-US"/>
        </a:p>
      </dgm:t>
    </dgm:pt>
    <dgm:pt modelId="{0F91F883-5D83-483B-B354-02C9B3A7AF67}">
      <dgm:prSet custT="1"/>
      <dgm:spPr/>
      <dgm:t>
        <a:bodyPr/>
        <a:lstStyle/>
        <a:p>
          <a:pPr>
            <a:lnSpc>
              <a:spcPct val="100000"/>
            </a:lnSpc>
            <a:defRPr b="1"/>
          </a:pPr>
          <a:r>
            <a:rPr lang="ko-KR" altLang="en-US" sz="1800" b="1" dirty="0"/>
            <a:t>데이터 수집방법</a:t>
          </a:r>
          <a:endParaRPr lang="ko-KR" sz="1800" b="1" dirty="0"/>
        </a:p>
      </dgm:t>
    </dgm:pt>
    <dgm:pt modelId="{2B9102E6-3B21-482D-8B8D-92C0B3F0B1EF}" type="parTrans" cxnId="{D4703DB9-2A7C-4CFA-AA11-9B355B714B07}">
      <dgm:prSet/>
      <dgm:spPr/>
      <dgm:t>
        <a:bodyPr/>
        <a:lstStyle/>
        <a:p>
          <a:pPr latinLnBrk="1"/>
          <a:endParaRPr lang="ko-KR" altLang="en-US"/>
        </a:p>
      </dgm:t>
    </dgm:pt>
    <dgm:pt modelId="{F065830E-72F1-4FD6-A166-7C43642128BA}" type="sibTrans" cxnId="{D4703DB9-2A7C-4CFA-AA11-9B355B714B07}">
      <dgm:prSet/>
      <dgm:spPr/>
      <dgm:t>
        <a:bodyPr/>
        <a:lstStyle/>
        <a:p>
          <a:pPr>
            <a:lnSpc>
              <a:spcPct val="100000"/>
            </a:lnSpc>
            <a:defRPr b="1"/>
          </a:pPr>
          <a:endParaRPr lang="ko-KR" altLang="en-US"/>
        </a:p>
      </dgm:t>
    </dgm:pt>
    <dgm:pt modelId="{A7CEBF5F-79DE-421A-B17D-AED27D432D43}">
      <dgm:prSet/>
      <dgm:spPr/>
      <dgm:t>
        <a:bodyPr/>
        <a:lstStyle/>
        <a:p>
          <a:pPr>
            <a:lnSpc>
              <a:spcPct val="100000"/>
            </a:lnSpc>
          </a:pPr>
          <a:endParaRPr lang="ko-KR" dirty="0"/>
        </a:p>
      </dgm:t>
    </dgm:pt>
    <dgm:pt modelId="{12FD56CF-457B-438C-BA6A-C6064FD41F2B}" type="parTrans" cxnId="{5ED90B25-2466-43AB-B459-3B396823DC22}">
      <dgm:prSet/>
      <dgm:spPr/>
      <dgm:t>
        <a:bodyPr/>
        <a:lstStyle/>
        <a:p>
          <a:pPr latinLnBrk="1"/>
          <a:endParaRPr lang="ko-KR" altLang="en-US"/>
        </a:p>
      </dgm:t>
    </dgm:pt>
    <dgm:pt modelId="{6D5FB3D0-641A-438D-8C95-E6CF98D40D0E}" type="sibTrans" cxnId="{5ED90B25-2466-43AB-B459-3B396823DC22}">
      <dgm:prSet/>
      <dgm:spPr/>
      <dgm:t>
        <a:bodyPr/>
        <a:lstStyle/>
        <a:p>
          <a:pPr latinLnBrk="1"/>
          <a:endParaRPr lang="ko-KR" altLang="en-US"/>
        </a:p>
      </dgm:t>
    </dgm:pt>
    <dgm:pt modelId="{85FE4ABA-7B9F-4048-9381-4DF273CC3449}">
      <dgm:prSet/>
      <dgm:spPr/>
      <dgm:t>
        <a:bodyPr/>
        <a:lstStyle/>
        <a:p>
          <a:pPr>
            <a:lnSpc>
              <a:spcPct val="100000"/>
            </a:lnSpc>
            <a:defRPr b="1"/>
          </a:pPr>
          <a:r>
            <a:rPr lang="ko-KR" altLang="en-US" dirty="0"/>
            <a:t>사용기술</a:t>
          </a:r>
          <a:endParaRPr lang="ko-KR" dirty="0"/>
        </a:p>
      </dgm:t>
    </dgm:pt>
    <dgm:pt modelId="{DDB99060-39FA-455D-ADB6-366A894F3CAD}" type="parTrans" cxnId="{352B1486-AC64-4107-894D-5852B0E689E6}">
      <dgm:prSet/>
      <dgm:spPr/>
      <dgm:t>
        <a:bodyPr/>
        <a:lstStyle/>
        <a:p>
          <a:pPr latinLnBrk="1"/>
          <a:endParaRPr lang="ko-KR" altLang="en-US"/>
        </a:p>
      </dgm:t>
    </dgm:pt>
    <dgm:pt modelId="{8F49543E-D096-40D8-8D0A-D62C62541C06}" type="sibTrans" cxnId="{352B1486-AC64-4107-894D-5852B0E689E6}">
      <dgm:prSet/>
      <dgm:spPr/>
      <dgm:t>
        <a:bodyPr/>
        <a:lstStyle/>
        <a:p>
          <a:pPr>
            <a:lnSpc>
              <a:spcPct val="100000"/>
            </a:lnSpc>
            <a:defRPr b="1"/>
          </a:pPr>
          <a:endParaRPr lang="ko-KR" altLang="en-US"/>
        </a:p>
      </dgm:t>
    </dgm:pt>
    <dgm:pt modelId="{2F4AA9DF-A117-4FC2-9AC8-85468D9234E9}">
      <dgm:prSet/>
      <dgm:spPr/>
      <dgm:t>
        <a:bodyPr/>
        <a:lstStyle/>
        <a:p>
          <a:pPr>
            <a:lnSpc>
              <a:spcPct val="100000"/>
            </a:lnSpc>
          </a:pPr>
          <a:endParaRPr lang="ko-KR" dirty="0"/>
        </a:p>
      </dgm:t>
    </dgm:pt>
    <dgm:pt modelId="{4DABAC17-4858-4338-A43A-E822E941A476}" type="parTrans" cxnId="{0544BF36-51CE-461E-B6EA-399F34829B92}">
      <dgm:prSet/>
      <dgm:spPr/>
      <dgm:t>
        <a:bodyPr/>
        <a:lstStyle/>
        <a:p>
          <a:pPr latinLnBrk="1"/>
          <a:endParaRPr lang="ko-KR" altLang="en-US"/>
        </a:p>
      </dgm:t>
    </dgm:pt>
    <dgm:pt modelId="{75A14974-2BEA-4580-896C-613ECED915D5}" type="sibTrans" cxnId="{0544BF36-51CE-461E-B6EA-399F34829B92}">
      <dgm:prSet/>
      <dgm:spPr/>
      <dgm:t>
        <a:bodyPr/>
        <a:lstStyle/>
        <a:p>
          <a:pPr latinLnBrk="1"/>
          <a:endParaRPr lang="ko-KR" altLang="en-US"/>
        </a:p>
      </dgm:t>
    </dgm:pt>
    <dgm:pt modelId="{6D945537-B9CB-463A-A8ED-02AD9F985A49}">
      <dgm:prSet/>
      <dgm:spPr/>
      <dgm:t>
        <a:bodyPr/>
        <a:lstStyle/>
        <a:p>
          <a:pPr>
            <a:lnSpc>
              <a:spcPct val="100000"/>
            </a:lnSpc>
            <a:defRPr b="1"/>
          </a:pPr>
          <a:r>
            <a:rPr lang="ko-KR" altLang="en-US" dirty="0"/>
            <a:t>운영방향</a:t>
          </a:r>
          <a:endParaRPr lang="en-US" altLang="ko-KR" dirty="0"/>
        </a:p>
      </dgm:t>
    </dgm:pt>
    <dgm:pt modelId="{827A80A7-E782-46E7-AADF-87F7C24D8139}" type="parTrans" cxnId="{5C6D4DF3-84C7-4C68-8B34-52071F9B63F5}">
      <dgm:prSet/>
      <dgm:spPr/>
      <dgm:t>
        <a:bodyPr/>
        <a:lstStyle/>
        <a:p>
          <a:pPr latinLnBrk="1"/>
          <a:endParaRPr lang="ko-KR" altLang="en-US"/>
        </a:p>
      </dgm:t>
    </dgm:pt>
    <dgm:pt modelId="{B7AFC6E3-74CB-4B9B-AFF8-B633B4D77A63}" type="sibTrans" cxnId="{5C6D4DF3-84C7-4C68-8B34-52071F9B63F5}">
      <dgm:prSet/>
      <dgm:spPr/>
      <dgm:t>
        <a:bodyPr/>
        <a:lstStyle/>
        <a:p>
          <a:pPr latinLnBrk="1"/>
          <a:endParaRPr lang="ko-KR" altLang="en-US"/>
        </a:p>
      </dgm:t>
    </dgm:pt>
    <dgm:pt modelId="{1557653E-75C1-49C5-BC55-439F80AD4EFA}">
      <dgm:prSet/>
      <dgm:spPr/>
      <dgm:t>
        <a:bodyPr/>
        <a:lstStyle/>
        <a:p>
          <a:pPr>
            <a:lnSpc>
              <a:spcPct val="100000"/>
            </a:lnSpc>
          </a:pPr>
          <a:r>
            <a:rPr lang="ko-KR" dirty="0"/>
            <a:t>.</a:t>
          </a:r>
        </a:p>
      </dgm:t>
    </dgm:pt>
    <dgm:pt modelId="{3263B67C-543F-4358-BE17-39A580CA5AFA}" type="parTrans" cxnId="{5C6DEB43-192D-4B3A-BB4C-63C7F622796B}">
      <dgm:prSet/>
      <dgm:spPr/>
      <dgm:t>
        <a:bodyPr/>
        <a:lstStyle/>
        <a:p>
          <a:pPr latinLnBrk="1"/>
          <a:endParaRPr lang="ko-KR" altLang="en-US"/>
        </a:p>
      </dgm:t>
    </dgm:pt>
    <dgm:pt modelId="{8B2AC26E-769D-4AB7-8CA9-0CD83D102530}" type="sibTrans" cxnId="{5C6DEB43-192D-4B3A-BB4C-63C7F622796B}">
      <dgm:prSet/>
      <dgm:spPr/>
      <dgm:t>
        <a:bodyPr/>
        <a:lstStyle/>
        <a:p>
          <a:pPr latinLnBrk="1"/>
          <a:endParaRPr lang="ko-KR" altLang="en-US"/>
        </a:p>
      </dgm:t>
    </dgm:pt>
    <dgm:pt modelId="{D2FF4825-9F94-479E-8358-5F10A2BC4CE9}" type="pres">
      <dgm:prSet presAssocID="{F2E2A824-377E-4BAC-889C-7299E009807D}" presName="Root" presStyleCnt="0">
        <dgm:presLayoutVars>
          <dgm:dir/>
          <dgm:resizeHandles val="exact"/>
        </dgm:presLayoutVars>
      </dgm:prSet>
      <dgm:spPr/>
    </dgm:pt>
    <dgm:pt modelId="{DAF631D6-21F8-43AE-AEF5-C79EC9212228}" type="pres">
      <dgm:prSet presAssocID="{0F91F883-5D83-483B-B354-02C9B3A7AF67}" presName="Composite" presStyleCnt="0"/>
      <dgm:spPr/>
    </dgm:pt>
    <dgm:pt modelId="{1E0F1B91-CDAB-4825-953E-EED04A986199}" type="pres">
      <dgm:prSet presAssocID="{0F91F883-5D83-483B-B354-02C9B3A7AF67}"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22222" r="19527" b="-2"/>
          <a:stretch/>
        </a:blipFill>
      </dgm:spPr>
      <dgm:extLst>
        <a:ext uri="{E40237B7-FDA0-4F09-8148-C483321AD2D9}">
          <dgm14:cNvPr xmlns:dgm14="http://schemas.microsoft.com/office/drawing/2010/diagram" id="0" name="" descr="공중에 매달려 있는 여러 대의 노트북"/>
        </a:ext>
      </dgm:extLst>
    </dgm:pt>
    <dgm:pt modelId="{4FFAA7A8-9F46-401D-A94B-EC1D8AE223A5}" type="pres">
      <dgm:prSet presAssocID="{0F91F883-5D83-483B-B354-02C9B3A7AF67}" presName="Subtitle" presStyleLbl="revTx" presStyleIdx="0" presStyleCnt="6">
        <dgm:presLayoutVars>
          <dgm:chMax val="0"/>
          <dgm:bulletEnabled/>
        </dgm:presLayoutVars>
      </dgm:prSet>
      <dgm:spPr/>
    </dgm:pt>
    <dgm:pt modelId="{9407212A-C306-4991-AFB1-DA61FB2EF81A}" type="pres">
      <dgm:prSet presAssocID="{0F91F883-5D83-483B-B354-02C9B3A7AF67}" presName="Description" presStyleLbl="revTx" presStyleIdx="1" presStyleCnt="6">
        <dgm:presLayoutVars>
          <dgm:bulletEnabled/>
        </dgm:presLayoutVars>
      </dgm:prSet>
      <dgm:spPr/>
    </dgm:pt>
    <dgm:pt modelId="{CE66A8C0-F35F-41A8-B13C-92B480B7CAD9}" type="pres">
      <dgm:prSet presAssocID="{F065830E-72F1-4FD6-A166-7C43642128BA}" presName="sibTrans" presStyleLbl="sibTrans2D1" presStyleIdx="0" presStyleCnt="0"/>
      <dgm:spPr/>
    </dgm:pt>
    <dgm:pt modelId="{3AB87C95-F44A-4511-AA2D-A6658A460B7F}" type="pres">
      <dgm:prSet presAssocID="{85FE4ABA-7B9F-4048-9381-4DF273CC3449}" presName="Composite" presStyleCnt="0"/>
      <dgm:spPr/>
    </dgm:pt>
    <dgm:pt modelId="{5299D866-9E9A-48FE-BEC7-E0FB489CCA5A}" type="pres">
      <dgm:prSet presAssocID="{85FE4ABA-7B9F-4048-9381-4DF273CC3449}"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21625" r="28375"/>
          <a:stretch/>
        </a:blipFill>
      </dgm:spPr>
      <dgm:extLst>
        <a:ext uri="{E40237B7-FDA0-4F09-8148-C483321AD2D9}">
          <dgm14:cNvPr xmlns:dgm14="http://schemas.microsoft.com/office/drawing/2010/diagram" id="0" name="" descr="프로그래밍 코드 그림"/>
        </a:ext>
      </dgm:extLst>
    </dgm:pt>
    <dgm:pt modelId="{E20C9AEF-C66F-49A9-907A-B54461A890AE}" type="pres">
      <dgm:prSet presAssocID="{85FE4ABA-7B9F-4048-9381-4DF273CC3449}" presName="Subtitle" presStyleLbl="revTx" presStyleIdx="2" presStyleCnt="6">
        <dgm:presLayoutVars>
          <dgm:chMax val="0"/>
          <dgm:bulletEnabled/>
        </dgm:presLayoutVars>
      </dgm:prSet>
      <dgm:spPr/>
    </dgm:pt>
    <dgm:pt modelId="{DE77C397-EBD9-45E7-B4EF-D21B1F851CAC}" type="pres">
      <dgm:prSet presAssocID="{85FE4ABA-7B9F-4048-9381-4DF273CC3449}" presName="Description" presStyleLbl="revTx" presStyleIdx="3" presStyleCnt="6">
        <dgm:presLayoutVars>
          <dgm:bulletEnabled/>
        </dgm:presLayoutVars>
      </dgm:prSet>
      <dgm:spPr/>
    </dgm:pt>
    <dgm:pt modelId="{C141F661-27C7-44E1-98C9-A90577F59FC6}" type="pres">
      <dgm:prSet presAssocID="{8F49543E-D096-40D8-8D0A-D62C62541C06}" presName="sibTrans" presStyleLbl="sibTrans2D1" presStyleIdx="0" presStyleCnt="0"/>
      <dgm:spPr/>
    </dgm:pt>
    <dgm:pt modelId="{77BEFB3E-89A7-4ED3-9000-9287076A6C12}" type="pres">
      <dgm:prSet presAssocID="{6D945537-B9CB-463A-A8ED-02AD9F985A49}" presName="Composite" presStyleCnt="0"/>
      <dgm:spPr/>
    </dgm:pt>
    <dgm:pt modelId="{18E93829-FC5F-4056-A3FB-D865654B4937}" type="pres">
      <dgm:prSet presAssocID="{6D945537-B9CB-463A-A8ED-02AD9F985A49}"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4549" r="18700" b="-2"/>
          <a:stretch/>
        </a:blipFill>
      </dgm:spPr>
      <dgm:extLst>
        <a:ext uri="{E40237B7-FDA0-4F09-8148-C483321AD2D9}">
          <dgm14:cNvPr xmlns:dgm14="http://schemas.microsoft.com/office/drawing/2010/diagram" id="0" name="" descr="개인적인 관점 - 데스크탑 컴퓨터 모니터 1개, 노트북, 스마트폰, 메모장, 커피 및 사무용품이 있는 홈 오피스 책상. 복사 공간 프리랜서 작업 디자인 템플릿"/>
        </a:ext>
      </dgm:extLst>
    </dgm:pt>
    <dgm:pt modelId="{E50093AB-ABBF-4AFD-8C37-28D6C6995C46}" type="pres">
      <dgm:prSet presAssocID="{6D945537-B9CB-463A-A8ED-02AD9F985A49}" presName="Subtitle" presStyleLbl="revTx" presStyleIdx="4" presStyleCnt="6">
        <dgm:presLayoutVars>
          <dgm:chMax val="0"/>
          <dgm:bulletEnabled/>
        </dgm:presLayoutVars>
      </dgm:prSet>
      <dgm:spPr/>
    </dgm:pt>
    <dgm:pt modelId="{DC63FCBA-9634-47F6-AAEA-A9B8D68D1516}" type="pres">
      <dgm:prSet presAssocID="{6D945537-B9CB-463A-A8ED-02AD9F985A49}" presName="Description" presStyleLbl="revTx" presStyleIdx="5" presStyleCnt="6">
        <dgm:presLayoutVars>
          <dgm:bulletEnabled/>
        </dgm:presLayoutVars>
      </dgm:prSet>
      <dgm:spPr/>
    </dgm:pt>
  </dgm:ptLst>
  <dgm:cxnLst>
    <dgm:cxn modelId="{A9454B06-2534-4990-BF8D-DD98F487D1BD}" type="presOf" srcId="{0F91F883-5D83-483B-B354-02C9B3A7AF67}" destId="{4FFAA7A8-9F46-401D-A94B-EC1D8AE223A5}" srcOrd="0" destOrd="0" presId="urn:microsoft.com/office/officeart/2024/3/layout/verticalVisualTextBlock1"/>
    <dgm:cxn modelId="{FB54ED15-3C75-46A4-A27D-11BE6B8A01C8}" type="presOf" srcId="{F065830E-72F1-4FD6-A166-7C43642128BA}" destId="{CE66A8C0-F35F-41A8-B13C-92B480B7CAD9}" srcOrd="0" destOrd="0" presId="urn:microsoft.com/office/officeart/2024/3/layout/verticalVisualTextBlock1"/>
    <dgm:cxn modelId="{5ED90B25-2466-43AB-B459-3B396823DC22}" srcId="{0F91F883-5D83-483B-B354-02C9B3A7AF67}" destId="{A7CEBF5F-79DE-421A-B17D-AED27D432D43}" srcOrd="0" destOrd="0" parTransId="{12FD56CF-457B-438C-BA6A-C6064FD41F2B}" sibTransId="{6D5FB3D0-641A-438D-8C95-E6CF98D40D0E}"/>
    <dgm:cxn modelId="{79170735-79A3-4877-90F3-99B167C0123E}" type="presOf" srcId="{2F4AA9DF-A117-4FC2-9AC8-85468D9234E9}" destId="{DE77C397-EBD9-45E7-B4EF-D21B1F851CAC}" srcOrd="0" destOrd="0" presId="urn:microsoft.com/office/officeart/2024/3/layout/verticalVisualTextBlock1"/>
    <dgm:cxn modelId="{0544BF36-51CE-461E-B6EA-399F34829B92}" srcId="{85FE4ABA-7B9F-4048-9381-4DF273CC3449}" destId="{2F4AA9DF-A117-4FC2-9AC8-85468D9234E9}" srcOrd="0" destOrd="0" parTransId="{4DABAC17-4858-4338-A43A-E822E941A476}" sibTransId="{75A14974-2BEA-4580-896C-613ECED915D5}"/>
    <dgm:cxn modelId="{5C6DEB43-192D-4B3A-BB4C-63C7F622796B}" srcId="{6D945537-B9CB-463A-A8ED-02AD9F985A49}" destId="{1557653E-75C1-49C5-BC55-439F80AD4EFA}" srcOrd="0" destOrd="0" parTransId="{3263B67C-543F-4358-BE17-39A580CA5AFA}" sibTransId="{8B2AC26E-769D-4AB7-8CA9-0CD83D102530}"/>
    <dgm:cxn modelId="{485E8A75-E553-46B4-8B17-4C4DE2ED016A}" type="presOf" srcId="{F2E2A824-377E-4BAC-889C-7299E009807D}" destId="{D2FF4825-9F94-479E-8358-5F10A2BC4CE9}" srcOrd="0" destOrd="0" presId="urn:microsoft.com/office/officeart/2024/3/layout/verticalVisualTextBlock1"/>
    <dgm:cxn modelId="{B0AE8676-567D-4BDC-88C8-4AE28D80D19C}" type="presOf" srcId="{85FE4ABA-7B9F-4048-9381-4DF273CC3449}" destId="{E20C9AEF-C66F-49A9-907A-B54461A890AE}" srcOrd="0" destOrd="0" presId="urn:microsoft.com/office/officeart/2024/3/layout/verticalVisualTextBlock1"/>
    <dgm:cxn modelId="{352B1486-AC64-4107-894D-5852B0E689E6}" srcId="{F2E2A824-377E-4BAC-889C-7299E009807D}" destId="{85FE4ABA-7B9F-4048-9381-4DF273CC3449}" srcOrd="1" destOrd="0" parTransId="{DDB99060-39FA-455D-ADB6-366A894F3CAD}" sibTransId="{8F49543E-D096-40D8-8D0A-D62C62541C06}"/>
    <dgm:cxn modelId="{E0700D8F-336F-4D65-B95F-5D16D9C9221A}" type="presOf" srcId="{8F49543E-D096-40D8-8D0A-D62C62541C06}" destId="{C141F661-27C7-44E1-98C9-A90577F59FC6}" srcOrd="0" destOrd="0" presId="urn:microsoft.com/office/officeart/2024/3/layout/verticalVisualTextBlock1"/>
    <dgm:cxn modelId="{518DFA9B-D4EE-41F1-921E-D67974FC6A43}" type="presOf" srcId="{1557653E-75C1-49C5-BC55-439F80AD4EFA}" destId="{DC63FCBA-9634-47F6-AAEA-A9B8D68D1516}" srcOrd="0" destOrd="0" presId="urn:microsoft.com/office/officeart/2024/3/layout/verticalVisualTextBlock1"/>
    <dgm:cxn modelId="{4058BAA6-ED36-4536-A407-878D806AE00B}" type="presOf" srcId="{A7CEBF5F-79DE-421A-B17D-AED27D432D43}" destId="{9407212A-C306-4991-AFB1-DA61FB2EF81A}" srcOrd="0" destOrd="0" presId="urn:microsoft.com/office/officeart/2024/3/layout/verticalVisualTextBlock1"/>
    <dgm:cxn modelId="{D4703DB9-2A7C-4CFA-AA11-9B355B714B07}" srcId="{F2E2A824-377E-4BAC-889C-7299E009807D}" destId="{0F91F883-5D83-483B-B354-02C9B3A7AF67}" srcOrd="0" destOrd="0" parTransId="{2B9102E6-3B21-482D-8B8D-92C0B3F0B1EF}" sibTransId="{F065830E-72F1-4FD6-A166-7C43642128BA}"/>
    <dgm:cxn modelId="{5C6D4DF3-84C7-4C68-8B34-52071F9B63F5}" srcId="{F2E2A824-377E-4BAC-889C-7299E009807D}" destId="{6D945537-B9CB-463A-A8ED-02AD9F985A49}" srcOrd="2" destOrd="0" parTransId="{827A80A7-E782-46E7-AADF-87F7C24D8139}" sibTransId="{B7AFC6E3-74CB-4B9B-AFF8-B633B4D77A63}"/>
    <dgm:cxn modelId="{73E9A6F4-98B3-4A60-88A5-F50CE15E5184}" type="presOf" srcId="{6D945537-B9CB-463A-A8ED-02AD9F985A49}" destId="{E50093AB-ABBF-4AFD-8C37-28D6C6995C46}" srcOrd="0" destOrd="0" presId="urn:microsoft.com/office/officeart/2024/3/layout/verticalVisualTextBlock1"/>
    <dgm:cxn modelId="{BF2DB5DE-0CE4-4AC9-A4C1-C8D7F3915D55}" type="presParOf" srcId="{D2FF4825-9F94-479E-8358-5F10A2BC4CE9}" destId="{DAF631D6-21F8-43AE-AEF5-C79EC9212228}" srcOrd="0" destOrd="0" presId="urn:microsoft.com/office/officeart/2024/3/layout/verticalVisualTextBlock1"/>
    <dgm:cxn modelId="{B682B31F-6488-4D2A-8BE3-4A5021777C29}" type="presParOf" srcId="{DAF631D6-21F8-43AE-AEF5-C79EC9212228}" destId="{1E0F1B91-CDAB-4825-953E-EED04A986199}" srcOrd="0" destOrd="0" presId="urn:microsoft.com/office/officeart/2024/3/layout/verticalVisualTextBlock1"/>
    <dgm:cxn modelId="{737E862E-13C6-431B-95E1-B2E58E8617E3}" type="presParOf" srcId="{DAF631D6-21F8-43AE-AEF5-C79EC9212228}" destId="{4FFAA7A8-9F46-401D-A94B-EC1D8AE223A5}" srcOrd="1" destOrd="0" presId="urn:microsoft.com/office/officeart/2024/3/layout/verticalVisualTextBlock1"/>
    <dgm:cxn modelId="{3B2C23BC-BA12-44D2-8FF9-25FBFA691F34}" type="presParOf" srcId="{DAF631D6-21F8-43AE-AEF5-C79EC9212228}" destId="{9407212A-C306-4991-AFB1-DA61FB2EF81A}" srcOrd="2" destOrd="0" presId="urn:microsoft.com/office/officeart/2024/3/layout/verticalVisualTextBlock1"/>
    <dgm:cxn modelId="{6B56F358-B6EF-47AF-A3DC-2996A4F80475}" type="presParOf" srcId="{D2FF4825-9F94-479E-8358-5F10A2BC4CE9}" destId="{CE66A8C0-F35F-41A8-B13C-92B480B7CAD9}" srcOrd="1" destOrd="0" presId="urn:microsoft.com/office/officeart/2024/3/layout/verticalVisualTextBlock1"/>
    <dgm:cxn modelId="{1174D65A-750E-4F4E-9D60-79BCC3E6ABB0}" type="presParOf" srcId="{D2FF4825-9F94-479E-8358-5F10A2BC4CE9}" destId="{3AB87C95-F44A-4511-AA2D-A6658A460B7F}" srcOrd="2" destOrd="0" presId="urn:microsoft.com/office/officeart/2024/3/layout/verticalVisualTextBlock1"/>
    <dgm:cxn modelId="{78F9C8F4-3608-437A-918D-8BC9AB6E984A}" type="presParOf" srcId="{3AB87C95-F44A-4511-AA2D-A6658A460B7F}" destId="{5299D866-9E9A-48FE-BEC7-E0FB489CCA5A}" srcOrd="0" destOrd="0" presId="urn:microsoft.com/office/officeart/2024/3/layout/verticalVisualTextBlock1"/>
    <dgm:cxn modelId="{0E9B320F-7A91-4BE0-8955-76065C5A2B84}" type="presParOf" srcId="{3AB87C95-F44A-4511-AA2D-A6658A460B7F}" destId="{E20C9AEF-C66F-49A9-907A-B54461A890AE}" srcOrd="1" destOrd="0" presId="urn:microsoft.com/office/officeart/2024/3/layout/verticalVisualTextBlock1"/>
    <dgm:cxn modelId="{E15198B8-CDDA-43D6-BC66-552CBA3126D6}" type="presParOf" srcId="{3AB87C95-F44A-4511-AA2D-A6658A460B7F}" destId="{DE77C397-EBD9-45E7-B4EF-D21B1F851CAC}" srcOrd="2" destOrd="0" presId="urn:microsoft.com/office/officeart/2024/3/layout/verticalVisualTextBlock1"/>
    <dgm:cxn modelId="{B994AB5A-98D6-4B29-A795-5985BE95BDDF}" type="presParOf" srcId="{D2FF4825-9F94-479E-8358-5F10A2BC4CE9}" destId="{C141F661-27C7-44E1-98C9-A90577F59FC6}" srcOrd="3" destOrd="0" presId="urn:microsoft.com/office/officeart/2024/3/layout/verticalVisualTextBlock1"/>
    <dgm:cxn modelId="{C97B0D7C-7133-45DE-890A-66A0932794A0}" type="presParOf" srcId="{D2FF4825-9F94-479E-8358-5F10A2BC4CE9}" destId="{77BEFB3E-89A7-4ED3-9000-9287076A6C12}" srcOrd="4" destOrd="0" presId="urn:microsoft.com/office/officeart/2024/3/layout/verticalVisualTextBlock1"/>
    <dgm:cxn modelId="{87C26D50-2259-4A1B-8067-C77C9D3ADC20}" type="presParOf" srcId="{77BEFB3E-89A7-4ED3-9000-9287076A6C12}" destId="{18E93829-FC5F-4056-A3FB-D865654B4937}" srcOrd="0" destOrd="0" presId="urn:microsoft.com/office/officeart/2024/3/layout/verticalVisualTextBlock1"/>
    <dgm:cxn modelId="{875ABF15-9EEA-4044-8C17-B46466C3B07E}" type="presParOf" srcId="{77BEFB3E-89A7-4ED3-9000-9287076A6C12}" destId="{E50093AB-ABBF-4AFD-8C37-28D6C6995C46}" srcOrd="1" destOrd="0" presId="urn:microsoft.com/office/officeart/2024/3/layout/verticalVisualTextBlock1"/>
    <dgm:cxn modelId="{1D044B49-EC09-418E-892F-B60163CD52BF}" type="presParOf" srcId="{77BEFB3E-89A7-4ED3-9000-9287076A6C12}" destId="{DC63FCBA-9634-47F6-AAEA-A9B8D68D1516}"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0F1B91-CDAB-4825-953E-EED04A986199}">
      <dsp:nvSpPr>
        <dsp:cNvPr id="0" name=""/>
        <dsp:cNvSpPr/>
      </dsp:nvSpPr>
      <dsp:spPr>
        <a:xfrm>
          <a:off x="0" y="0"/>
          <a:ext cx="1681599" cy="1681599"/>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22222" r="19527" b="-2"/>
          <a:stretch/>
        </a:blipFill>
        <a:ln>
          <a:noFill/>
        </a:ln>
        <a:effectLst/>
      </dsp:spPr>
      <dsp:style>
        <a:lnRef idx="0">
          <a:scrgbClr r="0" g="0" b="0"/>
        </a:lnRef>
        <a:fillRef idx="3">
          <a:scrgbClr r="0" g="0" b="0"/>
        </a:fillRef>
        <a:effectRef idx="2">
          <a:scrgbClr r="0" g="0" b="0"/>
        </a:effectRef>
        <a:fontRef idx="minor">
          <a:schemeClr val="lt1"/>
        </a:fontRef>
      </dsp:style>
    </dsp:sp>
    <dsp:sp modelId="{4FFAA7A8-9F46-401D-A94B-EC1D8AE223A5}">
      <dsp:nvSpPr>
        <dsp:cNvPr id="0" name=""/>
        <dsp:cNvSpPr/>
      </dsp:nvSpPr>
      <dsp:spPr>
        <a:xfrm>
          <a:off x="1861599" y="0"/>
          <a:ext cx="5167674" cy="4648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ko-KR" altLang="en-US" sz="1800" b="1" kern="1200" dirty="0"/>
            <a:t>데이터 수집방법</a:t>
          </a:r>
        </a:p>
      </dsp:txBody>
      <dsp:txXfrm>
        <a:off x="1861599" y="0"/>
        <a:ext cx="5167674" cy="464864"/>
      </dsp:txXfrm>
    </dsp:sp>
    <dsp:sp modelId="{9407212A-C306-4991-AFB1-DA61FB2EF81A}">
      <dsp:nvSpPr>
        <dsp:cNvPr id="0" name=""/>
        <dsp:cNvSpPr/>
      </dsp:nvSpPr>
      <dsp:spPr>
        <a:xfrm>
          <a:off x="1861599" y="464864"/>
          <a:ext cx="5167674" cy="12167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endParaRPr lang="ko-KR" altLang="en-US" sz="1400" kern="1200" dirty="0"/>
        </a:p>
      </dsp:txBody>
      <dsp:txXfrm>
        <a:off x="1861599" y="464864"/>
        <a:ext cx="5167674" cy="1216735"/>
      </dsp:txXfrm>
    </dsp:sp>
    <dsp:sp modelId="{5299D866-9E9A-48FE-BEC7-E0FB489CCA5A}">
      <dsp:nvSpPr>
        <dsp:cNvPr id="0" name=""/>
        <dsp:cNvSpPr/>
      </dsp:nvSpPr>
      <dsp:spPr>
        <a:xfrm>
          <a:off x="0" y="1816127"/>
          <a:ext cx="1681599" cy="1681599"/>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21625" r="28375"/>
          <a:stretch/>
        </a:blipFill>
        <a:ln>
          <a:noFill/>
        </a:ln>
        <a:effectLst/>
      </dsp:spPr>
      <dsp:style>
        <a:lnRef idx="0">
          <a:scrgbClr r="0" g="0" b="0"/>
        </a:lnRef>
        <a:fillRef idx="3">
          <a:scrgbClr r="0" g="0" b="0"/>
        </a:fillRef>
        <a:effectRef idx="2">
          <a:scrgbClr r="0" g="0" b="0"/>
        </a:effectRef>
        <a:fontRef idx="minor">
          <a:schemeClr val="lt1"/>
        </a:fontRef>
      </dsp:style>
    </dsp:sp>
    <dsp:sp modelId="{E20C9AEF-C66F-49A9-907A-B54461A890AE}">
      <dsp:nvSpPr>
        <dsp:cNvPr id="0" name=""/>
        <dsp:cNvSpPr/>
      </dsp:nvSpPr>
      <dsp:spPr>
        <a:xfrm>
          <a:off x="1861599" y="1816127"/>
          <a:ext cx="5167674" cy="4648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ko-KR" altLang="en-US" sz="1800" kern="1200" dirty="0"/>
            <a:t>사용기술</a:t>
          </a:r>
        </a:p>
      </dsp:txBody>
      <dsp:txXfrm>
        <a:off x="1861599" y="1816127"/>
        <a:ext cx="5167674" cy="464864"/>
      </dsp:txXfrm>
    </dsp:sp>
    <dsp:sp modelId="{DE77C397-EBD9-45E7-B4EF-D21B1F851CAC}">
      <dsp:nvSpPr>
        <dsp:cNvPr id="0" name=""/>
        <dsp:cNvSpPr/>
      </dsp:nvSpPr>
      <dsp:spPr>
        <a:xfrm>
          <a:off x="1861599" y="2280992"/>
          <a:ext cx="5167674" cy="12167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endParaRPr lang="ko-KR" altLang="en-US" sz="1400" kern="1200" dirty="0"/>
        </a:p>
      </dsp:txBody>
      <dsp:txXfrm>
        <a:off x="1861599" y="2280992"/>
        <a:ext cx="5167674" cy="1216735"/>
      </dsp:txXfrm>
    </dsp:sp>
    <dsp:sp modelId="{18E93829-FC5F-4056-A3FB-D865654B4937}">
      <dsp:nvSpPr>
        <dsp:cNvPr id="0" name=""/>
        <dsp:cNvSpPr/>
      </dsp:nvSpPr>
      <dsp:spPr>
        <a:xfrm>
          <a:off x="0" y="3632255"/>
          <a:ext cx="1681599" cy="1681599"/>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4549" r="18700" b="-2"/>
          <a:stretch/>
        </a:blipFill>
        <a:ln>
          <a:noFill/>
        </a:ln>
        <a:effectLst/>
      </dsp:spPr>
      <dsp:style>
        <a:lnRef idx="0">
          <a:scrgbClr r="0" g="0" b="0"/>
        </a:lnRef>
        <a:fillRef idx="3">
          <a:scrgbClr r="0" g="0" b="0"/>
        </a:fillRef>
        <a:effectRef idx="2">
          <a:scrgbClr r="0" g="0" b="0"/>
        </a:effectRef>
        <a:fontRef idx="minor">
          <a:schemeClr val="lt1"/>
        </a:fontRef>
      </dsp:style>
    </dsp:sp>
    <dsp:sp modelId="{E50093AB-ABBF-4AFD-8C37-28D6C6995C46}">
      <dsp:nvSpPr>
        <dsp:cNvPr id="0" name=""/>
        <dsp:cNvSpPr/>
      </dsp:nvSpPr>
      <dsp:spPr>
        <a:xfrm>
          <a:off x="1861599" y="3632255"/>
          <a:ext cx="5167674" cy="4648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ko-KR" altLang="en-US" sz="1800" kern="1200" dirty="0"/>
            <a:t>운영방향</a:t>
          </a:r>
          <a:endParaRPr lang="en-US" altLang="ko-KR" sz="1800" kern="1200" dirty="0"/>
        </a:p>
      </dsp:txBody>
      <dsp:txXfrm>
        <a:off x="1861599" y="3632255"/>
        <a:ext cx="5167674" cy="464864"/>
      </dsp:txXfrm>
    </dsp:sp>
    <dsp:sp modelId="{DC63FCBA-9634-47F6-AAEA-A9B8D68D1516}">
      <dsp:nvSpPr>
        <dsp:cNvPr id="0" name=""/>
        <dsp:cNvSpPr/>
      </dsp:nvSpPr>
      <dsp:spPr>
        <a:xfrm>
          <a:off x="1861599" y="4097120"/>
          <a:ext cx="5167674" cy="12167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altLang="ko-KR" sz="1400" kern="1200" dirty="0"/>
            <a:t>.</a:t>
          </a:r>
        </a:p>
      </dsp:txBody>
      <dsp:txXfrm>
        <a:off x="1861599" y="4097120"/>
        <a:ext cx="5167674" cy="1216735"/>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7EB708-8658-4931-BB6B-895E0FAB4594}" type="datetimeFigureOut">
              <a:rPr lang="ko-KR" altLang="en-US" smtClean="0"/>
              <a:t>2025-07-21</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1FF1D0-2028-4D98-B954-A4390D629F25}" type="slidenum">
              <a:rPr lang="ko-KR" altLang="en-US" smtClean="0"/>
              <a:t>‹#›</a:t>
            </a:fld>
            <a:endParaRPr lang="ko-KR" altLang="en-US"/>
          </a:p>
        </p:txBody>
      </p:sp>
    </p:spTree>
    <p:extLst>
      <p:ext uri="{BB962C8B-B14F-4D97-AF65-F5344CB8AC3E}">
        <p14:creationId xmlns:p14="http://schemas.microsoft.com/office/powerpoint/2010/main" val="80520177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AI 생성 콘텐츠는 정확하지 않을 수 있습니다.
---
이번 주 보고서는 팀이 진행한 프로젝트와 관련된 목표와 진행 상황을 요약합니다. 각 팀원별로 맡은 업무와 진행 상황을 살펴보며, 향후 계획에 대해서도 논의할 것입니다.
이미지 원본: Microsoft 365 콘텐츠 라이브러리
</a:t>
            </a:r>
          </a:p>
        </p:txBody>
      </p:sp>
      <p:sp>
        <p:nvSpPr>
          <p:cNvPr id="4" name="슬라이드 번호 개체 틀 3"/>
          <p:cNvSpPr>
            <a:spLocks noGrp="1"/>
          </p:cNvSpPr>
          <p:nvPr>
            <p:ph type="sldNum" sz="quarter" idx="5"/>
          </p:nvPr>
        </p:nvSpPr>
        <p:spPr/>
        <p:txBody>
          <a:bodyPr/>
          <a:lstStyle/>
          <a:p>
            <a:fld id="{DFA35136-D23A-4430-BEDF-A73EA8891344}" type="slidenum">
              <a:rPr lang="ko-KR" altLang="en-US" smtClean="0"/>
              <a:t>1</a:t>
            </a:fld>
            <a:endParaRPr lang="ko-KR" altLang="en-US"/>
          </a:p>
        </p:txBody>
      </p:sp>
    </p:spTree>
    <p:extLst>
      <p:ext uri="{BB962C8B-B14F-4D97-AF65-F5344CB8AC3E}">
        <p14:creationId xmlns:p14="http://schemas.microsoft.com/office/powerpoint/2010/main" val="19975191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
---
이번 프레젠테이션에서는 금주 진행 목표, 진행 상황 및 팀원별 진행 상황을 상세히 다룰 것입니다. 목표 달성을 위한 구체적인 단계와 그에 따른 결과를 확인하고, 각 팀원의 기여와 업무 진행 상황을 점검하겠습니다.
이미지 원본: Microsoft 365 콘텐츠 라이브러리
</a:t>
            </a:r>
          </a:p>
        </p:txBody>
      </p:sp>
      <p:sp>
        <p:nvSpPr>
          <p:cNvPr id="4" name="슬라이드 번호 개체 틀 3"/>
          <p:cNvSpPr>
            <a:spLocks noGrp="1"/>
          </p:cNvSpPr>
          <p:nvPr>
            <p:ph type="sldNum" sz="quarter" idx="5"/>
          </p:nvPr>
        </p:nvSpPr>
        <p:spPr/>
        <p:txBody>
          <a:bodyPr/>
          <a:lstStyle/>
          <a:p>
            <a:fld id="{DFA35136-D23A-4430-BEDF-A73EA8891344}" type="slidenum">
              <a:rPr lang="ko-KR" altLang="en-US" smtClean="0"/>
              <a:t>2</a:t>
            </a:fld>
            <a:endParaRPr lang="ko-KR" altLang="en-US"/>
          </a:p>
        </p:txBody>
      </p:sp>
    </p:spTree>
    <p:extLst>
      <p:ext uri="{BB962C8B-B14F-4D97-AF65-F5344CB8AC3E}">
        <p14:creationId xmlns:p14="http://schemas.microsoft.com/office/powerpoint/2010/main" val="30003976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이번 주의 주요 목표는 프로젝트의 기본 방향을 설정하는 것입니다. 여기에는 주제 결정, 데이터 수집 방법 선정, 사용할 기술 결정 및 기획서 초안을 작성하는 것이 포함됩니다.</a:t>
            </a:r>
          </a:p>
        </p:txBody>
      </p:sp>
      <p:sp>
        <p:nvSpPr>
          <p:cNvPr id="4" name="슬라이드 번호 개체 틀 3"/>
          <p:cNvSpPr>
            <a:spLocks noGrp="1"/>
          </p:cNvSpPr>
          <p:nvPr>
            <p:ph type="sldNum" sz="quarter" idx="5"/>
          </p:nvPr>
        </p:nvSpPr>
        <p:spPr/>
        <p:txBody>
          <a:bodyPr/>
          <a:lstStyle/>
          <a:p>
            <a:fld id="{DFA35136-D23A-4430-BEDF-A73EA8891344}" type="slidenum">
              <a:rPr lang="ko-KR" altLang="en-US" smtClean="0"/>
              <a:t>3</a:t>
            </a:fld>
            <a:endParaRPr lang="ko-KR" altLang="en-US"/>
          </a:p>
        </p:txBody>
      </p:sp>
    </p:spTree>
    <p:extLst>
      <p:ext uri="{BB962C8B-B14F-4D97-AF65-F5344CB8AC3E}">
        <p14:creationId xmlns:p14="http://schemas.microsoft.com/office/powerpoint/2010/main" val="20990837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
---
프로젝트의 주제를 결정하는 것은 성공적인 실행을 위한 첫 단계입니다. 팀원들과의 논의를 통해 최적의 주제를 도출해야 합니다.
이미지 원본: Microsoft 365 콘텐츠 라이브러리
</a:t>
            </a:r>
          </a:p>
        </p:txBody>
      </p:sp>
      <p:sp>
        <p:nvSpPr>
          <p:cNvPr id="4" name="슬라이드 번호 개체 틀 3"/>
          <p:cNvSpPr>
            <a:spLocks noGrp="1"/>
          </p:cNvSpPr>
          <p:nvPr>
            <p:ph type="sldNum" sz="quarter" idx="5"/>
          </p:nvPr>
        </p:nvSpPr>
        <p:spPr/>
        <p:txBody>
          <a:bodyPr/>
          <a:lstStyle/>
          <a:p>
            <a:fld id="{DFA35136-D23A-4430-BEDF-A73EA8891344}" type="slidenum">
              <a:rPr lang="ko-KR" altLang="en-US" smtClean="0"/>
              <a:t>4</a:t>
            </a:fld>
            <a:endParaRPr lang="ko-KR" altLang="en-US"/>
          </a:p>
        </p:txBody>
      </p:sp>
    </p:spTree>
    <p:extLst>
      <p:ext uri="{BB962C8B-B14F-4D97-AF65-F5344CB8AC3E}">
        <p14:creationId xmlns:p14="http://schemas.microsoft.com/office/powerpoint/2010/main" val="15773898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
---
프로젝트에 적합한 기술 스택을 선정하는 것은 매우 중요합니다. 최신 기술 트렌드를 반영하여 효율적인 개발 환경을 구축해야 합니다.
이미지 원본: Microsoft 365 콘텐츠 라이브러리
</a:t>
            </a:r>
          </a:p>
        </p:txBody>
      </p:sp>
      <p:sp>
        <p:nvSpPr>
          <p:cNvPr id="4" name="슬라이드 번호 개체 틀 3"/>
          <p:cNvSpPr>
            <a:spLocks noGrp="1"/>
          </p:cNvSpPr>
          <p:nvPr>
            <p:ph type="sldNum" sz="quarter" idx="5"/>
          </p:nvPr>
        </p:nvSpPr>
        <p:spPr/>
        <p:txBody>
          <a:bodyPr/>
          <a:lstStyle/>
          <a:p>
            <a:fld id="{DFA35136-D23A-4430-BEDF-A73EA8891344}" type="slidenum">
              <a:rPr lang="ko-KR" altLang="en-US" smtClean="0"/>
              <a:t>5</a:t>
            </a:fld>
            <a:endParaRPr lang="ko-KR" altLang="en-US"/>
          </a:p>
        </p:txBody>
      </p:sp>
    </p:spTree>
    <p:extLst>
      <p:ext uri="{BB962C8B-B14F-4D97-AF65-F5344CB8AC3E}">
        <p14:creationId xmlns:p14="http://schemas.microsoft.com/office/powerpoint/2010/main" val="33910242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
---
기획서 초안은 프로젝트의 방향성과 목표를 명확히 하는 데 필수적입니다. 초안 작성을 통해 팀원 간의 이해도를 높일 수 있습니다.
이미지 원본: Microsoft 365 콘텐츠 라이브러리
</a:t>
            </a:r>
          </a:p>
        </p:txBody>
      </p:sp>
      <p:sp>
        <p:nvSpPr>
          <p:cNvPr id="4" name="슬라이드 번호 개체 틀 3"/>
          <p:cNvSpPr>
            <a:spLocks noGrp="1"/>
          </p:cNvSpPr>
          <p:nvPr>
            <p:ph type="sldNum" sz="quarter" idx="5"/>
          </p:nvPr>
        </p:nvSpPr>
        <p:spPr/>
        <p:txBody>
          <a:bodyPr/>
          <a:lstStyle/>
          <a:p>
            <a:fld id="{DFA35136-D23A-4430-BEDF-A73EA8891344}" type="slidenum">
              <a:rPr lang="ko-KR" altLang="en-US" smtClean="0"/>
              <a:t>6</a:t>
            </a:fld>
            <a:endParaRPr lang="ko-KR" altLang="en-US"/>
          </a:p>
        </p:txBody>
      </p:sp>
    </p:spTree>
    <p:extLst>
      <p:ext uri="{BB962C8B-B14F-4D97-AF65-F5344CB8AC3E}">
        <p14:creationId xmlns:p14="http://schemas.microsoft.com/office/powerpoint/2010/main" val="17898024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
---
이번 주에 제출해야 할 문서들은 프로젝트의 진행 상황을 나타내는 중요한 자료입니다. 문서 작성을 통해 프로젝트의 투명성을 높여야 합니다.
이미지 원본: Microsoft 365 콘텐츠 라이브러리
</a:t>
            </a:r>
          </a:p>
        </p:txBody>
      </p:sp>
      <p:sp>
        <p:nvSpPr>
          <p:cNvPr id="4" name="슬라이드 번호 개체 틀 3"/>
          <p:cNvSpPr>
            <a:spLocks noGrp="1"/>
          </p:cNvSpPr>
          <p:nvPr>
            <p:ph type="sldNum" sz="quarter" idx="5"/>
          </p:nvPr>
        </p:nvSpPr>
        <p:spPr/>
        <p:txBody>
          <a:bodyPr/>
          <a:lstStyle/>
          <a:p>
            <a:fld id="{DFA35136-D23A-4430-BEDF-A73EA8891344}" type="slidenum">
              <a:rPr lang="ko-KR" altLang="en-US" smtClean="0"/>
              <a:t>7</a:t>
            </a:fld>
            <a:endParaRPr lang="ko-KR" altLang="en-US"/>
          </a:p>
        </p:txBody>
      </p:sp>
    </p:spTree>
    <p:extLst>
      <p:ext uri="{BB962C8B-B14F-4D97-AF65-F5344CB8AC3E}">
        <p14:creationId xmlns:p14="http://schemas.microsoft.com/office/powerpoint/2010/main" val="12566568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이번 주 동안의 진행 상황을 점검합니다. 각 단계별로 목표가 얼마나 달성되었는지, 그리고 향후 계획이 어떻게 조정되어야 하는지를 다룰 것입니다.</a:t>
            </a:r>
          </a:p>
        </p:txBody>
      </p:sp>
      <p:sp>
        <p:nvSpPr>
          <p:cNvPr id="4" name="슬라이드 번호 개체 틀 3"/>
          <p:cNvSpPr>
            <a:spLocks noGrp="1"/>
          </p:cNvSpPr>
          <p:nvPr>
            <p:ph type="sldNum" sz="quarter" idx="5"/>
          </p:nvPr>
        </p:nvSpPr>
        <p:spPr/>
        <p:txBody>
          <a:bodyPr/>
          <a:lstStyle/>
          <a:p>
            <a:fld id="{DFA35136-D23A-4430-BEDF-A73EA8891344}" type="slidenum">
              <a:rPr lang="ko-KR" altLang="en-US" smtClean="0"/>
              <a:t>8</a:t>
            </a:fld>
            <a:endParaRPr lang="ko-KR" altLang="en-US"/>
          </a:p>
        </p:txBody>
      </p:sp>
    </p:spTree>
    <p:extLst>
      <p:ext uri="{BB962C8B-B14F-4D97-AF65-F5344CB8AC3E}">
        <p14:creationId xmlns:p14="http://schemas.microsoft.com/office/powerpoint/2010/main" val="18252133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
---
주제와 기술, 데이터 수집 방법에 대한 결정이 완료되었습니다. 이를 통해 프로젝트의 기본 방향이 설정되었습니다.
이미지 원본: Microsoft 365 콘텐츠 라이브러리
</a:t>
            </a:r>
          </a:p>
        </p:txBody>
      </p:sp>
      <p:sp>
        <p:nvSpPr>
          <p:cNvPr id="4" name="슬라이드 번호 개체 틀 3"/>
          <p:cNvSpPr>
            <a:spLocks noGrp="1"/>
          </p:cNvSpPr>
          <p:nvPr>
            <p:ph type="sldNum" sz="quarter" idx="5"/>
          </p:nvPr>
        </p:nvSpPr>
        <p:spPr/>
        <p:txBody>
          <a:bodyPr/>
          <a:lstStyle/>
          <a:p>
            <a:fld id="{DFA35136-D23A-4430-BEDF-A73EA8891344}" type="slidenum">
              <a:rPr lang="ko-KR" altLang="en-US" smtClean="0"/>
              <a:t>9</a:t>
            </a:fld>
            <a:endParaRPr lang="ko-KR" altLang="en-US"/>
          </a:p>
        </p:txBody>
      </p:sp>
    </p:spTree>
    <p:extLst>
      <p:ext uri="{BB962C8B-B14F-4D97-AF65-F5344CB8AC3E}">
        <p14:creationId xmlns:p14="http://schemas.microsoft.com/office/powerpoint/2010/main" val="1715596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
---
WBS 및 요구사항 명세서가 작성되었으며, 기획서 초안과 화면 설계서도 완료되었습니다. 이는 프로젝트 진행의 중요한 이정표입니다.
이미지 원본: Microsoft 365 콘텐츠 라이브러리
</a:t>
            </a:r>
          </a:p>
        </p:txBody>
      </p:sp>
      <p:sp>
        <p:nvSpPr>
          <p:cNvPr id="4" name="슬라이드 번호 개체 틀 3"/>
          <p:cNvSpPr>
            <a:spLocks noGrp="1"/>
          </p:cNvSpPr>
          <p:nvPr>
            <p:ph type="sldNum" sz="quarter" idx="5"/>
          </p:nvPr>
        </p:nvSpPr>
        <p:spPr/>
        <p:txBody>
          <a:bodyPr/>
          <a:lstStyle/>
          <a:p>
            <a:fld id="{DFA35136-D23A-4430-BEDF-A73EA8891344}" type="slidenum">
              <a:rPr lang="ko-KR" altLang="en-US" smtClean="0"/>
              <a:t>10</a:t>
            </a:fld>
            <a:endParaRPr lang="ko-KR" altLang="en-US"/>
          </a:p>
        </p:txBody>
      </p:sp>
    </p:spTree>
    <p:extLst>
      <p:ext uri="{BB962C8B-B14F-4D97-AF65-F5344CB8AC3E}">
        <p14:creationId xmlns:p14="http://schemas.microsoft.com/office/powerpoint/2010/main" val="12492738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2CEB6-27FF-E9B1-18DA-C939E6D652C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ACB62E1-7998-50DD-18AA-9498D276B45F}"/>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1D18E4D-C1D9-6944-132E-94164BBC06B6}"/>
              </a:ext>
            </a:extLst>
          </p:cNvPr>
          <p:cNvSpPr>
            <a:spLocks noGrp="1"/>
          </p:cNvSpPr>
          <p:nvPr>
            <p:ph type="body" idx="1"/>
          </p:nvPr>
        </p:nvSpPr>
        <p:spPr/>
        <p:txBody>
          <a:bodyPr/>
          <a:lstStyle/>
          <a:p>
            <a:r>
              <a:rPr lang="ko-KR" altLang="en-US"/>
              <a:t>
---
WBS 및 요구사항 명세서가 작성되었으며, 기획서 초안과 화면 설계서도 완료되었습니다. 이는 프로젝트 진행의 중요한 이정표입니다.
이미지 원본: Microsoft 365 콘텐츠 라이브러리
</a:t>
            </a:r>
          </a:p>
        </p:txBody>
      </p:sp>
      <p:sp>
        <p:nvSpPr>
          <p:cNvPr id="4" name="슬라이드 번호 개체 틀 3">
            <a:extLst>
              <a:ext uri="{FF2B5EF4-FFF2-40B4-BE49-F238E27FC236}">
                <a16:creationId xmlns:a16="http://schemas.microsoft.com/office/drawing/2014/main" id="{E4B3505B-D1C7-1233-2DD3-B5DF3B1A3B88}"/>
              </a:ext>
            </a:extLst>
          </p:cNvPr>
          <p:cNvSpPr>
            <a:spLocks noGrp="1"/>
          </p:cNvSpPr>
          <p:nvPr>
            <p:ph type="sldNum" sz="quarter" idx="5"/>
          </p:nvPr>
        </p:nvSpPr>
        <p:spPr/>
        <p:txBody>
          <a:bodyPr/>
          <a:lstStyle/>
          <a:p>
            <a:fld id="{DFA35136-D23A-4430-BEDF-A73EA8891344}" type="slidenum">
              <a:rPr lang="ko-KR" altLang="en-US" smtClean="0"/>
              <a:t>11</a:t>
            </a:fld>
            <a:endParaRPr lang="ko-KR" altLang="en-US"/>
          </a:p>
        </p:txBody>
      </p:sp>
    </p:spTree>
    <p:extLst>
      <p:ext uri="{BB962C8B-B14F-4D97-AF65-F5344CB8AC3E}">
        <p14:creationId xmlns:p14="http://schemas.microsoft.com/office/powerpoint/2010/main" val="22954335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
---
테스트 목업의 구현이 완료되어 테스트가 진행되었습니다. 이를 통해 프로젝트의 기능성이 검증되었습니다.
이미지 원본: Microsoft 365 콘텐츠 라이브러리
</a:t>
            </a:r>
          </a:p>
        </p:txBody>
      </p:sp>
      <p:sp>
        <p:nvSpPr>
          <p:cNvPr id="4" name="슬라이드 번호 개체 틀 3"/>
          <p:cNvSpPr>
            <a:spLocks noGrp="1"/>
          </p:cNvSpPr>
          <p:nvPr>
            <p:ph type="sldNum" sz="quarter" idx="5"/>
          </p:nvPr>
        </p:nvSpPr>
        <p:spPr/>
        <p:txBody>
          <a:bodyPr/>
          <a:lstStyle/>
          <a:p>
            <a:fld id="{DFA35136-D23A-4430-BEDF-A73EA8891344}" type="slidenum">
              <a:rPr lang="ko-KR" altLang="en-US" smtClean="0"/>
              <a:t>13</a:t>
            </a:fld>
            <a:endParaRPr lang="ko-KR" altLang="en-US"/>
          </a:p>
        </p:txBody>
      </p:sp>
    </p:spTree>
    <p:extLst>
      <p:ext uri="{BB962C8B-B14F-4D97-AF65-F5344CB8AC3E}">
        <p14:creationId xmlns:p14="http://schemas.microsoft.com/office/powerpoint/2010/main" val="42617673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각 팀원들이 맡은 업무의 진행 상황을 살펴보겠습니다. 이는 팀의 전체적인 진행 상황을 파악하는 데 중요한 정보를 제공합니다.</a:t>
            </a:r>
          </a:p>
        </p:txBody>
      </p:sp>
      <p:sp>
        <p:nvSpPr>
          <p:cNvPr id="4" name="슬라이드 번호 개체 틀 3"/>
          <p:cNvSpPr>
            <a:spLocks noGrp="1"/>
          </p:cNvSpPr>
          <p:nvPr>
            <p:ph type="sldNum" sz="quarter" idx="5"/>
          </p:nvPr>
        </p:nvSpPr>
        <p:spPr/>
        <p:txBody>
          <a:bodyPr/>
          <a:lstStyle/>
          <a:p>
            <a:fld id="{DFA35136-D23A-4430-BEDF-A73EA8891344}" type="slidenum">
              <a:rPr lang="ko-KR" altLang="en-US" smtClean="0"/>
              <a:t>15</a:t>
            </a:fld>
            <a:endParaRPr lang="ko-KR" altLang="en-US"/>
          </a:p>
        </p:txBody>
      </p:sp>
    </p:spTree>
    <p:extLst>
      <p:ext uri="{BB962C8B-B14F-4D97-AF65-F5344CB8AC3E}">
        <p14:creationId xmlns:p14="http://schemas.microsoft.com/office/powerpoint/2010/main" val="1712638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
---
김도윤 팀원은 WBS, 요구사항 정의서, 아이디어 기획서 및 제약 아이디어 초안을 작성하였고, 제약 분야 시장 조사 및 패션 기획 프론트 테스트 구현을 완료하였습니다.
이미지 원본: Microsoft 365 콘텐츠 라이브러리
</a:t>
            </a:r>
          </a:p>
        </p:txBody>
      </p:sp>
      <p:sp>
        <p:nvSpPr>
          <p:cNvPr id="4" name="슬라이드 번호 개체 틀 3"/>
          <p:cNvSpPr>
            <a:spLocks noGrp="1"/>
          </p:cNvSpPr>
          <p:nvPr>
            <p:ph type="sldNum" sz="quarter" idx="5"/>
          </p:nvPr>
        </p:nvSpPr>
        <p:spPr/>
        <p:txBody>
          <a:bodyPr/>
          <a:lstStyle/>
          <a:p>
            <a:fld id="{DFA35136-D23A-4430-BEDF-A73EA8891344}" type="slidenum">
              <a:rPr lang="ko-KR" altLang="en-US" smtClean="0"/>
              <a:t>16</a:t>
            </a:fld>
            <a:endParaRPr lang="ko-KR" altLang="en-US"/>
          </a:p>
        </p:txBody>
      </p:sp>
    </p:spTree>
    <p:extLst>
      <p:ext uri="{BB962C8B-B14F-4D97-AF65-F5344CB8AC3E}">
        <p14:creationId xmlns:p14="http://schemas.microsoft.com/office/powerpoint/2010/main" val="36710714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
---
이용규 팀원은 아이디어 기획서 작성 (중단), 패션 타겟 기업 시장 조사, 데이터베이스 구축 방법 리서치 및 화면 설계서 성, 요구사항 정의서 초안 작성을 진행하였습니다.
이미지 원본: Microsoft 365 콘텐츠 라이브러리
</a:t>
            </a:r>
          </a:p>
        </p:txBody>
      </p:sp>
      <p:sp>
        <p:nvSpPr>
          <p:cNvPr id="4" name="슬라이드 번호 개체 틀 3"/>
          <p:cNvSpPr>
            <a:spLocks noGrp="1"/>
          </p:cNvSpPr>
          <p:nvPr>
            <p:ph type="sldNum" sz="quarter" idx="5"/>
          </p:nvPr>
        </p:nvSpPr>
        <p:spPr/>
        <p:txBody>
          <a:bodyPr/>
          <a:lstStyle/>
          <a:p>
            <a:fld id="{DFA35136-D23A-4430-BEDF-A73EA8891344}" type="slidenum">
              <a:rPr lang="ko-KR" altLang="en-US" smtClean="0"/>
              <a:t>17</a:t>
            </a:fld>
            <a:endParaRPr lang="ko-KR" altLang="en-US"/>
          </a:p>
        </p:txBody>
      </p:sp>
    </p:spTree>
    <p:extLst>
      <p:ext uri="{BB962C8B-B14F-4D97-AF65-F5344CB8AC3E}">
        <p14:creationId xmlns:p14="http://schemas.microsoft.com/office/powerpoint/2010/main" val="3057753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
---
허한결 팀원은 법률 기획안 및 아이디어 기획서 작성, 법률 기획서 고도화, 타겟 기업 리서치, 게임 분야 시장 조사, 화면 설계서 제작, 요구사항 정의서 작성을 완료하였습니다.
이미지 원본: Microsoft 365 콘텐츠 라이브러리
</a:t>
            </a:r>
          </a:p>
        </p:txBody>
      </p:sp>
      <p:sp>
        <p:nvSpPr>
          <p:cNvPr id="4" name="슬라이드 번호 개체 틀 3"/>
          <p:cNvSpPr>
            <a:spLocks noGrp="1"/>
          </p:cNvSpPr>
          <p:nvPr>
            <p:ph type="sldNum" sz="quarter" idx="5"/>
          </p:nvPr>
        </p:nvSpPr>
        <p:spPr/>
        <p:txBody>
          <a:bodyPr/>
          <a:lstStyle/>
          <a:p>
            <a:fld id="{DFA35136-D23A-4430-BEDF-A73EA8891344}" type="slidenum">
              <a:rPr lang="ko-KR" altLang="en-US" smtClean="0"/>
              <a:t>18</a:t>
            </a:fld>
            <a:endParaRPr lang="ko-KR" altLang="en-US"/>
          </a:p>
        </p:txBody>
      </p:sp>
    </p:spTree>
    <p:extLst>
      <p:ext uri="{BB962C8B-B14F-4D97-AF65-F5344CB8AC3E}">
        <p14:creationId xmlns:p14="http://schemas.microsoft.com/office/powerpoint/2010/main" val="23196751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
---
최문영 팀원은 법률 기획서 작성, 패션 정보 데이터 자료 수집, 패션 트렌드 기획서 작성, 요구사항 정의서 및 화면 설계서 작성을 진행하였습니다.
이미지 원본: Microsoft 365 콘텐츠 라이브러리
</a:t>
            </a:r>
          </a:p>
        </p:txBody>
      </p:sp>
      <p:sp>
        <p:nvSpPr>
          <p:cNvPr id="4" name="슬라이드 번호 개체 틀 3"/>
          <p:cNvSpPr>
            <a:spLocks noGrp="1"/>
          </p:cNvSpPr>
          <p:nvPr>
            <p:ph type="sldNum" sz="quarter" idx="5"/>
          </p:nvPr>
        </p:nvSpPr>
        <p:spPr/>
        <p:txBody>
          <a:bodyPr/>
          <a:lstStyle/>
          <a:p>
            <a:fld id="{DFA35136-D23A-4430-BEDF-A73EA8891344}" type="slidenum">
              <a:rPr lang="ko-KR" altLang="en-US" smtClean="0"/>
              <a:t>19</a:t>
            </a:fld>
            <a:endParaRPr lang="ko-KR" altLang="en-US"/>
          </a:p>
        </p:txBody>
      </p:sp>
    </p:spTree>
    <p:extLst>
      <p:ext uri="{BB962C8B-B14F-4D97-AF65-F5344CB8AC3E}">
        <p14:creationId xmlns:p14="http://schemas.microsoft.com/office/powerpoint/2010/main" val="9093305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
---
손현성 팀원은 마케팅 서비스 기획서 초안 작성, 패션 트렌드 서비스 기획서 초안 작성, 패션 트렌드 AI 서비스 시장 조사, 패션 기획서 데이터 수집 고도화, 의료기기 AI 서비스 시장 조사, 화면 설계서 작성 및 요구사항 정의서 초안 작성을 완료하였습니다.
이미지 원본: Microsoft 365 콘텐츠 라이브러리
</a:t>
            </a:r>
          </a:p>
        </p:txBody>
      </p:sp>
      <p:sp>
        <p:nvSpPr>
          <p:cNvPr id="4" name="슬라이드 번호 개체 틀 3"/>
          <p:cNvSpPr>
            <a:spLocks noGrp="1"/>
          </p:cNvSpPr>
          <p:nvPr>
            <p:ph type="sldNum" sz="quarter" idx="5"/>
          </p:nvPr>
        </p:nvSpPr>
        <p:spPr/>
        <p:txBody>
          <a:bodyPr/>
          <a:lstStyle/>
          <a:p>
            <a:fld id="{DFA35136-D23A-4430-BEDF-A73EA8891344}" type="slidenum">
              <a:rPr lang="ko-KR" altLang="en-US" smtClean="0"/>
              <a:t>20</a:t>
            </a:fld>
            <a:endParaRPr lang="ko-KR" altLang="en-US"/>
          </a:p>
        </p:txBody>
      </p:sp>
    </p:spTree>
    <p:extLst>
      <p:ext uri="{BB962C8B-B14F-4D97-AF65-F5344CB8AC3E}">
        <p14:creationId xmlns:p14="http://schemas.microsoft.com/office/powerpoint/2010/main" val="37028861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7/21/2025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885493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7/21/2025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7040743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7/21/2025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609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7/21/2025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9665214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7/21/2025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127793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7/21/2025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827855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7/21/2025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60762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7/21/2025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6279013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7/21/2025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61289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7/21/2025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027234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7/21/2025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9410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7/21/2025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19373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부제목 2">
            <a:extLst>
              <a:ext uri="{FF2B5EF4-FFF2-40B4-BE49-F238E27FC236}">
                <a16:creationId xmlns:a16="http://schemas.microsoft.com/office/drawing/2014/main" id="{FB9EF1D5-F506-F1DD-4637-A2A4C2B23034}"/>
              </a:ext>
            </a:extLst>
          </p:cNvPr>
          <p:cNvSpPr>
            <a:spLocks noGrp="1"/>
          </p:cNvSpPr>
          <p:nvPr>
            <p:ph type="subTitle" idx="1"/>
          </p:nvPr>
        </p:nvSpPr>
        <p:spPr>
          <a:xfrm>
            <a:off x="6778347" y="3575315"/>
            <a:ext cx="5108853" cy="1344426"/>
          </a:xfrm>
        </p:spPr>
        <p:txBody>
          <a:bodyPr anchor="t">
            <a:normAutofit/>
          </a:bodyPr>
          <a:lstStyle/>
          <a:p>
            <a:r>
              <a:rPr lang="ko-KR" altLang="en-US" sz="2000" dirty="0"/>
              <a:t>팀 프로젝트 목표 및 진행 상황 요약</a:t>
            </a:r>
          </a:p>
        </p:txBody>
      </p:sp>
      <p:pic>
        <p:nvPicPr>
          <p:cNvPr id="4" name="그림 3" descr="책상과 의자에 놓인 작업용 액세서리">
            <a:extLst>
              <a:ext uri="{FF2B5EF4-FFF2-40B4-BE49-F238E27FC236}">
                <a16:creationId xmlns:a16="http://schemas.microsoft.com/office/drawing/2014/main" id="{BAC2A7E1-0C43-4E1B-8966-4B50CE6B18A5}"/>
              </a:ext>
            </a:extLst>
          </p:cNvPr>
          <p:cNvPicPr>
            <a:picLocks noChangeAspect="1"/>
          </p:cNvPicPr>
          <p:nvPr/>
        </p:nvPicPr>
        <p:blipFill>
          <a:blip r:embed="rId3"/>
          <a:srcRect r="20461" b="2"/>
          <a:stretch>
            <a:fillRect/>
          </a:stretch>
        </p:blipFill>
        <p:spPr>
          <a:xfrm>
            <a:off x="20" y="609600"/>
            <a:ext cx="6778327" cy="5688323"/>
          </a:xfrm>
          <a:prstGeom prst="rect">
            <a:avLst/>
          </a:prstGeom>
        </p:spPr>
      </p:pic>
      <p:cxnSp>
        <p:nvCxnSpPr>
          <p:cNvPr id="11" name="Straight Connector 10">
            <a:extLst>
              <a:ext uri="{FF2B5EF4-FFF2-40B4-BE49-F238E27FC236}">
                <a16:creationId xmlns:a16="http://schemas.microsoft.com/office/drawing/2014/main" id="{7CC73A33-65FF-41A9-A3B0-006753CD102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248400"/>
            <a:ext cx="6778350" cy="49006"/>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제목 1">
            <a:extLst>
              <a:ext uri="{FF2B5EF4-FFF2-40B4-BE49-F238E27FC236}">
                <a16:creationId xmlns:a16="http://schemas.microsoft.com/office/drawing/2014/main" id="{A07A1116-406B-C6C6-451E-2E326F1C3340}"/>
              </a:ext>
            </a:extLst>
          </p:cNvPr>
          <p:cNvSpPr>
            <a:spLocks noGrp="1"/>
          </p:cNvSpPr>
          <p:nvPr>
            <p:ph type="ctrTitle"/>
          </p:nvPr>
        </p:nvSpPr>
        <p:spPr>
          <a:xfrm>
            <a:off x="6705600" y="609083"/>
            <a:ext cx="5284910" cy="2875865"/>
          </a:xfrm>
        </p:spPr>
        <p:txBody>
          <a:bodyPr anchor="b">
            <a:normAutofit/>
          </a:bodyPr>
          <a:lstStyle/>
          <a:p>
            <a:pPr algn="ctr"/>
            <a:r>
              <a:rPr lang="ko-KR" altLang="en-US" sz="3600" dirty="0"/>
              <a:t>팀</a:t>
            </a:r>
            <a:r>
              <a:rPr lang="en-US" altLang="ko-KR" sz="3600" dirty="0"/>
              <a:t>_JJS</a:t>
            </a:r>
            <a:br>
              <a:rPr lang="en-US" altLang="ko-KR" sz="3600" dirty="0"/>
            </a:br>
            <a:r>
              <a:rPr lang="en-US" altLang="ko-KR" sz="3600" dirty="0"/>
              <a:t>2</a:t>
            </a:r>
            <a:r>
              <a:rPr lang="ko-KR" altLang="en-US" sz="3600" dirty="0"/>
              <a:t>주차 </a:t>
            </a:r>
            <a:r>
              <a:rPr lang="en-US" altLang="ko-KR" sz="3600" dirty="0"/>
              <a:t>1</a:t>
            </a:r>
            <a:r>
              <a:rPr lang="ko-KR" altLang="en-US" sz="3600"/>
              <a:t>차 주간스탠딩</a:t>
            </a:r>
            <a:endParaRPr lang="ko-KR" altLang="en-US" sz="3600" dirty="0"/>
          </a:p>
        </p:txBody>
      </p:sp>
    </p:spTree>
    <p:extLst>
      <p:ext uri="{BB962C8B-B14F-4D97-AF65-F5344CB8AC3E}">
        <p14:creationId xmlns:p14="http://schemas.microsoft.com/office/powerpoint/2010/main" val="2603861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제목 1">
            <a:extLst>
              <a:ext uri="{FF2B5EF4-FFF2-40B4-BE49-F238E27FC236}">
                <a16:creationId xmlns:a16="http://schemas.microsoft.com/office/drawing/2014/main" id="{DF9E1770-96B4-6F47-20D6-8BD277C43031}"/>
              </a:ext>
            </a:extLst>
          </p:cNvPr>
          <p:cNvSpPr>
            <a:spLocks noGrp="1"/>
          </p:cNvSpPr>
          <p:nvPr>
            <p:ph type="title"/>
          </p:nvPr>
        </p:nvSpPr>
        <p:spPr>
          <a:xfrm>
            <a:off x="5029200" y="914400"/>
            <a:ext cx="6501810" cy="1097280"/>
          </a:xfrm>
        </p:spPr>
        <p:txBody>
          <a:bodyPr vert="horz" lIns="91440" tIns="45720" rIns="91440" bIns="45720" rtlCol="0" anchor="t">
            <a:normAutofit/>
          </a:bodyPr>
          <a:lstStyle/>
          <a:p>
            <a:r>
              <a:rPr lang="ko-KR" altLang="en-US"/>
              <a:t>발표 주제</a:t>
            </a:r>
          </a:p>
        </p:txBody>
      </p:sp>
      <p:pic>
        <p:nvPicPr>
          <p:cNvPr id="5" name="내용 개체 틀 4" descr="즉각적으로 팀이 완벽한 기계로 함께 일하게 되면 서로에게 알려지지 않을 수 있지만 자신의 역할과 직업을 알고 기름칠이 잘 된 기계처럼 함께 일합니다. 각 구성원이 필수 장비인 경우">
            <a:extLst>
              <a:ext uri="{FF2B5EF4-FFF2-40B4-BE49-F238E27FC236}">
                <a16:creationId xmlns:a16="http://schemas.microsoft.com/office/drawing/2014/main" id="{7B329F42-8788-467C-B01C-892D50D0E1E1}"/>
              </a:ext>
            </a:extLst>
          </p:cNvPr>
          <p:cNvPicPr>
            <a:picLocks noGrp="1" noChangeAspect="1"/>
          </p:cNvPicPr>
          <p:nvPr>
            <p:ph sz="half" idx="1"/>
          </p:nvPr>
        </p:nvPicPr>
        <p:blipFill>
          <a:blip r:embed="rId3"/>
          <a:srcRect l="4702" r="10250" b="1"/>
          <a:stretch>
            <a:fillRect/>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내용 개체 틀 3">
            <a:extLst>
              <a:ext uri="{FF2B5EF4-FFF2-40B4-BE49-F238E27FC236}">
                <a16:creationId xmlns:a16="http://schemas.microsoft.com/office/drawing/2014/main" id="{C7DFABF3-A723-1964-24F7-66993BDE2FED}"/>
              </a:ext>
            </a:extLst>
          </p:cNvPr>
          <p:cNvSpPr>
            <a:spLocks noGrp="1"/>
          </p:cNvSpPr>
          <p:nvPr>
            <p:ph sz="half" idx="2"/>
            <p:extLst>
              <p:ext uri="{E7BDC344-281C-4309-B0C6-D0EE65EED2A8}">
                <p202:designPr xmlns:p202="http://schemas.microsoft.com/office/powerpoint/2020/02/main">
                  <p202:designTagLst>
                    <p202:designTag name="ARCH:1:CLS" val="BulletedText"/>
                  </p202:designTagLst>
                </p202:designPr>
              </p:ext>
            </p:extLst>
          </p:nvPr>
        </p:nvSpPr>
        <p:spPr>
          <a:xfrm>
            <a:off x="5029200" y="2176036"/>
            <a:ext cx="6501810" cy="4121885"/>
          </a:xfrm>
        </p:spPr>
        <p:txBody>
          <a:bodyPr vert="horz" lIns="91440" tIns="45720" rIns="91440" bIns="45720" rtlCol="0">
            <a:normAutofit/>
          </a:bodyPr>
          <a:lstStyle/>
          <a:p>
            <a:r>
              <a:rPr lang="ko-KR" altLang="en-US" dirty="0"/>
              <a:t>금주 진행 목표</a:t>
            </a:r>
          </a:p>
          <a:p>
            <a:r>
              <a:rPr lang="ko-KR" altLang="en-US" dirty="0"/>
              <a:t>금주 진행 상황</a:t>
            </a:r>
          </a:p>
          <a:p>
            <a:r>
              <a:rPr lang="ko-KR" altLang="en-US" dirty="0" err="1"/>
              <a:t>팀원별</a:t>
            </a:r>
            <a:r>
              <a:rPr lang="ko-KR" altLang="en-US" dirty="0"/>
              <a:t> 진행 상황</a:t>
            </a:r>
          </a:p>
        </p:txBody>
      </p:sp>
    </p:spTree>
    <p:extLst>
      <p:ext uri="{BB962C8B-B14F-4D97-AF65-F5344CB8AC3E}">
        <p14:creationId xmlns:p14="http://schemas.microsoft.com/office/powerpoint/2010/main" val="30748375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제목 1">
            <a:extLst>
              <a:ext uri="{FF2B5EF4-FFF2-40B4-BE49-F238E27FC236}">
                <a16:creationId xmlns:a16="http://schemas.microsoft.com/office/drawing/2014/main" id="{389579F8-B59E-3079-9057-6ECF0C7E18F9}"/>
              </a:ext>
            </a:extLst>
          </p:cNvPr>
          <p:cNvSpPr>
            <a:spLocks noGrp="1"/>
          </p:cNvSpPr>
          <p:nvPr>
            <p:ph type="ctrTitle"/>
          </p:nvPr>
        </p:nvSpPr>
        <p:spPr>
          <a:xfrm>
            <a:off x="559219" y="1115845"/>
            <a:ext cx="11286950" cy="1228770"/>
          </a:xfrm>
        </p:spPr>
        <p:txBody>
          <a:bodyPr anchor="b">
            <a:normAutofit/>
          </a:bodyPr>
          <a:lstStyle/>
          <a:p>
            <a:r>
              <a:rPr lang="ko-KR" altLang="en-US" sz="6500" dirty="0"/>
              <a:t>금주 진행 목표 및</a:t>
            </a:r>
            <a:r>
              <a:rPr lang="en-US" altLang="ko-KR" sz="6500" dirty="0"/>
              <a:t> </a:t>
            </a:r>
            <a:r>
              <a:rPr lang="ko-KR" altLang="en-US" sz="6500" dirty="0"/>
              <a:t>진행 상황</a:t>
            </a:r>
          </a:p>
        </p:txBody>
      </p:sp>
      <p:cxnSp>
        <p:nvCxnSpPr>
          <p:cNvPr id="11" name="Straight Connector 10">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내용 개체 틀 3">
            <a:extLst>
              <a:ext uri="{FF2B5EF4-FFF2-40B4-BE49-F238E27FC236}">
                <a16:creationId xmlns:a16="http://schemas.microsoft.com/office/drawing/2014/main" id="{D7FA3CDE-4F85-9303-8708-0BBC942ED45D}"/>
              </a:ext>
            </a:extLst>
          </p:cNvPr>
          <p:cNvSpPr txBox="1">
            <a:spLocks/>
          </p:cNvSpPr>
          <p:nvPr>
            <p:extLst>
              <p:ext uri="{E7BDC344-281C-4309-B0C6-D0EE65EED2A8}">
                <p202:designPr xmlns:p202="http://schemas.microsoft.com/office/powerpoint/2020/02/main">
                  <p202:designTagLst>
                    <p202:designTag name="ARCH:1:CLS" val="BulletedText"/>
                  </p202:designTagLst>
                </p202:designPr>
              </p:ext>
            </p:extLst>
          </p:nvPr>
        </p:nvSpPr>
        <p:spPr>
          <a:xfrm>
            <a:off x="723130" y="2469113"/>
            <a:ext cx="10026931" cy="302900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ko-KR" altLang="en-US" dirty="0"/>
              <a:t>프로젝트 주제결정</a:t>
            </a:r>
            <a:endParaRPr lang="en-US" altLang="ko-KR" dirty="0"/>
          </a:p>
          <a:p>
            <a:r>
              <a:rPr lang="ko-KR" altLang="en-US" dirty="0"/>
              <a:t>데이터 수집방법 결정</a:t>
            </a:r>
            <a:endParaRPr lang="en-US" altLang="ko-KR" dirty="0"/>
          </a:p>
          <a:p>
            <a:r>
              <a:rPr lang="ko-KR" altLang="en-US" dirty="0"/>
              <a:t>프로젝트 사용기술 결정 </a:t>
            </a:r>
            <a:endParaRPr lang="en-US" altLang="ko-KR" dirty="0"/>
          </a:p>
          <a:p>
            <a:r>
              <a:rPr lang="ko-KR" altLang="en-US" dirty="0"/>
              <a:t>기획서 초안작성 </a:t>
            </a:r>
            <a:endParaRPr lang="en-US" altLang="ko-KR" dirty="0"/>
          </a:p>
          <a:p>
            <a:r>
              <a:rPr lang="ko-KR" altLang="en-US" dirty="0"/>
              <a:t>금주 제출 문서 작성 </a:t>
            </a:r>
            <a:r>
              <a:rPr lang="en-US" altLang="ko-KR" dirty="0"/>
              <a:t>( WBS / </a:t>
            </a:r>
            <a:r>
              <a:rPr lang="ko-KR" altLang="en-US" dirty="0"/>
              <a:t>요구사항정의서 </a:t>
            </a:r>
            <a:r>
              <a:rPr lang="en-US" altLang="ko-KR" dirty="0"/>
              <a:t>)</a:t>
            </a:r>
            <a:endParaRPr lang="ko-KR" altLang="en-US" dirty="0"/>
          </a:p>
        </p:txBody>
      </p:sp>
    </p:spTree>
    <p:extLst>
      <p:ext uri="{BB962C8B-B14F-4D97-AF65-F5344CB8AC3E}">
        <p14:creationId xmlns:p14="http://schemas.microsoft.com/office/powerpoint/2010/main" val="40777174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42" presetClass="entr" presetSubtype="0" fill="hold" grpId="0" nodeType="withEffect">
                                  <p:stCondLst>
                                    <p:cond delay="250"/>
                                  </p:stCondLst>
                                  <p:iterate>
                                    <p:tmPct val="10000"/>
                                  </p:iterate>
                                  <p:childTnLst>
                                    <p:set>
                                      <p:cBhvr>
                                        <p:cTn id="9" dur="1" fill="hold">
                                          <p:stCondLst>
                                            <p:cond delay="0"/>
                                          </p:stCondLst>
                                        </p:cTn>
                                        <p:tgtEl>
                                          <p:spTgt spid="3"/>
                                        </p:tgtEl>
                                        <p:attrNameLst>
                                          <p:attrName>style.visibility</p:attrName>
                                        </p:attrNameLst>
                                      </p:cBhvr>
                                      <p:to>
                                        <p:strVal val="visible"/>
                                      </p:to>
                                    </p:set>
                                    <p:animEffect transition="in" filter="fade">
                                      <p:cBhvr>
                                        <p:cTn id="10" dur="250"/>
                                        <p:tgtEl>
                                          <p:spTgt spid="3"/>
                                        </p:tgtEl>
                                      </p:cBhvr>
                                    </p:animEffect>
                                    <p:anim calcmode="lin" valueType="num">
                                      <p:cBhvr>
                                        <p:cTn id="11" dur="250" fill="hold"/>
                                        <p:tgtEl>
                                          <p:spTgt spid="3"/>
                                        </p:tgtEl>
                                        <p:attrNameLst>
                                          <p:attrName>ppt_x</p:attrName>
                                        </p:attrNameLst>
                                      </p:cBhvr>
                                      <p:tavLst>
                                        <p:tav tm="0">
                                          <p:val>
                                            <p:strVal val="#ppt_x"/>
                                          </p:val>
                                        </p:tav>
                                        <p:tav tm="100000">
                                          <p:val>
                                            <p:strVal val="#ppt_x"/>
                                          </p:val>
                                        </p:tav>
                                      </p:tavLst>
                                    </p:anim>
                                    <p:anim calcmode="lin" valueType="num">
                                      <p:cBhvr>
                                        <p:cTn id="12"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제목 1">
            <a:extLst>
              <a:ext uri="{FF2B5EF4-FFF2-40B4-BE49-F238E27FC236}">
                <a16:creationId xmlns:a16="http://schemas.microsoft.com/office/drawing/2014/main" id="{770E6B5E-BCAA-7D95-7358-B818B9DD8A12}"/>
              </a:ext>
            </a:extLst>
          </p:cNvPr>
          <p:cNvSpPr>
            <a:spLocks noGrp="1"/>
          </p:cNvSpPr>
          <p:nvPr>
            <p:ph type="title"/>
          </p:nvPr>
        </p:nvSpPr>
        <p:spPr>
          <a:xfrm>
            <a:off x="640080" y="914400"/>
            <a:ext cx="6291472" cy="1097280"/>
          </a:xfrm>
        </p:spPr>
        <p:txBody>
          <a:bodyPr vert="horz" lIns="91440" tIns="45720" rIns="91440" bIns="45720" rtlCol="0" anchor="t">
            <a:normAutofit/>
          </a:bodyPr>
          <a:lstStyle/>
          <a:p>
            <a:r>
              <a:rPr lang="ko-KR" altLang="en-US"/>
              <a:t>프로젝트 주제 결정</a:t>
            </a:r>
          </a:p>
        </p:txBody>
      </p:sp>
      <p:sp>
        <p:nvSpPr>
          <p:cNvPr id="4" name="내용 개체 틀 3">
            <a:extLst>
              <a:ext uri="{FF2B5EF4-FFF2-40B4-BE49-F238E27FC236}">
                <a16:creationId xmlns:a16="http://schemas.microsoft.com/office/drawing/2014/main" id="{34A38196-1287-D2CC-13B1-C0970D3A7C8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80" y="2176036"/>
            <a:ext cx="6291472" cy="4123944"/>
          </a:xfrm>
        </p:spPr>
        <p:txBody>
          <a:bodyPr>
            <a:normAutofit/>
          </a:bodyPr>
          <a:lstStyle/>
          <a:p>
            <a:pPr marL="0" indent="0">
              <a:spcBef>
                <a:spcPts val="2500"/>
              </a:spcBef>
              <a:buNone/>
            </a:pPr>
            <a:r>
              <a:rPr lang="ko-KR" altLang="en-US" sz="1400" b="1" dirty="0"/>
              <a:t>주제 결정</a:t>
            </a:r>
            <a:endParaRPr lang="en-US" altLang="ko-KR" sz="1400" b="1" dirty="0"/>
          </a:p>
          <a:p>
            <a:pPr marL="0" indent="0">
              <a:spcBef>
                <a:spcPts val="2500"/>
              </a:spcBef>
              <a:buNone/>
            </a:pPr>
            <a:r>
              <a:rPr lang="en-US" altLang="ko-KR" sz="1400" dirty="0"/>
              <a:t> </a:t>
            </a:r>
            <a:r>
              <a:rPr lang="ko-KR" altLang="en-US" sz="1400" dirty="0"/>
              <a:t>도메인지식을 활용하여 제약회사내 제약영업사원이 사용하는 </a:t>
            </a:r>
            <a:r>
              <a:rPr lang="en-US" altLang="ko-KR" sz="1400" dirty="0"/>
              <a:t>QA</a:t>
            </a:r>
            <a:r>
              <a:rPr lang="ko-KR" altLang="en-US" sz="1400" dirty="0" err="1"/>
              <a:t>챗봇</a:t>
            </a:r>
            <a:r>
              <a:rPr lang="en-US" altLang="ko-KR" sz="1400" dirty="0"/>
              <a:t>.</a:t>
            </a:r>
          </a:p>
          <a:p>
            <a:pPr marL="0" indent="0">
              <a:spcBef>
                <a:spcPts val="2500"/>
              </a:spcBef>
              <a:buNone/>
            </a:pPr>
            <a:r>
              <a:rPr lang="ko-KR" altLang="en-US" sz="1400" b="1" dirty="0"/>
              <a:t>팀원 간의 협력</a:t>
            </a:r>
          </a:p>
          <a:p>
            <a:pPr marL="0" lvl="1" indent="0">
              <a:buNone/>
            </a:pPr>
            <a:r>
              <a:rPr lang="en-US" altLang="ko-KR" sz="1400" dirty="0"/>
              <a:t> </a:t>
            </a:r>
            <a:r>
              <a:rPr lang="ko-KR" altLang="en-US" sz="1400" dirty="0" err="1"/>
              <a:t>노션</a:t>
            </a:r>
            <a:r>
              <a:rPr lang="en-US" altLang="ko-KR" sz="1400" dirty="0"/>
              <a:t>,WBS</a:t>
            </a:r>
            <a:r>
              <a:rPr lang="ko-KR" altLang="en-US" sz="1400" dirty="0"/>
              <a:t>로 일정관리</a:t>
            </a:r>
            <a:endParaRPr lang="en-US" altLang="ko-KR" sz="1400" dirty="0"/>
          </a:p>
          <a:p>
            <a:pPr marL="0" indent="0">
              <a:spcBef>
                <a:spcPts val="2500"/>
              </a:spcBef>
              <a:buNone/>
            </a:pPr>
            <a:r>
              <a:rPr lang="ko-KR" altLang="en-US" sz="1400" b="1" dirty="0"/>
              <a:t>주제 선정 과정</a:t>
            </a:r>
          </a:p>
          <a:p>
            <a:pPr marL="0" lvl="1" indent="0">
              <a:buNone/>
            </a:pPr>
            <a:r>
              <a:rPr lang="ko-KR" altLang="en-US" sz="1400" dirty="0"/>
              <a:t> 패션</a:t>
            </a:r>
            <a:r>
              <a:rPr lang="en-US" altLang="ko-KR" sz="1400" dirty="0"/>
              <a:t>,</a:t>
            </a:r>
            <a:r>
              <a:rPr lang="ko-KR" altLang="en-US" sz="1400" dirty="0"/>
              <a:t>법률</a:t>
            </a:r>
            <a:r>
              <a:rPr lang="en-US" altLang="ko-KR" sz="1400" dirty="0"/>
              <a:t>,</a:t>
            </a:r>
            <a:r>
              <a:rPr lang="ko-KR" altLang="en-US" sz="1400" dirty="0"/>
              <a:t>마케팅 등 다양한 </a:t>
            </a:r>
            <a:r>
              <a:rPr lang="ko-KR" altLang="en-US" sz="1400" dirty="0" err="1"/>
              <a:t>타겟회사의</a:t>
            </a:r>
            <a:r>
              <a:rPr lang="ko-KR" altLang="en-US" sz="1400" dirty="0"/>
              <a:t> 기획서를 작성해보고 제약사로 결정</a:t>
            </a:r>
            <a:r>
              <a:rPr lang="en-US" altLang="ko-KR" sz="1400" dirty="0"/>
              <a:t>..</a:t>
            </a:r>
            <a:endParaRPr lang="ko-KR" altLang="en-US" sz="1400" dirty="0"/>
          </a:p>
        </p:txBody>
      </p:sp>
      <p:pic>
        <p:nvPicPr>
          <p:cNvPr id="5" name="내용 개체 틀 4" descr="회의 데스크에 있는 사람들">
            <a:extLst>
              <a:ext uri="{FF2B5EF4-FFF2-40B4-BE49-F238E27FC236}">
                <a16:creationId xmlns:a16="http://schemas.microsoft.com/office/drawing/2014/main" id="{A19F568F-1531-4C72-9179-4E7708635A59}"/>
              </a:ext>
            </a:extLst>
          </p:cNvPr>
          <p:cNvPicPr>
            <a:picLocks noGrp="1" noChangeAspect="1"/>
          </p:cNvPicPr>
          <p:nvPr>
            <p:ph sz="half" idx="1"/>
          </p:nvPr>
        </p:nvPicPr>
        <p:blipFill>
          <a:blip r:embed="rId3"/>
          <a:srcRect l="22596" r="31049" b="-2"/>
          <a:stretch>
            <a:fillRect/>
          </a:stretch>
        </p:blipFill>
        <p:spPr>
          <a:xfrm>
            <a:off x="7776429" y="914400"/>
            <a:ext cx="4414591" cy="5357106"/>
          </a:xfrm>
          <a:prstGeom prst="rect">
            <a:avLst/>
          </a:prstGeom>
        </p:spPr>
      </p:pic>
      <p:cxnSp>
        <p:nvCxnSpPr>
          <p:cNvPr id="14" name="Straight Connector 13">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774468" y="6271515"/>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65487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53AE3C-AC4F-907C-B473-B9A30D2150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제목 1">
            <a:extLst>
              <a:ext uri="{FF2B5EF4-FFF2-40B4-BE49-F238E27FC236}">
                <a16:creationId xmlns:a16="http://schemas.microsoft.com/office/drawing/2014/main" id="{1147AD5C-8A11-712E-DBCA-80A121B695D8}"/>
              </a:ext>
            </a:extLst>
          </p:cNvPr>
          <p:cNvSpPr>
            <a:spLocks noGrp="1"/>
          </p:cNvSpPr>
          <p:nvPr>
            <p:ph type="title"/>
          </p:nvPr>
        </p:nvSpPr>
        <p:spPr>
          <a:xfrm>
            <a:off x="304531" y="409997"/>
            <a:ext cx="5791469" cy="637796"/>
          </a:xfrm>
        </p:spPr>
        <p:txBody>
          <a:bodyPr>
            <a:normAutofit fontScale="90000"/>
          </a:bodyPr>
          <a:lstStyle/>
          <a:p>
            <a:r>
              <a:rPr lang="ko-KR" altLang="en-US" sz="3600" dirty="0"/>
              <a:t>데이터 수집방법 및 사용기술</a:t>
            </a:r>
            <a:br>
              <a:rPr lang="en-US" altLang="ko-KR" sz="3600" dirty="0"/>
            </a:br>
            <a:endParaRPr lang="ko-KR" altLang="en-US" sz="3600" dirty="0"/>
          </a:p>
        </p:txBody>
      </p:sp>
      <p:graphicFrame>
        <p:nvGraphicFramePr>
          <p:cNvPr id="4" name="내용 개체 틀 4">
            <a:extLst>
              <a:ext uri="{FF2B5EF4-FFF2-40B4-BE49-F238E27FC236}">
                <a16:creationId xmlns:a16="http://schemas.microsoft.com/office/drawing/2014/main" id="{3CC3E2B1-0961-47AA-AB93-8B274B22E360}"/>
              </a:ext>
            </a:extLst>
          </p:cNvPr>
          <p:cNvGraphicFramePr>
            <a:graphicFrameLocks noGrp="1"/>
          </p:cNvGraphicFramePr>
          <p:nvPr>
            <p:ph idx="1"/>
            <p:extLst>
              <p:ext uri="{D42A27DB-BD31-4B8C-83A1-F6EECF244321}">
                <p14:modId xmlns:p14="http://schemas.microsoft.com/office/powerpoint/2010/main" val="381321915"/>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2066450" y="1295551"/>
          <a:ext cx="7029274" cy="53146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DA949273-AF45-5DF4-376F-FE7569532A23}"/>
              </a:ext>
            </a:extLst>
          </p:cNvPr>
          <p:cNvSpPr txBox="1"/>
          <p:nvPr/>
        </p:nvSpPr>
        <p:spPr>
          <a:xfrm>
            <a:off x="3957538" y="1817110"/>
            <a:ext cx="5670053" cy="1077218"/>
          </a:xfrm>
          <a:prstGeom prst="rect">
            <a:avLst/>
          </a:prstGeom>
          <a:noFill/>
        </p:spPr>
        <p:txBody>
          <a:bodyPr wrap="square" rtlCol="0">
            <a:spAutoFit/>
          </a:bodyPr>
          <a:lstStyle/>
          <a:p>
            <a:r>
              <a:rPr lang="ko-KR" altLang="en-US" sz="1600" dirty="0">
                <a:latin typeface="+mn-ea"/>
              </a:rPr>
              <a:t>🔹</a:t>
            </a:r>
            <a:r>
              <a:rPr lang="en-US" altLang="ko-KR" sz="1600" dirty="0">
                <a:latin typeface="+mn-ea"/>
              </a:rPr>
              <a:t> API </a:t>
            </a:r>
            <a:r>
              <a:rPr lang="ko-KR" altLang="ko-KR" sz="1600" dirty="0">
                <a:latin typeface="+mn-ea"/>
              </a:rPr>
              <a:t>및</a:t>
            </a:r>
            <a:r>
              <a:rPr lang="en-US" altLang="ko-KR" sz="1600" dirty="0">
                <a:latin typeface="+mn-ea"/>
              </a:rPr>
              <a:t> DB </a:t>
            </a:r>
            <a:r>
              <a:rPr lang="ko-KR" altLang="ko-KR" sz="1600" dirty="0">
                <a:latin typeface="+mn-ea"/>
              </a:rPr>
              <a:t>연동을 통한 실시간</a:t>
            </a:r>
            <a:r>
              <a:rPr lang="en-US" altLang="ko-KR" sz="1600" dirty="0">
                <a:latin typeface="+mn-ea"/>
              </a:rPr>
              <a:t>/</a:t>
            </a:r>
            <a:r>
              <a:rPr lang="ko-KR" altLang="ko-KR" sz="1600" dirty="0">
                <a:latin typeface="+mn-ea"/>
              </a:rPr>
              <a:t>일괄 수집</a:t>
            </a:r>
            <a:endParaRPr lang="en-US" altLang="ko-KR" sz="1600" dirty="0">
              <a:latin typeface="+mn-ea"/>
            </a:endParaRPr>
          </a:p>
          <a:p>
            <a:r>
              <a:rPr lang="ko-KR" altLang="en-US" sz="1600" dirty="0">
                <a:latin typeface="+mn-ea"/>
              </a:rPr>
              <a:t>🔹 </a:t>
            </a:r>
            <a:r>
              <a:rPr lang="ko-KR" altLang="ko-KR" sz="1600" dirty="0">
                <a:latin typeface="+mn-ea"/>
              </a:rPr>
              <a:t>수동 </a:t>
            </a:r>
            <a:r>
              <a:rPr lang="ko-KR" altLang="ko-KR" sz="1600" dirty="0" err="1">
                <a:latin typeface="+mn-ea"/>
              </a:rPr>
              <a:t>크롤링</a:t>
            </a:r>
            <a:r>
              <a:rPr lang="en-US" altLang="ko-KR" sz="1600" dirty="0">
                <a:latin typeface="+mn-ea"/>
              </a:rPr>
              <a:t>/</a:t>
            </a:r>
            <a:r>
              <a:rPr lang="ko-KR" altLang="ko-KR" sz="1600" dirty="0">
                <a:latin typeface="+mn-ea"/>
              </a:rPr>
              <a:t>연동 시스템을 통해 수집</a:t>
            </a:r>
            <a:endParaRPr lang="en-US" altLang="ko-KR" sz="1600" dirty="0">
              <a:latin typeface="+mn-ea"/>
            </a:endParaRPr>
          </a:p>
          <a:p>
            <a:r>
              <a:rPr lang="ko-KR" altLang="en-US" sz="1600" dirty="0">
                <a:latin typeface="+mn-ea"/>
              </a:rPr>
              <a:t>🔹 </a:t>
            </a:r>
            <a:r>
              <a:rPr lang="ko-KR" altLang="ko-KR" sz="1600" dirty="0">
                <a:latin typeface="+mn-ea"/>
              </a:rPr>
              <a:t>도메인지식을 활용한 내부데이터 생성</a:t>
            </a:r>
          </a:p>
          <a:p>
            <a:r>
              <a:rPr lang="ko-KR" altLang="en-US" sz="1600" dirty="0">
                <a:latin typeface="+mn-ea"/>
              </a:rPr>
              <a:t>🔹 </a:t>
            </a:r>
            <a:r>
              <a:rPr lang="ko-KR" altLang="ko-KR" sz="1600" dirty="0">
                <a:latin typeface="+mn-ea"/>
              </a:rPr>
              <a:t>실제 존재하는 내부 데이터의 주요 정보 수정 후 사용</a:t>
            </a:r>
          </a:p>
        </p:txBody>
      </p:sp>
      <p:sp>
        <p:nvSpPr>
          <p:cNvPr id="5" name="TextBox 4">
            <a:extLst>
              <a:ext uri="{FF2B5EF4-FFF2-40B4-BE49-F238E27FC236}">
                <a16:creationId xmlns:a16="http://schemas.microsoft.com/office/drawing/2014/main" id="{B776C168-AF84-BD27-C99E-C839CA6A72AC}"/>
              </a:ext>
            </a:extLst>
          </p:cNvPr>
          <p:cNvSpPr txBox="1"/>
          <p:nvPr/>
        </p:nvSpPr>
        <p:spPr>
          <a:xfrm>
            <a:off x="3957538" y="3521944"/>
            <a:ext cx="7452851" cy="1354217"/>
          </a:xfrm>
          <a:prstGeom prst="rect">
            <a:avLst/>
          </a:prstGeom>
          <a:noFill/>
        </p:spPr>
        <p:txBody>
          <a:bodyPr wrap="square" rtlCol="0">
            <a:spAutoFit/>
          </a:bodyPr>
          <a:lstStyle/>
          <a:p>
            <a:r>
              <a:rPr lang="ko-KR" altLang="en-US" sz="1600" dirty="0">
                <a:latin typeface="+mn-ea"/>
              </a:rPr>
              <a:t>🔹 </a:t>
            </a:r>
            <a:r>
              <a:rPr lang="en-US" altLang="ko-KR" sz="1600" dirty="0">
                <a:latin typeface="+mn-ea"/>
              </a:rPr>
              <a:t>LLM </a:t>
            </a:r>
            <a:r>
              <a:rPr lang="ko-KR" altLang="en-US" sz="1600" dirty="0">
                <a:latin typeface="+mn-ea"/>
              </a:rPr>
              <a:t>및 </a:t>
            </a:r>
            <a:r>
              <a:rPr lang="en-US" altLang="ko-KR" sz="1600" dirty="0">
                <a:latin typeface="+mn-ea"/>
              </a:rPr>
              <a:t>NLP </a:t>
            </a:r>
            <a:r>
              <a:rPr lang="ko-KR" altLang="en-US" sz="1600" dirty="0">
                <a:latin typeface="+mn-ea"/>
              </a:rPr>
              <a:t>기술</a:t>
            </a:r>
            <a:r>
              <a:rPr lang="en-US" altLang="ko-KR" sz="1600" dirty="0">
                <a:latin typeface="+mn-ea"/>
              </a:rPr>
              <a:t>: GPT-4o, KURE-V1, RAG, </a:t>
            </a:r>
            <a:r>
              <a:rPr lang="en-US" altLang="ko-KR" sz="1600" dirty="0" err="1">
                <a:latin typeface="+mn-ea"/>
              </a:rPr>
              <a:t>bge</a:t>
            </a:r>
            <a:r>
              <a:rPr lang="en-US" altLang="ko-KR" sz="1600" dirty="0">
                <a:latin typeface="+mn-ea"/>
              </a:rPr>
              <a:t>-</a:t>
            </a:r>
            <a:r>
              <a:rPr lang="en-US" altLang="ko-KR" sz="1600" dirty="0" err="1">
                <a:latin typeface="+mn-ea"/>
              </a:rPr>
              <a:t>reranker</a:t>
            </a:r>
            <a:r>
              <a:rPr lang="en-US" altLang="ko-KR" sz="1600" dirty="0">
                <a:latin typeface="+mn-ea"/>
              </a:rPr>
              <a:t>-ko</a:t>
            </a:r>
          </a:p>
          <a:p>
            <a:r>
              <a:rPr lang="ko-KR" altLang="en-US" sz="1600" dirty="0">
                <a:latin typeface="+mn-ea"/>
              </a:rPr>
              <a:t>🔹 데이터베이스</a:t>
            </a:r>
            <a:r>
              <a:rPr lang="en-US" altLang="ko-KR" sz="1600" dirty="0">
                <a:latin typeface="+mn-ea"/>
              </a:rPr>
              <a:t>: FAISS/Milvus, Structured DB, Object Storage</a:t>
            </a:r>
          </a:p>
          <a:p>
            <a:r>
              <a:rPr lang="ko-KR" altLang="en-US" sz="1600" dirty="0">
                <a:latin typeface="+mn-ea"/>
              </a:rPr>
              <a:t>🔹 </a:t>
            </a:r>
            <a:r>
              <a:rPr lang="ko-KR" altLang="en-US" sz="1600" dirty="0" err="1">
                <a:latin typeface="+mn-ea"/>
              </a:rPr>
              <a:t>백엔드</a:t>
            </a:r>
            <a:r>
              <a:rPr lang="en-US" altLang="ko-KR" sz="1600" dirty="0">
                <a:latin typeface="+mn-ea"/>
              </a:rPr>
              <a:t>: </a:t>
            </a:r>
            <a:r>
              <a:rPr lang="en-US" altLang="ko-KR" sz="1600" dirty="0" err="1">
                <a:latin typeface="+mn-ea"/>
              </a:rPr>
              <a:t>FastAPI</a:t>
            </a:r>
            <a:r>
              <a:rPr lang="en-US" altLang="ko-KR" sz="1600" dirty="0">
                <a:latin typeface="+mn-ea"/>
              </a:rPr>
              <a:t>, Django, Airflow, Docker</a:t>
            </a:r>
          </a:p>
          <a:p>
            <a:r>
              <a:rPr lang="ko-KR" altLang="en-US" sz="1600" dirty="0">
                <a:latin typeface="+mn-ea"/>
              </a:rPr>
              <a:t>🔹 </a:t>
            </a:r>
            <a:r>
              <a:rPr lang="ko-KR" altLang="en-US" sz="1600" dirty="0" err="1">
                <a:latin typeface="+mn-ea"/>
              </a:rPr>
              <a:t>프론트엔드</a:t>
            </a:r>
            <a:r>
              <a:rPr lang="en-US" altLang="ko-KR" sz="1600" dirty="0">
                <a:latin typeface="+mn-ea"/>
              </a:rPr>
              <a:t>: React, TypeScript</a:t>
            </a:r>
          </a:p>
          <a:p>
            <a:r>
              <a:rPr lang="ko-KR" altLang="en-US" sz="1600" dirty="0">
                <a:latin typeface="+mn-ea"/>
              </a:rPr>
              <a:t>🔹 보안 및 시스템 통합</a:t>
            </a:r>
            <a:r>
              <a:rPr lang="en-US" altLang="ko-KR" sz="1600" dirty="0">
                <a:latin typeface="+mn-ea"/>
              </a:rPr>
              <a:t>: ERP/CRM </a:t>
            </a:r>
            <a:r>
              <a:rPr lang="ko-KR" altLang="en-US" sz="1600" dirty="0">
                <a:latin typeface="+mn-ea"/>
              </a:rPr>
              <a:t>연동</a:t>
            </a:r>
            <a:r>
              <a:rPr lang="en-US" altLang="ko-KR" sz="1600" dirty="0">
                <a:latin typeface="+mn-ea"/>
              </a:rPr>
              <a:t>, SSO </a:t>
            </a:r>
            <a:r>
              <a:rPr lang="ko-KR" altLang="en-US" sz="1600" dirty="0">
                <a:latin typeface="+mn-ea"/>
              </a:rPr>
              <a:t>인증</a:t>
            </a:r>
            <a:r>
              <a:rPr lang="en-US" altLang="ko-KR" sz="1600" dirty="0">
                <a:latin typeface="+mn-ea"/>
              </a:rPr>
              <a:t>, </a:t>
            </a:r>
            <a:r>
              <a:rPr lang="ko-KR" altLang="en-US" sz="1600" dirty="0" err="1">
                <a:latin typeface="+mn-ea"/>
              </a:rPr>
              <a:t>온프레미스</a:t>
            </a:r>
            <a:r>
              <a:rPr lang="ko-KR" altLang="en-US" sz="1600" dirty="0">
                <a:latin typeface="+mn-ea"/>
              </a:rPr>
              <a:t> 대응</a:t>
            </a:r>
          </a:p>
        </p:txBody>
      </p:sp>
      <p:sp>
        <p:nvSpPr>
          <p:cNvPr id="7" name="TextBox 6">
            <a:extLst>
              <a:ext uri="{FF2B5EF4-FFF2-40B4-BE49-F238E27FC236}">
                <a16:creationId xmlns:a16="http://schemas.microsoft.com/office/drawing/2014/main" id="{CAE2AC9E-1E54-D183-2323-2A31AE0D99B0}"/>
              </a:ext>
            </a:extLst>
          </p:cNvPr>
          <p:cNvSpPr txBox="1"/>
          <p:nvPr/>
        </p:nvSpPr>
        <p:spPr>
          <a:xfrm>
            <a:off x="3957538" y="5503777"/>
            <a:ext cx="6153434" cy="1077218"/>
          </a:xfrm>
          <a:prstGeom prst="rect">
            <a:avLst/>
          </a:prstGeom>
          <a:noFill/>
        </p:spPr>
        <p:txBody>
          <a:bodyPr wrap="square" rtlCol="0">
            <a:spAutoFit/>
          </a:bodyPr>
          <a:lstStyle/>
          <a:p>
            <a:r>
              <a:rPr lang="ko-KR" altLang="en-US" sz="1600" dirty="0">
                <a:latin typeface="+mn-ea"/>
              </a:rPr>
              <a:t>🔹 제약 영업 실무에 맞춰 문서 검색과 자동화를 통합해 운영</a:t>
            </a:r>
            <a:endParaRPr lang="en-US" altLang="ko-KR" sz="1600" dirty="0">
              <a:latin typeface="+mn-ea"/>
            </a:endParaRPr>
          </a:p>
          <a:p>
            <a:r>
              <a:rPr lang="ko-KR" altLang="en-US" sz="1600" dirty="0">
                <a:latin typeface="+mn-ea"/>
              </a:rPr>
              <a:t>🔹 </a:t>
            </a:r>
            <a:r>
              <a:rPr lang="en-US" altLang="ko-KR" sz="1600" dirty="0">
                <a:latin typeface="+mn-ea"/>
              </a:rPr>
              <a:t>RAG </a:t>
            </a:r>
            <a:r>
              <a:rPr lang="ko-KR" altLang="en-US" sz="1600" dirty="0">
                <a:latin typeface="+mn-ea"/>
              </a:rPr>
              <a:t>기반 </a:t>
            </a:r>
            <a:r>
              <a:rPr lang="ko-KR" altLang="en-US" sz="1600" dirty="0" err="1">
                <a:latin typeface="+mn-ea"/>
              </a:rPr>
              <a:t>챗봇으로</a:t>
            </a:r>
            <a:r>
              <a:rPr lang="ko-KR" altLang="en-US" sz="1600" dirty="0">
                <a:latin typeface="+mn-ea"/>
              </a:rPr>
              <a:t> 시작해 실사용 데이터를 반영하며 고도화</a:t>
            </a:r>
            <a:endParaRPr lang="en-US" altLang="ko-KR" sz="1600" dirty="0">
              <a:latin typeface="+mn-ea"/>
            </a:endParaRPr>
          </a:p>
          <a:p>
            <a:r>
              <a:rPr lang="ko-KR" altLang="en-US" sz="1600" dirty="0">
                <a:latin typeface="+mn-ea"/>
              </a:rPr>
              <a:t>🔹 내부 시스템 연동을 통해 실질적 업무 효율성을 높이고</a:t>
            </a:r>
            <a:r>
              <a:rPr lang="en-US" altLang="ko-KR" sz="1600" dirty="0">
                <a:latin typeface="+mn-ea"/>
              </a:rPr>
              <a:t>,</a:t>
            </a:r>
          </a:p>
          <a:p>
            <a:r>
              <a:rPr lang="en-US" altLang="ko-KR" sz="1600" dirty="0">
                <a:latin typeface="+mn-ea"/>
              </a:rPr>
              <a:t>      </a:t>
            </a:r>
            <a:r>
              <a:rPr lang="ko-KR" altLang="en-US" sz="1600" dirty="0" err="1">
                <a:latin typeface="+mn-ea"/>
              </a:rPr>
              <a:t>폐쇄망</a:t>
            </a:r>
            <a:r>
              <a:rPr lang="ko-KR" altLang="en-US" sz="1600" dirty="0">
                <a:latin typeface="+mn-ea"/>
              </a:rPr>
              <a:t> 환경에서도 안정적이고 안전하게 운영됨</a:t>
            </a:r>
            <a:endParaRPr lang="en-US" altLang="ko-KR" sz="1600" dirty="0">
              <a:latin typeface="+mn-ea"/>
            </a:endParaRPr>
          </a:p>
        </p:txBody>
      </p:sp>
    </p:spTree>
    <p:extLst>
      <p:ext uri="{BB962C8B-B14F-4D97-AF65-F5344CB8AC3E}">
        <p14:creationId xmlns:p14="http://schemas.microsoft.com/office/powerpoint/2010/main" val="308189900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제목 1">
            <a:extLst>
              <a:ext uri="{FF2B5EF4-FFF2-40B4-BE49-F238E27FC236}">
                <a16:creationId xmlns:a16="http://schemas.microsoft.com/office/drawing/2014/main" id="{D7324DF4-F416-CF0E-DD09-D00C3EA0DBB4}"/>
              </a:ext>
            </a:extLst>
          </p:cNvPr>
          <p:cNvSpPr>
            <a:spLocks noGrp="1"/>
          </p:cNvSpPr>
          <p:nvPr>
            <p:ph type="title"/>
          </p:nvPr>
        </p:nvSpPr>
        <p:spPr>
          <a:xfrm>
            <a:off x="5029200" y="914400"/>
            <a:ext cx="6501810" cy="1097280"/>
          </a:xfrm>
        </p:spPr>
        <p:txBody>
          <a:bodyPr vert="horz" lIns="91440" tIns="45720" rIns="91440" bIns="45720" rtlCol="0" anchor="t">
            <a:normAutofit/>
          </a:bodyPr>
          <a:lstStyle/>
          <a:p>
            <a:r>
              <a:rPr lang="ko-KR" altLang="en-US"/>
              <a:t>기획서 초안 작성</a:t>
            </a:r>
          </a:p>
        </p:txBody>
      </p:sp>
      <p:pic>
        <p:nvPicPr>
          <p:cNvPr id="5" name="내용 개체 틀 4" descr="건물 프로젝트 및 테이블 위의 몇 가지 건축가 도구.">
            <a:extLst>
              <a:ext uri="{FF2B5EF4-FFF2-40B4-BE49-F238E27FC236}">
                <a16:creationId xmlns:a16="http://schemas.microsoft.com/office/drawing/2014/main" id="{B7C90036-40D2-4076-9BD3-618F3F93E50B}"/>
              </a:ext>
            </a:extLst>
          </p:cNvPr>
          <p:cNvPicPr>
            <a:picLocks noGrp="1" noChangeAspect="1"/>
          </p:cNvPicPr>
          <p:nvPr>
            <p:ph sz="half" idx="1"/>
          </p:nvPr>
        </p:nvPicPr>
        <p:blipFill>
          <a:blip r:embed="rId3"/>
          <a:srcRect l="41905" r="3029" b="2"/>
          <a:stretch>
            <a:fillRect/>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내용 개체 틀 3">
            <a:extLst>
              <a:ext uri="{FF2B5EF4-FFF2-40B4-BE49-F238E27FC236}">
                <a16:creationId xmlns:a16="http://schemas.microsoft.com/office/drawing/2014/main" id="{DB5DE1FF-4BAD-888E-985B-0DC86FE2B3C4}"/>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00317"/>
            <a:ext cx="6501810" cy="4121885"/>
          </a:xfrm>
        </p:spPr>
        <p:txBody>
          <a:bodyPr>
            <a:normAutofit/>
          </a:bodyPr>
          <a:lstStyle/>
          <a:p>
            <a:pPr marL="0" indent="0">
              <a:spcBef>
                <a:spcPts val="2500"/>
              </a:spcBef>
              <a:buNone/>
            </a:pPr>
            <a:r>
              <a:rPr lang="ko-KR" altLang="en-US" sz="1400" b="1" dirty="0"/>
              <a:t>프로젝트 방향성</a:t>
            </a:r>
          </a:p>
          <a:p>
            <a:pPr marL="0" lvl="1" indent="0">
              <a:buNone/>
            </a:pPr>
            <a:r>
              <a:rPr lang="ko-KR" altLang="en-US" sz="1400" dirty="0"/>
              <a:t>프로젝트의 주제는 도메인 지식을 살릴 수 있는 </a:t>
            </a:r>
            <a:r>
              <a:rPr lang="ko-KR" altLang="en-US" sz="1400" b="1" dirty="0"/>
              <a:t>제약 영업</a:t>
            </a:r>
            <a:r>
              <a:rPr lang="ko-KR" altLang="en-US" sz="1400" dirty="0"/>
              <a:t>으로 설정하였습니다</a:t>
            </a:r>
            <a:r>
              <a:rPr lang="en-US" altLang="ko-KR" sz="1400" dirty="0"/>
              <a:t>.</a:t>
            </a:r>
          </a:p>
          <a:p>
            <a:pPr marL="0" lvl="1" indent="0">
              <a:buNone/>
            </a:pPr>
            <a:r>
              <a:rPr lang="ko-KR" altLang="en-US" sz="1400" dirty="0"/>
              <a:t>데이터 수집의 한계를 도메인 지식이 있는 분야로 설정함으로써 해소할 수 있었습니다</a:t>
            </a:r>
            <a:r>
              <a:rPr lang="en-US" altLang="ko-KR" sz="1400" dirty="0"/>
              <a:t>.</a:t>
            </a:r>
          </a:p>
          <a:p>
            <a:pPr marL="0" lvl="1" indent="0">
              <a:buNone/>
            </a:pPr>
            <a:r>
              <a:rPr lang="ko-KR" altLang="en-US" sz="1400" b="1" dirty="0"/>
              <a:t>목표 설정</a:t>
            </a:r>
          </a:p>
          <a:p>
            <a:pPr marL="0" lvl="1" indent="0">
              <a:buNone/>
            </a:pPr>
            <a:r>
              <a:rPr lang="ko-KR" altLang="en-US" sz="1400" dirty="0"/>
              <a:t>제약 영업 업무의 효율성을 높이기 위한 </a:t>
            </a:r>
            <a:r>
              <a:rPr lang="en-US" altLang="ko-KR" sz="1400" b="1" dirty="0"/>
              <a:t>AI </a:t>
            </a:r>
            <a:r>
              <a:rPr lang="ko-KR" altLang="en-US" sz="1400" b="1" dirty="0"/>
              <a:t>위키 및 어시스턴트 서비스</a:t>
            </a:r>
            <a:r>
              <a:rPr lang="ko-KR" altLang="en-US" sz="1400" dirty="0"/>
              <a:t> 개발을 목표로 합니다</a:t>
            </a:r>
            <a:r>
              <a:rPr lang="en-US" altLang="ko-KR" sz="1400" dirty="0"/>
              <a:t>.</a:t>
            </a:r>
          </a:p>
          <a:p>
            <a:pPr marL="0" lvl="1" indent="0">
              <a:buNone/>
            </a:pPr>
            <a:r>
              <a:rPr lang="ko-KR" altLang="en-US" sz="1400" dirty="0"/>
              <a:t>제약 영업 사원들이 내부 데이터를 빠르고 정확하게 찾고</a:t>
            </a:r>
            <a:r>
              <a:rPr lang="en-US" altLang="ko-KR" sz="1400" dirty="0"/>
              <a:t>, </a:t>
            </a:r>
            <a:r>
              <a:rPr lang="ko-KR" altLang="en-US" sz="1400" dirty="0"/>
              <a:t>반복적인 보고서를 자동화 하여 업무 부담을 줄일 수 있도록 지원합니다</a:t>
            </a:r>
            <a:r>
              <a:rPr lang="en-US" altLang="ko-KR" sz="1400" dirty="0"/>
              <a:t>.</a:t>
            </a:r>
          </a:p>
          <a:p>
            <a:pPr marL="0" lvl="1" indent="0">
              <a:buNone/>
            </a:pPr>
            <a:r>
              <a:rPr lang="ko-KR" altLang="en-US" sz="1400" b="1" dirty="0"/>
              <a:t>팀원 간의 이해도</a:t>
            </a:r>
          </a:p>
          <a:p>
            <a:pPr marL="0" lvl="1" indent="0">
              <a:buNone/>
            </a:pPr>
            <a:r>
              <a:rPr lang="ko-KR" altLang="en-US" sz="1400" dirty="0"/>
              <a:t>초안 작성을 통해 팀원 간의 이해도를 높일 수 있습니다</a:t>
            </a:r>
            <a:r>
              <a:rPr lang="en-US" altLang="ko-KR" sz="1400" dirty="0"/>
              <a:t>.</a:t>
            </a:r>
          </a:p>
          <a:p>
            <a:pPr marL="0" lvl="1" indent="0">
              <a:buNone/>
            </a:pPr>
            <a:r>
              <a:rPr lang="ko-KR" altLang="en-US" sz="1400" dirty="0"/>
              <a:t>향후 내부 동작 흐름도와 화면 흐름도를 함께 작성하여 모든 팀원이 공통된 목표와 구조를 공유할 수 있도록 할 예정입니다</a:t>
            </a:r>
            <a:r>
              <a:rPr lang="en-US" altLang="ko-KR" sz="1400" dirty="0"/>
              <a:t>.</a:t>
            </a:r>
            <a:endParaRPr lang="ko-KR" altLang="en-US" sz="1400" dirty="0"/>
          </a:p>
        </p:txBody>
      </p:sp>
    </p:spTree>
    <p:extLst>
      <p:ext uri="{BB962C8B-B14F-4D97-AF65-F5344CB8AC3E}">
        <p14:creationId xmlns:p14="http://schemas.microsoft.com/office/powerpoint/2010/main" val="8500828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제목 1">
            <a:extLst>
              <a:ext uri="{FF2B5EF4-FFF2-40B4-BE49-F238E27FC236}">
                <a16:creationId xmlns:a16="http://schemas.microsoft.com/office/drawing/2014/main" id="{77D0E6DF-AA36-BD79-EA6D-C4BC99BEDA83}"/>
              </a:ext>
            </a:extLst>
          </p:cNvPr>
          <p:cNvSpPr>
            <a:spLocks noGrp="1"/>
          </p:cNvSpPr>
          <p:nvPr>
            <p:ph type="title"/>
          </p:nvPr>
        </p:nvSpPr>
        <p:spPr>
          <a:xfrm>
            <a:off x="640079" y="914400"/>
            <a:ext cx="4261104" cy="1097280"/>
          </a:xfrm>
        </p:spPr>
        <p:txBody>
          <a:bodyPr vert="horz" lIns="91440" tIns="45720" rIns="91440" bIns="45720" rtlCol="0" anchor="t">
            <a:normAutofit/>
          </a:bodyPr>
          <a:lstStyle/>
          <a:p>
            <a:r>
              <a:rPr lang="ko-KR" altLang="en-US" sz="3600"/>
              <a:t>금주 제출 문서 작성</a:t>
            </a:r>
          </a:p>
        </p:txBody>
      </p:sp>
      <p:sp>
        <p:nvSpPr>
          <p:cNvPr id="4" name="내용 개체 틀 3">
            <a:extLst>
              <a:ext uri="{FF2B5EF4-FFF2-40B4-BE49-F238E27FC236}">
                <a16:creationId xmlns:a16="http://schemas.microsoft.com/office/drawing/2014/main" id="{DE1E6BFA-0CCB-F855-702B-E759398077B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79" y="2176036"/>
            <a:ext cx="4261104" cy="4121887"/>
          </a:xfrm>
        </p:spPr>
        <p:txBody>
          <a:bodyPr>
            <a:normAutofit/>
          </a:bodyPr>
          <a:lstStyle/>
          <a:p>
            <a:pPr marL="0" indent="0">
              <a:spcBef>
                <a:spcPts val="2500"/>
              </a:spcBef>
              <a:buNone/>
            </a:pPr>
            <a:r>
              <a:rPr lang="ko-KR" altLang="en-US" sz="1400" b="1"/>
              <a:t>문서의 중요성</a:t>
            </a:r>
          </a:p>
          <a:p>
            <a:pPr marL="0" lvl="1" indent="0">
              <a:buNone/>
            </a:pPr>
            <a:r>
              <a:rPr lang="ko-KR" altLang="en-US" sz="1400"/>
              <a:t>이번 주에 제출할 문서는 프로젝트 진행 상황을 문서화하여 투명성을 높이는 데 중요합니다</a:t>
            </a:r>
            <a:r>
              <a:rPr lang="en-US" altLang="ko-KR" sz="1400"/>
              <a:t>.</a:t>
            </a:r>
          </a:p>
          <a:p>
            <a:pPr marL="0" indent="0">
              <a:spcBef>
                <a:spcPts val="2500"/>
              </a:spcBef>
              <a:buNone/>
            </a:pPr>
            <a:r>
              <a:rPr lang="ko-KR" altLang="en-US" sz="1400" b="1"/>
              <a:t>투명성 향상</a:t>
            </a:r>
          </a:p>
          <a:p>
            <a:pPr marL="0" lvl="1" indent="0">
              <a:buNone/>
            </a:pPr>
            <a:r>
              <a:rPr lang="ko-KR" altLang="en-US" sz="1400"/>
              <a:t>문서 작성을 통해 프로젝트의 투명성을 높이고 팀의 신뢰를 구축해야 합니다</a:t>
            </a:r>
            <a:r>
              <a:rPr lang="en-US" altLang="ko-KR" sz="1400"/>
              <a:t>.</a:t>
            </a:r>
            <a:endParaRPr lang="ko-KR" altLang="en-US" sz="1400"/>
          </a:p>
        </p:txBody>
      </p:sp>
      <p:pic>
        <p:nvPicPr>
          <p:cNvPr id="5" name="내용 개체 틀 4" descr="흰 종이에 있는 체크리스트와 노트북 컴퓨터의 일부를 클로즈업합니다.">
            <a:extLst>
              <a:ext uri="{FF2B5EF4-FFF2-40B4-BE49-F238E27FC236}">
                <a16:creationId xmlns:a16="http://schemas.microsoft.com/office/drawing/2014/main" id="{C0150526-1D55-458E-BF3A-800ADF060107}"/>
              </a:ext>
            </a:extLst>
          </p:cNvPr>
          <p:cNvPicPr>
            <a:picLocks noGrp="1" noChangeAspect="1"/>
          </p:cNvPicPr>
          <p:nvPr>
            <p:ph sz="half" idx="1"/>
          </p:nvPr>
        </p:nvPicPr>
        <p:blipFill>
          <a:blip r:embed="rId3"/>
          <a:srcRect l="13465" r="5232" b="2"/>
          <a:stretch>
            <a:fillRect/>
          </a:stretch>
        </p:blipFill>
        <p:spPr>
          <a:xfrm>
            <a:off x="5671128" y="914399"/>
            <a:ext cx="6520872" cy="5353521"/>
          </a:xfrm>
          <a:prstGeom prst="rect">
            <a:avLst/>
          </a:prstGeom>
        </p:spPr>
      </p:pic>
      <p:cxnSp>
        <p:nvCxnSpPr>
          <p:cNvPr id="14" name="Straight Connector 13">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672328" y="6267921"/>
            <a:ext cx="6519672" cy="2"/>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94914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제목 1">
            <a:extLst>
              <a:ext uri="{FF2B5EF4-FFF2-40B4-BE49-F238E27FC236}">
                <a16:creationId xmlns:a16="http://schemas.microsoft.com/office/drawing/2014/main" id="{7A08418F-3824-C3A8-93E7-5CB04B5CF86B}"/>
              </a:ext>
            </a:extLst>
          </p:cNvPr>
          <p:cNvSpPr>
            <a:spLocks noGrp="1"/>
          </p:cNvSpPr>
          <p:nvPr>
            <p:ph type="ctrTitle"/>
          </p:nvPr>
        </p:nvSpPr>
        <p:spPr>
          <a:xfrm>
            <a:off x="559219" y="1115844"/>
            <a:ext cx="7680960" cy="4631911"/>
          </a:xfrm>
        </p:spPr>
        <p:txBody>
          <a:bodyPr anchor="b">
            <a:normAutofit/>
          </a:bodyPr>
          <a:lstStyle/>
          <a:p>
            <a:r>
              <a:rPr lang="ko-KR" altLang="en-US" sz="6500" dirty="0"/>
              <a:t>프로젝트 주제</a:t>
            </a:r>
          </a:p>
        </p:txBody>
      </p:sp>
      <p:cxnSp>
        <p:nvCxnSpPr>
          <p:cNvPr id="11" name="Straight Connector 10">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77375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제목 1">
            <a:extLst>
              <a:ext uri="{FF2B5EF4-FFF2-40B4-BE49-F238E27FC236}">
                <a16:creationId xmlns:a16="http://schemas.microsoft.com/office/drawing/2014/main" id="{FBA324A7-6B0A-00D1-E8E7-C626859C4256}"/>
              </a:ext>
            </a:extLst>
          </p:cNvPr>
          <p:cNvSpPr>
            <a:spLocks noGrp="1"/>
          </p:cNvSpPr>
          <p:nvPr>
            <p:ph type="title"/>
          </p:nvPr>
        </p:nvSpPr>
        <p:spPr>
          <a:xfrm>
            <a:off x="640080" y="914400"/>
            <a:ext cx="6291472" cy="703616"/>
          </a:xfrm>
        </p:spPr>
        <p:txBody>
          <a:bodyPr vert="horz" lIns="91440" tIns="45720" rIns="91440" bIns="45720" rtlCol="0" anchor="t">
            <a:normAutofit/>
          </a:bodyPr>
          <a:lstStyle/>
          <a:p>
            <a:pPr>
              <a:lnSpc>
                <a:spcPct val="90000"/>
              </a:lnSpc>
            </a:pPr>
            <a:r>
              <a:rPr lang="ko-KR" altLang="en-US" sz="3400"/>
              <a:t>프로젝트 주제</a:t>
            </a:r>
            <a:endParaRPr lang="ko-KR" altLang="en-US" sz="3400" dirty="0"/>
          </a:p>
        </p:txBody>
      </p:sp>
      <p:sp>
        <p:nvSpPr>
          <p:cNvPr id="4" name="내용 개체 틀 3">
            <a:extLst>
              <a:ext uri="{FF2B5EF4-FFF2-40B4-BE49-F238E27FC236}">
                <a16:creationId xmlns:a16="http://schemas.microsoft.com/office/drawing/2014/main" id="{CB02EC85-45FB-0A10-588D-F9428CD4421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80" y="1819656"/>
            <a:ext cx="6979920" cy="4123944"/>
          </a:xfrm>
        </p:spPr>
        <p:txBody>
          <a:bodyPr>
            <a:normAutofit fontScale="92500" lnSpcReduction="20000"/>
          </a:bodyPr>
          <a:lstStyle/>
          <a:p>
            <a:pPr marL="0" indent="0">
              <a:buNone/>
            </a:pPr>
            <a:r>
              <a:rPr lang="ko-KR" altLang="en-US" sz="2100" b="1" dirty="0"/>
              <a:t>프로젝트 주제</a:t>
            </a:r>
            <a:endParaRPr lang="ko-KR" altLang="en-US" sz="2100" dirty="0"/>
          </a:p>
          <a:p>
            <a:r>
              <a:rPr lang="ko-KR" altLang="en-US" sz="1600" dirty="0"/>
              <a:t>제약영업 업무 효율성 강화를 위한 문서검색 </a:t>
            </a:r>
            <a:r>
              <a:rPr lang="en-US" altLang="ko-KR" sz="1600" dirty="0"/>
              <a:t>QA</a:t>
            </a:r>
            <a:r>
              <a:rPr lang="ko-KR" altLang="en-US" sz="1600" dirty="0" err="1"/>
              <a:t>챗봇</a:t>
            </a:r>
            <a:endParaRPr lang="ko-KR" altLang="en-US" sz="1600" dirty="0"/>
          </a:p>
          <a:p>
            <a:r>
              <a:rPr lang="ko-KR" altLang="en-US" sz="1600" dirty="0"/>
              <a:t>제약영업사원들이 사내 문서</a:t>
            </a:r>
            <a:r>
              <a:rPr lang="en-US" altLang="ko-KR" sz="1600" dirty="0"/>
              <a:t>, </a:t>
            </a:r>
            <a:r>
              <a:rPr lang="ko-KR" altLang="en-US" sz="1600" dirty="0"/>
              <a:t>인사 정보</a:t>
            </a:r>
            <a:r>
              <a:rPr lang="en-US" altLang="ko-KR" sz="1600" dirty="0"/>
              <a:t>, </a:t>
            </a:r>
            <a:r>
              <a:rPr lang="ko-KR" altLang="en-US" sz="1600" dirty="0"/>
              <a:t>제품 관련 자료</a:t>
            </a:r>
            <a:r>
              <a:rPr lang="en-US" altLang="ko-KR" sz="1600" dirty="0"/>
              <a:t>, </a:t>
            </a:r>
            <a:r>
              <a:rPr lang="ko-KR" altLang="en-US" sz="1600" dirty="0"/>
              <a:t>재고 및 실적 데이터를 빠르고 정확하게 찾고</a:t>
            </a:r>
            <a:r>
              <a:rPr lang="en-US" altLang="ko-KR" sz="1600" dirty="0"/>
              <a:t>, </a:t>
            </a:r>
            <a:r>
              <a:rPr lang="ko-KR" altLang="en-US" sz="1600" dirty="0"/>
              <a:t>반복적인 보고서 작성이나 전표 정리 같은 업무도 자동으로 처리할 수 있도록 </a:t>
            </a:r>
            <a:r>
              <a:rPr lang="ko-KR" altLang="en-US" sz="1600" dirty="0" err="1"/>
              <a:t>챗봇</a:t>
            </a:r>
            <a:endParaRPr lang="ko-KR" altLang="en-US" sz="1600" dirty="0"/>
          </a:p>
          <a:p>
            <a:r>
              <a:rPr lang="ko-KR" altLang="en-US" sz="1600" dirty="0"/>
              <a:t>문서 검색 </a:t>
            </a:r>
            <a:r>
              <a:rPr lang="en-US" altLang="ko-KR" sz="1600" dirty="0"/>
              <a:t>+ </a:t>
            </a:r>
            <a:r>
              <a:rPr lang="ko-KR" altLang="en-US" sz="1600" dirty="0"/>
              <a:t>업무 자동화 </a:t>
            </a:r>
            <a:r>
              <a:rPr lang="en-US" altLang="ko-KR" sz="1600" dirty="0"/>
              <a:t>+ </a:t>
            </a:r>
            <a:r>
              <a:rPr lang="ko-KR" altLang="en-US" sz="1600" dirty="0"/>
              <a:t>내부 시스템 연동 </a:t>
            </a:r>
            <a:r>
              <a:rPr lang="en-US" altLang="ko-KR" sz="1600" dirty="0"/>
              <a:t>+ </a:t>
            </a:r>
            <a:r>
              <a:rPr lang="ko-KR" altLang="en-US" sz="1600" dirty="0"/>
              <a:t>규제 대응을 모두 챙긴 </a:t>
            </a:r>
            <a:r>
              <a:rPr lang="en-US" altLang="ko-KR" sz="1600" dirty="0"/>
              <a:t>LLM </a:t>
            </a:r>
            <a:r>
              <a:rPr lang="ko-KR" altLang="en-US" sz="1600" dirty="0"/>
              <a:t>기반 </a:t>
            </a:r>
            <a:r>
              <a:rPr lang="ko-KR" altLang="en-US" sz="1600" dirty="0" err="1"/>
              <a:t>챗봇</a:t>
            </a:r>
            <a:r>
              <a:rPr lang="ko-KR" altLang="en-US" sz="1600" dirty="0"/>
              <a:t> 제작하여 영업사원의 실제 영업 활동</a:t>
            </a:r>
            <a:r>
              <a:rPr lang="en-US" altLang="ko-KR" sz="1600" dirty="0"/>
              <a:t>(</a:t>
            </a:r>
            <a:r>
              <a:rPr lang="ko-KR" altLang="en-US" sz="1600" dirty="0"/>
              <a:t>고객 관계</a:t>
            </a:r>
            <a:r>
              <a:rPr lang="en-US" altLang="ko-KR" sz="1600" dirty="0"/>
              <a:t>/</a:t>
            </a:r>
            <a:r>
              <a:rPr lang="ko-KR" altLang="en-US" sz="1600" dirty="0"/>
              <a:t>전략 실행</a:t>
            </a:r>
            <a:r>
              <a:rPr lang="en-US" altLang="ko-KR" sz="1600" dirty="0"/>
              <a:t>)</a:t>
            </a:r>
            <a:r>
              <a:rPr lang="ko-KR" altLang="en-US" sz="1600" dirty="0"/>
              <a:t>에만 집중하여 성과를 높이는 기대효과</a:t>
            </a:r>
          </a:p>
          <a:p>
            <a:pPr marL="0" indent="0">
              <a:buNone/>
            </a:pPr>
            <a:r>
              <a:rPr lang="ko-KR" altLang="en-US" sz="1900" b="1" dirty="0"/>
              <a:t>시장조사</a:t>
            </a:r>
            <a:endParaRPr lang="en-US" altLang="ko-KR" sz="1900" dirty="0"/>
          </a:p>
          <a:p>
            <a:r>
              <a:rPr lang="ko-KR" altLang="en-US" sz="1600" dirty="0"/>
              <a:t>기존 </a:t>
            </a:r>
            <a:r>
              <a:rPr lang="ko-KR" altLang="en-US" sz="1600" dirty="0" err="1"/>
              <a:t>챗봇은</a:t>
            </a:r>
            <a:r>
              <a:rPr lang="ko-KR" altLang="en-US" sz="1600" dirty="0"/>
              <a:t> 단순한 키워드 기반 응답만 가능해 복잡한 질문이나 문맥을 이해하지 못함</a:t>
            </a:r>
            <a:r>
              <a:rPr lang="en-US" altLang="ko-KR" sz="1600" dirty="0"/>
              <a:t>.</a:t>
            </a:r>
          </a:p>
          <a:p>
            <a:r>
              <a:rPr lang="ko-KR" altLang="en-US" sz="1600" dirty="0"/>
              <a:t>실시간 정보 반영과 내부 시스템 연동이 부족해 실제 업무에 활용하기 어려움</a:t>
            </a:r>
            <a:r>
              <a:rPr lang="en-US" altLang="ko-KR" sz="1600" dirty="0"/>
              <a:t>.</a:t>
            </a:r>
          </a:p>
          <a:p>
            <a:r>
              <a:rPr lang="ko-KR" altLang="en-US" sz="1600" dirty="0"/>
              <a:t>보안 문제와 정보 부정확성으로 인해 신뢰성과 사용률 모두 낮은 상황</a:t>
            </a:r>
            <a:r>
              <a:rPr lang="en-US" altLang="ko-KR" sz="1600" dirty="0"/>
              <a:t>.</a:t>
            </a:r>
            <a:endParaRPr lang="ko-KR" altLang="en-US" sz="1200" dirty="0"/>
          </a:p>
        </p:txBody>
      </p:sp>
      <p:pic>
        <p:nvPicPr>
          <p:cNvPr id="5" name="내용 개체 틀 4" descr="3D 일러스트레이션.">
            <a:extLst>
              <a:ext uri="{FF2B5EF4-FFF2-40B4-BE49-F238E27FC236}">
                <a16:creationId xmlns:a16="http://schemas.microsoft.com/office/drawing/2014/main" id="{056FFBB6-EE1B-4C0F-9CD7-BA1682703D1B}"/>
              </a:ext>
            </a:extLst>
          </p:cNvPr>
          <p:cNvPicPr>
            <a:picLocks noGrp="1" noChangeAspect="1"/>
          </p:cNvPicPr>
          <p:nvPr>
            <p:ph sz="half" idx="1"/>
          </p:nvPr>
        </p:nvPicPr>
        <p:blipFill>
          <a:blip r:embed="rId3"/>
          <a:srcRect r="38195"/>
          <a:stretch>
            <a:fillRect/>
          </a:stretch>
        </p:blipFill>
        <p:spPr>
          <a:xfrm>
            <a:off x="7776429" y="914400"/>
            <a:ext cx="4414591" cy="5357106"/>
          </a:xfrm>
          <a:prstGeom prst="rect">
            <a:avLst/>
          </a:prstGeom>
        </p:spPr>
      </p:pic>
      <p:cxnSp>
        <p:nvCxnSpPr>
          <p:cNvPr id="14" name="Straight Connector 13">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774468" y="6271515"/>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083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8FCE029E-5073-4498-8104-8427AA987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제목 1">
            <a:extLst>
              <a:ext uri="{FF2B5EF4-FFF2-40B4-BE49-F238E27FC236}">
                <a16:creationId xmlns:a16="http://schemas.microsoft.com/office/drawing/2014/main" id="{634DDE56-B5F9-5A14-D622-322A3A99C4E5}"/>
              </a:ext>
            </a:extLst>
          </p:cNvPr>
          <p:cNvSpPr>
            <a:spLocks noGrp="1"/>
          </p:cNvSpPr>
          <p:nvPr>
            <p:ph type="title"/>
          </p:nvPr>
        </p:nvSpPr>
        <p:spPr>
          <a:xfrm>
            <a:off x="640080" y="914401"/>
            <a:ext cx="4306824" cy="1477817"/>
          </a:xfrm>
        </p:spPr>
        <p:txBody>
          <a:bodyPr vert="horz" lIns="91440" tIns="45720" rIns="91440" bIns="45720" rtlCol="0" anchor="t">
            <a:normAutofit/>
          </a:bodyPr>
          <a:lstStyle/>
          <a:p>
            <a:pPr>
              <a:lnSpc>
                <a:spcPct val="90000"/>
              </a:lnSpc>
            </a:pPr>
            <a:r>
              <a:rPr lang="ko-KR" altLang="en-US" sz="3200" dirty="0"/>
              <a:t>기술 아키텍처</a:t>
            </a:r>
            <a:endParaRPr lang="ko-KR" altLang="en-US" sz="3100" dirty="0"/>
          </a:p>
        </p:txBody>
      </p:sp>
      <p:pic>
        <p:nvPicPr>
          <p:cNvPr id="5" name="내용 개체 틀 4" descr="빅 데이터 마이닝, 정보 기술 드로잉 메모장">
            <a:extLst>
              <a:ext uri="{FF2B5EF4-FFF2-40B4-BE49-F238E27FC236}">
                <a16:creationId xmlns:a16="http://schemas.microsoft.com/office/drawing/2014/main" id="{0AC01AE5-3740-48F6-BB5D-9933AB45D389}"/>
              </a:ext>
            </a:extLst>
          </p:cNvPr>
          <p:cNvPicPr>
            <a:picLocks noGrp="1" noChangeAspect="1"/>
          </p:cNvPicPr>
          <p:nvPr>
            <p:ph sz="half" idx="1"/>
          </p:nvPr>
        </p:nvPicPr>
        <p:blipFill>
          <a:blip r:embed="rId3"/>
          <a:srcRect t="561" r="-2" b="-2"/>
          <a:stretch>
            <a:fillRect/>
          </a:stretch>
        </p:blipFill>
        <p:spPr>
          <a:xfrm>
            <a:off x="1" y="2613892"/>
            <a:ext cx="4946906" cy="3689359"/>
          </a:xfrm>
          <a:prstGeom prst="rect">
            <a:avLst/>
          </a:prstGeom>
        </p:spPr>
      </p:pic>
      <p:cxnSp>
        <p:nvCxnSpPr>
          <p:cNvPr id="14" name="Straight Connector 13">
            <a:extLst>
              <a:ext uri="{FF2B5EF4-FFF2-40B4-BE49-F238E27FC236}">
                <a16:creationId xmlns:a16="http://schemas.microsoft.com/office/drawing/2014/main" id="{BEFF515C-2521-4964-9DAC-2BFB8EC86A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74446"/>
            <a:ext cx="4946904"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내용 개체 틀 3">
            <a:extLst>
              <a:ext uri="{FF2B5EF4-FFF2-40B4-BE49-F238E27FC236}">
                <a16:creationId xmlns:a16="http://schemas.microsoft.com/office/drawing/2014/main" id="{49CAF30B-B565-A10F-4917-1697865007B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86984" y="914401"/>
            <a:ext cx="5889161" cy="5288267"/>
          </a:xfrm>
        </p:spPr>
        <p:txBody>
          <a:bodyPr>
            <a:normAutofit fontScale="92500"/>
          </a:bodyPr>
          <a:lstStyle/>
          <a:p>
            <a:pPr marL="0" indent="0">
              <a:buNone/>
            </a:pPr>
            <a:r>
              <a:rPr lang="ko-KR" altLang="en-US" sz="1800" dirty="0">
                <a:latin typeface="+mn-ea"/>
              </a:rPr>
              <a:t>🔹 </a:t>
            </a:r>
            <a:r>
              <a:rPr lang="ko-KR" altLang="en-US" sz="1700" b="1" dirty="0"/>
              <a:t>하이브리드 </a:t>
            </a:r>
            <a:r>
              <a:rPr lang="en-US" altLang="ko-KR" sz="1700" b="1" dirty="0"/>
              <a:t>DB </a:t>
            </a:r>
            <a:r>
              <a:rPr lang="ko-KR" altLang="en-US" sz="1700" b="1" dirty="0"/>
              <a:t>구성</a:t>
            </a:r>
            <a:br>
              <a:rPr lang="ko-KR" altLang="en-US" sz="1400" dirty="0"/>
            </a:br>
            <a:r>
              <a:rPr lang="ko-KR" altLang="en-US" sz="1400" dirty="0"/>
              <a:t> </a:t>
            </a:r>
            <a:r>
              <a:rPr lang="en-US" altLang="ko-KR" sz="1400" dirty="0"/>
              <a:t>- </a:t>
            </a:r>
            <a:r>
              <a:rPr lang="ko-KR" altLang="en-US" sz="1400" dirty="0"/>
              <a:t>정형 데이터</a:t>
            </a:r>
            <a:r>
              <a:rPr lang="en-US" altLang="ko-KR" sz="1400" dirty="0"/>
              <a:t>: </a:t>
            </a:r>
            <a:r>
              <a:rPr lang="ko-KR" altLang="en-US" sz="1400" dirty="0"/>
              <a:t>인사정보</a:t>
            </a:r>
            <a:r>
              <a:rPr lang="en-US" altLang="ko-KR" sz="1400" dirty="0"/>
              <a:t>, </a:t>
            </a:r>
            <a:r>
              <a:rPr lang="ko-KR" altLang="en-US" sz="1400" dirty="0"/>
              <a:t>실적 → 관계형 </a:t>
            </a:r>
            <a:r>
              <a:rPr lang="en-US" altLang="ko-KR" sz="1400" dirty="0"/>
              <a:t>DB (PostgreSQL/SQLite)</a:t>
            </a:r>
            <a:br>
              <a:rPr lang="en-US" altLang="ko-KR" sz="1400" dirty="0"/>
            </a:br>
            <a:r>
              <a:rPr lang="en-US" altLang="ko-KR" sz="1400" dirty="0"/>
              <a:t> - </a:t>
            </a:r>
            <a:r>
              <a:rPr lang="ko-KR" altLang="en-US" sz="1400" dirty="0"/>
              <a:t>비정형 문서</a:t>
            </a:r>
            <a:r>
              <a:rPr lang="en-US" altLang="ko-KR" sz="1400" dirty="0"/>
              <a:t>: SOP, </a:t>
            </a:r>
            <a:r>
              <a:rPr lang="ko-KR" altLang="en-US" sz="1400" dirty="0"/>
              <a:t>제품설명서 → 벡터 </a:t>
            </a:r>
            <a:r>
              <a:rPr lang="en-US" altLang="ko-KR" sz="1400" dirty="0"/>
              <a:t>DB (</a:t>
            </a:r>
            <a:r>
              <a:rPr lang="en-US" altLang="ko-KR" sz="1400" dirty="0" err="1"/>
              <a:t>Faiss</a:t>
            </a:r>
            <a:r>
              <a:rPr lang="en-US" altLang="ko-KR" sz="1400" dirty="0"/>
              <a:t>/Milvus) + RAG </a:t>
            </a:r>
            <a:br>
              <a:rPr lang="en-US" altLang="ko-KR" sz="1400" dirty="0"/>
            </a:br>
            <a:r>
              <a:rPr lang="en-US" altLang="ko-KR" sz="1400" dirty="0"/>
              <a:t>     → </a:t>
            </a:r>
            <a:r>
              <a:rPr lang="ko-KR" altLang="en-US" sz="1400" dirty="0"/>
              <a:t>자연어 질의에 대해 정형</a:t>
            </a:r>
            <a:r>
              <a:rPr lang="en-US" altLang="ko-KR" sz="1400" dirty="0"/>
              <a:t>+</a:t>
            </a:r>
            <a:r>
              <a:rPr lang="ko-KR" altLang="en-US" sz="1400" dirty="0"/>
              <a:t>비정형 통합 응답 지원</a:t>
            </a:r>
          </a:p>
          <a:p>
            <a:pPr marL="0" indent="0">
              <a:spcBef>
                <a:spcPts val="2500"/>
              </a:spcBef>
              <a:buNone/>
            </a:pPr>
            <a:r>
              <a:rPr lang="ko-KR" altLang="en-US" sz="1800" dirty="0">
                <a:latin typeface="+mn-ea"/>
              </a:rPr>
              <a:t>🔹 </a:t>
            </a:r>
            <a:r>
              <a:rPr lang="en-US" altLang="ko-KR" sz="1700" b="1" dirty="0"/>
              <a:t>Lang Graph 0.5</a:t>
            </a:r>
          </a:p>
          <a:p>
            <a:pPr>
              <a:buFontTx/>
              <a:buChar char="-"/>
            </a:pPr>
            <a:r>
              <a:rPr lang="ko-KR" altLang="en-US" sz="1400" dirty="0"/>
              <a:t>기능별 흐름 구성</a:t>
            </a:r>
            <a:r>
              <a:rPr lang="en-US" altLang="ko-KR" sz="1400" dirty="0"/>
              <a:t>: </a:t>
            </a:r>
            <a:r>
              <a:rPr lang="ko-KR" altLang="en-US" sz="1400" dirty="0"/>
              <a:t>문서 검색</a:t>
            </a:r>
            <a:r>
              <a:rPr lang="en-US" altLang="ko-KR" sz="1400" dirty="0"/>
              <a:t>, text2SQL, </a:t>
            </a:r>
            <a:r>
              <a:rPr lang="ko-KR" altLang="en-US" sz="1400" dirty="0"/>
              <a:t>보고서 생성 등 각 기능을 </a:t>
            </a:r>
            <a:r>
              <a:rPr lang="en-US" altLang="ko-KR" sz="1400" dirty="0" err="1"/>
              <a:t>LangGraph</a:t>
            </a:r>
            <a:r>
              <a:rPr lang="en-US" altLang="ko-KR" sz="1400" dirty="0"/>
              <a:t> Node</a:t>
            </a:r>
            <a:r>
              <a:rPr lang="ko-KR" altLang="en-US" sz="1400" dirty="0"/>
              <a:t>로 분리</a:t>
            </a:r>
            <a:endParaRPr lang="en-US" altLang="ko-KR" sz="1400" dirty="0"/>
          </a:p>
          <a:p>
            <a:pPr>
              <a:buFontTx/>
              <a:buChar char="-"/>
            </a:pPr>
            <a:r>
              <a:rPr lang="en-US" altLang="ko-KR" sz="1400" dirty="0"/>
              <a:t>- H2H(Human-in-the-Loop) </a:t>
            </a:r>
            <a:r>
              <a:rPr lang="ko-KR" altLang="en-US" sz="1400" dirty="0"/>
              <a:t>활용 가능 → 직관적인 대화 흐름 </a:t>
            </a:r>
            <a:r>
              <a:rPr lang="en-US" altLang="ko-KR" sz="1400" dirty="0"/>
              <a:t>+ </a:t>
            </a:r>
            <a:r>
              <a:rPr lang="ko-KR" altLang="en-US" sz="1400" dirty="0"/>
              <a:t>유지보수 용이</a:t>
            </a:r>
          </a:p>
          <a:p>
            <a:pPr marL="0" indent="0">
              <a:spcBef>
                <a:spcPts val="2500"/>
              </a:spcBef>
              <a:buNone/>
            </a:pPr>
            <a:r>
              <a:rPr lang="ko-KR" altLang="en-US" sz="1800" dirty="0">
                <a:latin typeface="+mn-ea"/>
              </a:rPr>
              <a:t>🔹 </a:t>
            </a:r>
            <a:r>
              <a:rPr lang="ko-KR" altLang="en-US" sz="1700" b="1" dirty="0" err="1">
                <a:latin typeface="+mn-ea"/>
              </a:rPr>
              <a:t>마이크로서비스</a:t>
            </a:r>
            <a:endParaRPr lang="en-US" altLang="ko-KR" sz="1700" b="1" dirty="0">
              <a:latin typeface="+mn-ea"/>
            </a:endParaRPr>
          </a:p>
          <a:p>
            <a:pPr marL="0" indent="0">
              <a:buNone/>
            </a:pPr>
            <a:r>
              <a:rPr lang="en-US" altLang="ko-KR" sz="1400" dirty="0"/>
              <a:t>- Django: </a:t>
            </a:r>
            <a:r>
              <a:rPr lang="ko-KR" altLang="en-US" sz="1400" dirty="0"/>
              <a:t>메인 플랫폼 </a:t>
            </a:r>
            <a:r>
              <a:rPr lang="en-US" altLang="ko-KR" sz="1400" dirty="0"/>
              <a:t>(</a:t>
            </a:r>
            <a:r>
              <a:rPr lang="ko-KR" altLang="en-US" sz="1400" dirty="0"/>
              <a:t>관리자</a:t>
            </a:r>
            <a:r>
              <a:rPr lang="en-US" altLang="ko-KR" sz="1400" dirty="0"/>
              <a:t>, </a:t>
            </a:r>
            <a:r>
              <a:rPr lang="ko-KR" altLang="en-US" sz="1400" dirty="0"/>
              <a:t>인증</a:t>
            </a:r>
            <a:r>
              <a:rPr lang="en-US" altLang="ko-KR" sz="1400" dirty="0"/>
              <a:t>, </a:t>
            </a:r>
            <a:r>
              <a:rPr lang="ko-KR" altLang="en-US" sz="1400" dirty="0"/>
              <a:t>사용자 관리</a:t>
            </a:r>
            <a:r>
              <a:rPr lang="en-US" altLang="ko-KR" sz="1400" dirty="0"/>
              <a:t>, DB </a:t>
            </a:r>
            <a:r>
              <a:rPr lang="ko-KR" altLang="en-US" sz="1400" dirty="0"/>
              <a:t>모델 중심</a:t>
            </a:r>
            <a:r>
              <a:rPr lang="en-US" altLang="ko-KR" sz="1400" dirty="0"/>
              <a:t>)</a:t>
            </a:r>
            <a:br>
              <a:rPr lang="en-US" altLang="ko-KR" sz="1400" dirty="0"/>
            </a:br>
            <a:r>
              <a:rPr lang="en-US" altLang="ko-KR" sz="1400" dirty="0"/>
              <a:t>- </a:t>
            </a:r>
            <a:r>
              <a:rPr lang="en-US" altLang="ko-KR" sz="1400" dirty="0" err="1"/>
              <a:t>FastAPI</a:t>
            </a:r>
            <a:r>
              <a:rPr lang="en-US" altLang="ko-KR" sz="1400" dirty="0"/>
              <a:t>: </a:t>
            </a:r>
            <a:r>
              <a:rPr lang="ko-KR" altLang="en-US" sz="1400" dirty="0"/>
              <a:t>고성능 </a:t>
            </a:r>
            <a:r>
              <a:rPr lang="en-US" altLang="ko-KR" sz="1400" dirty="0"/>
              <a:t>AI </a:t>
            </a:r>
            <a:r>
              <a:rPr lang="ko-KR" altLang="en-US" sz="1400" dirty="0"/>
              <a:t>처리 전용 서비스 </a:t>
            </a:r>
            <a:r>
              <a:rPr lang="en-US" altLang="ko-KR" sz="1400" dirty="0"/>
              <a:t>(</a:t>
            </a:r>
            <a:r>
              <a:rPr lang="ko-KR" altLang="en-US" sz="1400" dirty="0"/>
              <a:t>예</a:t>
            </a:r>
            <a:r>
              <a:rPr lang="en-US" altLang="ko-KR" sz="1400" dirty="0"/>
              <a:t>: </a:t>
            </a:r>
            <a:r>
              <a:rPr lang="ko-KR" altLang="en-US" sz="1400" dirty="0"/>
              <a:t>문서 분석</a:t>
            </a:r>
            <a:r>
              <a:rPr lang="en-US" altLang="ko-KR" sz="1400" dirty="0"/>
              <a:t>, </a:t>
            </a:r>
            <a:r>
              <a:rPr lang="ko-KR" altLang="en-US" sz="1400" dirty="0"/>
              <a:t>텍스트 요약</a:t>
            </a:r>
            <a:r>
              <a:rPr lang="en-US" altLang="ko-KR" sz="1400" dirty="0"/>
              <a:t>, </a:t>
            </a:r>
            <a:r>
              <a:rPr lang="ko-KR" altLang="en-US" sz="1400" dirty="0"/>
              <a:t>검색 등</a:t>
            </a:r>
            <a:r>
              <a:rPr lang="en-US" altLang="ko-KR" sz="1400" dirty="0"/>
              <a:t>)</a:t>
            </a:r>
          </a:p>
          <a:p>
            <a:pPr marL="0" indent="0">
              <a:buNone/>
            </a:pPr>
            <a:r>
              <a:rPr lang="ko-KR" altLang="en-US" sz="1800" dirty="0">
                <a:latin typeface="+mn-ea"/>
              </a:rPr>
              <a:t>🔹 </a:t>
            </a:r>
            <a:r>
              <a:rPr lang="en-US" altLang="ko-KR" sz="1700" b="1" dirty="0"/>
              <a:t>React</a:t>
            </a:r>
            <a:br>
              <a:rPr lang="en-US" altLang="ko-KR" sz="1400" b="1" dirty="0"/>
            </a:br>
            <a:r>
              <a:rPr lang="en-US" altLang="ko-KR" sz="1400" b="1" dirty="0"/>
              <a:t> - </a:t>
            </a:r>
            <a:r>
              <a:rPr lang="ko-KR" altLang="en-US" sz="1400" dirty="0" err="1"/>
              <a:t>챗봇</a:t>
            </a:r>
            <a:r>
              <a:rPr lang="ko-KR" altLang="en-US" sz="1400" dirty="0"/>
              <a:t> </a:t>
            </a:r>
            <a:r>
              <a:rPr lang="en-US" altLang="ko-KR" sz="1400" dirty="0"/>
              <a:t>UI, </a:t>
            </a:r>
            <a:r>
              <a:rPr lang="ko-KR" altLang="en-US" sz="1400" dirty="0"/>
              <a:t>실적 조회</a:t>
            </a:r>
            <a:r>
              <a:rPr lang="en-US" altLang="ko-KR" sz="1400" dirty="0"/>
              <a:t>, </a:t>
            </a:r>
            <a:r>
              <a:rPr lang="ko-KR" altLang="en-US" sz="1400" dirty="0"/>
              <a:t>문서 보기 등 인터랙션 제공</a:t>
            </a:r>
          </a:p>
          <a:p>
            <a:pPr marL="0" indent="0">
              <a:buNone/>
            </a:pPr>
            <a:r>
              <a:rPr lang="en-US" altLang="ko-KR" sz="1400" dirty="0"/>
              <a:t> - Django </a:t>
            </a:r>
            <a:r>
              <a:rPr lang="ko-KR" altLang="en-US" sz="1400" dirty="0"/>
              <a:t>및 </a:t>
            </a:r>
            <a:r>
              <a:rPr lang="en-US" altLang="ko-KR" sz="1400" dirty="0" err="1"/>
              <a:t>FastAPI</a:t>
            </a:r>
            <a:r>
              <a:rPr lang="ko-KR" altLang="en-US" sz="1400" dirty="0"/>
              <a:t>와 비동기 </a:t>
            </a:r>
            <a:r>
              <a:rPr lang="en-US" altLang="ko-KR" sz="1400" dirty="0"/>
              <a:t>API </a:t>
            </a:r>
            <a:r>
              <a:rPr lang="ko-KR" altLang="en-US" sz="1400" dirty="0"/>
              <a:t>연동</a:t>
            </a:r>
            <a:endParaRPr lang="en-US" altLang="ko-KR" sz="1400" b="1" dirty="0"/>
          </a:p>
        </p:txBody>
      </p:sp>
    </p:spTree>
    <p:extLst>
      <p:ext uri="{BB962C8B-B14F-4D97-AF65-F5344CB8AC3E}">
        <p14:creationId xmlns:p14="http://schemas.microsoft.com/office/powerpoint/2010/main" val="32634881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F50C2A-61A8-E55C-BF5A-F597FE02B4A1}"/>
            </a:ext>
          </a:extLst>
        </p:cNvPr>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E74EBA3C-10E3-D8D5-EA34-5ECA022CA4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D967E4C3-9C4C-947B-1ABC-78198AAC4C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제목 1">
            <a:extLst>
              <a:ext uri="{FF2B5EF4-FFF2-40B4-BE49-F238E27FC236}">
                <a16:creationId xmlns:a16="http://schemas.microsoft.com/office/drawing/2014/main" id="{04DD2244-9246-D418-9B64-A96EB7DBE82D}"/>
              </a:ext>
            </a:extLst>
          </p:cNvPr>
          <p:cNvSpPr>
            <a:spLocks noGrp="1"/>
          </p:cNvSpPr>
          <p:nvPr>
            <p:ph type="title"/>
          </p:nvPr>
        </p:nvSpPr>
        <p:spPr>
          <a:xfrm>
            <a:off x="569551" y="920498"/>
            <a:ext cx="4306824" cy="1477817"/>
          </a:xfrm>
        </p:spPr>
        <p:txBody>
          <a:bodyPr vert="horz" lIns="91440" tIns="45720" rIns="91440" bIns="45720" rtlCol="0" anchor="t">
            <a:normAutofit/>
          </a:bodyPr>
          <a:lstStyle/>
          <a:p>
            <a:pPr>
              <a:lnSpc>
                <a:spcPct val="90000"/>
              </a:lnSpc>
            </a:pPr>
            <a:r>
              <a:rPr lang="ko-KR" altLang="ko-KR" sz="3200" dirty="0"/>
              <a:t>WBS, 요구사항 명세서, 기획서 초안, 화면 설계서 작성 완료</a:t>
            </a:r>
            <a:endParaRPr lang="ko-KR" altLang="en-US" sz="3100" dirty="0"/>
          </a:p>
        </p:txBody>
      </p:sp>
      <p:cxnSp>
        <p:nvCxnSpPr>
          <p:cNvPr id="14" name="Straight Connector 13">
            <a:extLst>
              <a:ext uri="{FF2B5EF4-FFF2-40B4-BE49-F238E27FC236}">
                <a16:creationId xmlns:a16="http://schemas.microsoft.com/office/drawing/2014/main" id="{878E69F2-5BDC-746F-29B9-7A0FD906538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74446"/>
            <a:ext cx="4946904"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내용 개체 틀 3">
            <a:extLst>
              <a:ext uri="{FF2B5EF4-FFF2-40B4-BE49-F238E27FC236}">
                <a16:creationId xmlns:a16="http://schemas.microsoft.com/office/drawing/2014/main" id="{7E5FB28F-AD42-F6BA-FDE9-74C0F1F10B60}"/>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33288" y="920498"/>
            <a:ext cx="5889161" cy="5288267"/>
          </a:xfrm>
        </p:spPr>
        <p:txBody>
          <a:bodyPr>
            <a:normAutofit lnSpcReduction="10000"/>
          </a:bodyPr>
          <a:lstStyle/>
          <a:p>
            <a:pPr marL="0" lvl="0" indent="0">
              <a:spcBef>
                <a:spcPts val="0"/>
              </a:spcBef>
              <a:buClr>
                <a:schemeClr val="dk1"/>
              </a:buClr>
              <a:buSzPts val="1218"/>
              <a:buNone/>
            </a:pPr>
            <a:r>
              <a:rPr lang="en-US" altLang="ko-KR" sz="1800" b="1" dirty="0"/>
              <a:t>WBS </a:t>
            </a:r>
            <a:r>
              <a:rPr lang="ko-KR" altLang="en-US" sz="1800" b="1" dirty="0"/>
              <a:t>주요 내용</a:t>
            </a:r>
          </a:p>
          <a:p>
            <a:pPr marL="0" lvl="0" indent="0">
              <a:spcBef>
                <a:spcPts val="0"/>
              </a:spcBef>
              <a:buClr>
                <a:schemeClr val="dk1"/>
              </a:buClr>
              <a:buSzPts val="1218"/>
              <a:buNone/>
            </a:pPr>
            <a:endParaRPr lang="ko-KR" altLang="en-US" sz="1400" b="1" dirty="0"/>
          </a:p>
          <a:p>
            <a:pPr marL="0" lvl="0" indent="0">
              <a:spcBef>
                <a:spcPts val="0"/>
              </a:spcBef>
              <a:buClr>
                <a:schemeClr val="dk1"/>
              </a:buClr>
              <a:buSzPts val="1218"/>
              <a:buNone/>
            </a:pPr>
            <a:r>
              <a:rPr lang="en-US" altLang="ko-KR" sz="1400" b="1" dirty="0"/>
              <a:t>1. </a:t>
            </a:r>
            <a:r>
              <a:rPr lang="ko-KR" altLang="en-US" sz="1400" b="1" dirty="0"/>
              <a:t>프로젝트 계획 및 수립 </a:t>
            </a:r>
            <a:r>
              <a:rPr lang="en-US" altLang="ko-KR" sz="1400" b="1" dirty="0"/>
              <a:t>(1</a:t>
            </a:r>
            <a:r>
              <a:rPr lang="ko-KR" altLang="en-US" sz="1400" b="1" dirty="0"/>
              <a:t>주차</a:t>
            </a:r>
            <a:r>
              <a:rPr lang="en-US" altLang="ko-KR" sz="1400" b="1" dirty="0"/>
              <a:t>)</a:t>
            </a:r>
            <a:endParaRPr lang="ko-KR" altLang="en-US" sz="1400" b="1" dirty="0"/>
          </a:p>
          <a:p>
            <a:pPr marL="0" lvl="0" indent="0">
              <a:spcBef>
                <a:spcPts val="0"/>
              </a:spcBef>
              <a:buClr>
                <a:schemeClr val="dk1"/>
              </a:buClr>
              <a:buSzPts val="1218"/>
              <a:buNone/>
            </a:pPr>
            <a:r>
              <a:rPr lang="en-US" altLang="ko-KR" sz="1400" b="1" dirty="0"/>
              <a:t>2. </a:t>
            </a:r>
            <a:r>
              <a:rPr lang="ko-KR" altLang="en-US" sz="1400" b="1" dirty="0"/>
              <a:t>개발환경 및 데이터 준비 </a:t>
            </a:r>
            <a:r>
              <a:rPr lang="en-US" altLang="ko-KR" sz="1400" b="1" dirty="0"/>
              <a:t>(2</a:t>
            </a:r>
            <a:r>
              <a:rPr lang="ko-KR" altLang="en-US" sz="1400" b="1" dirty="0"/>
              <a:t>주차</a:t>
            </a:r>
            <a:r>
              <a:rPr lang="en-US" altLang="ko-KR" sz="1400" b="1" dirty="0"/>
              <a:t>)</a:t>
            </a:r>
            <a:endParaRPr lang="ko-KR" altLang="en-US" sz="1400" b="1" dirty="0"/>
          </a:p>
          <a:p>
            <a:pPr marL="0" lvl="0" indent="0">
              <a:spcBef>
                <a:spcPts val="0"/>
              </a:spcBef>
              <a:buClr>
                <a:schemeClr val="dk1"/>
              </a:buClr>
              <a:buSzPts val="1218"/>
              <a:buNone/>
            </a:pPr>
            <a:r>
              <a:rPr lang="en-US" altLang="ko-KR" sz="1400" b="1" dirty="0"/>
              <a:t>3. </a:t>
            </a:r>
            <a:r>
              <a:rPr lang="ko-KR" altLang="en-US" sz="1400" b="1" dirty="0"/>
              <a:t>시스템 구현 </a:t>
            </a:r>
            <a:r>
              <a:rPr lang="en-US" altLang="ko-KR" sz="1400" b="1" dirty="0"/>
              <a:t>(3~5</a:t>
            </a:r>
            <a:r>
              <a:rPr lang="ko-KR" altLang="en-US" sz="1400" b="1" dirty="0"/>
              <a:t>주차</a:t>
            </a:r>
            <a:r>
              <a:rPr lang="en-US" altLang="ko-KR" sz="1400" b="1" dirty="0"/>
              <a:t>)</a:t>
            </a:r>
            <a:endParaRPr lang="ko-KR" altLang="en-US" sz="1400" b="1" dirty="0"/>
          </a:p>
          <a:p>
            <a:pPr marL="0" lvl="0" indent="0">
              <a:spcBef>
                <a:spcPts val="0"/>
              </a:spcBef>
              <a:buClr>
                <a:schemeClr val="dk1"/>
              </a:buClr>
              <a:buSzPts val="1218"/>
              <a:buNone/>
            </a:pPr>
            <a:r>
              <a:rPr lang="en-US" altLang="ko-KR" sz="1400" b="1" dirty="0"/>
              <a:t>4. </a:t>
            </a:r>
            <a:r>
              <a:rPr lang="ko-KR" altLang="en-US" sz="1400" b="1" dirty="0"/>
              <a:t>테스트 </a:t>
            </a:r>
            <a:r>
              <a:rPr lang="en-US" altLang="ko-KR" sz="1400" b="1" dirty="0"/>
              <a:t>/ </a:t>
            </a:r>
            <a:r>
              <a:rPr lang="ko-KR" altLang="en-US" sz="1400" b="1" dirty="0"/>
              <a:t>검증 </a:t>
            </a:r>
            <a:r>
              <a:rPr lang="en-US" altLang="ko-KR" sz="1400" b="1" dirty="0"/>
              <a:t>(6~7</a:t>
            </a:r>
            <a:r>
              <a:rPr lang="ko-KR" altLang="en-US" sz="1400" b="1" dirty="0"/>
              <a:t>주차</a:t>
            </a:r>
            <a:r>
              <a:rPr lang="en-US" altLang="ko-KR" sz="1400" b="1" dirty="0"/>
              <a:t>)</a:t>
            </a:r>
            <a:endParaRPr lang="ko-KR" altLang="en-US" sz="1400" b="1" dirty="0"/>
          </a:p>
          <a:p>
            <a:pPr marL="0" lvl="0" indent="0">
              <a:spcBef>
                <a:spcPts val="0"/>
              </a:spcBef>
              <a:buClr>
                <a:schemeClr val="dk1"/>
              </a:buClr>
              <a:buSzPts val="1218"/>
              <a:buNone/>
            </a:pPr>
            <a:r>
              <a:rPr lang="en-US" altLang="ko-KR" sz="1400" b="1" dirty="0"/>
              <a:t>5. </a:t>
            </a:r>
            <a:r>
              <a:rPr lang="ko-KR" altLang="en-US" sz="1400" b="1" dirty="0"/>
              <a:t>배포 </a:t>
            </a:r>
            <a:r>
              <a:rPr lang="en-US" altLang="ko-KR" sz="1400" b="1" dirty="0"/>
              <a:t>/ </a:t>
            </a:r>
            <a:r>
              <a:rPr lang="ko-KR" altLang="en-US" sz="1400" b="1" dirty="0"/>
              <a:t>최종 마무리 </a:t>
            </a:r>
            <a:r>
              <a:rPr lang="en-US" altLang="ko-KR" sz="1400" b="1" dirty="0"/>
              <a:t>(8</a:t>
            </a:r>
            <a:r>
              <a:rPr lang="ko-KR" altLang="en-US" sz="1400" b="1" dirty="0"/>
              <a:t>주차</a:t>
            </a:r>
            <a:r>
              <a:rPr lang="en-US" altLang="ko-KR" sz="1400" b="1" dirty="0"/>
              <a:t>)</a:t>
            </a:r>
            <a:endParaRPr lang="ko-KR" altLang="en-US" sz="1400" b="1" dirty="0"/>
          </a:p>
          <a:p>
            <a:pPr marL="0" lvl="0" indent="0">
              <a:spcBef>
                <a:spcPts val="0"/>
              </a:spcBef>
              <a:buClr>
                <a:schemeClr val="dk1"/>
              </a:buClr>
              <a:buSzPts val="1218"/>
              <a:buNone/>
            </a:pPr>
            <a:endParaRPr lang="ko-KR" altLang="en-US" sz="1400" b="1" dirty="0"/>
          </a:p>
          <a:p>
            <a:pPr marL="0" lvl="0" indent="0">
              <a:spcBef>
                <a:spcPts val="2500"/>
              </a:spcBef>
              <a:buClr>
                <a:schemeClr val="dk1"/>
              </a:buClr>
              <a:buSzPts val="1218"/>
              <a:buNone/>
            </a:pPr>
            <a:r>
              <a:rPr lang="ko-KR" altLang="en-US" sz="1800" b="1" dirty="0"/>
              <a:t>요구사항 명세서 주요 내용</a:t>
            </a:r>
          </a:p>
          <a:p>
            <a:pPr marL="0" lvl="0" indent="0">
              <a:spcBef>
                <a:spcPts val="2500"/>
              </a:spcBef>
              <a:buClr>
                <a:schemeClr val="dk1"/>
              </a:buClr>
              <a:buSzPts val="1218"/>
              <a:buNone/>
            </a:pPr>
            <a:r>
              <a:rPr lang="en-US" altLang="ko-KR" sz="1400" b="1" dirty="0"/>
              <a:t>1. </a:t>
            </a:r>
            <a:r>
              <a:rPr lang="ko-KR" altLang="en-US" sz="1400" b="1" dirty="0"/>
              <a:t>이번 주 실적 </a:t>
            </a:r>
            <a:r>
              <a:rPr lang="ko-KR" altLang="en-US" sz="1400" b="1" dirty="0" err="1"/>
              <a:t>달성률</a:t>
            </a:r>
            <a:r>
              <a:rPr lang="ko-KR" altLang="en-US" sz="1400" b="1" dirty="0"/>
              <a:t> 카드 </a:t>
            </a:r>
            <a:r>
              <a:rPr lang="en-US" altLang="ko-KR" sz="1400" b="1" dirty="0"/>
              <a:t>: </a:t>
            </a:r>
            <a:r>
              <a:rPr lang="ko-KR" altLang="en-US" sz="1400" b="1" dirty="0"/>
              <a:t>실적 </a:t>
            </a:r>
            <a:r>
              <a:rPr lang="ko-KR" altLang="en-US" sz="1400" b="1" dirty="0" err="1"/>
              <a:t>달성률</a:t>
            </a:r>
            <a:r>
              <a:rPr lang="ko-KR" altLang="en-US" sz="1400" b="1" dirty="0"/>
              <a:t> 출력</a:t>
            </a:r>
            <a:r>
              <a:rPr lang="en-US" altLang="ko-KR" sz="1400" b="1" dirty="0"/>
              <a:t>, </a:t>
            </a:r>
            <a:r>
              <a:rPr lang="ko-KR" altLang="en-US" sz="1400" b="1" dirty="0"/>
              <a:t>클릭 시 실적 페이지 이동 후 대상 사원의 실적 조회</a:t>
            </a:r>
            <a:br>
              <a:rPr lang="ko-KR" altLang="en-US" sz="1400" b="1" dirty="0"/>
            </a:br>
            <a:r>
              <a:rPr lang="en-US" altLang="ko-KR" sz="1400" b="1" dirty="0"/>
              <a:t>2. </a:t>
            </a:r>
            <a:r>
              <a:rPr lang="ko-KR" altLang="en-US" sz="1400" b="1" dirty="0"/>
              <a:t>외부 데이터 수집 </a:t>
            </a:r>
            <a:r>
              <a:rPr lang="en-US" altLang="ko-KR" sz="1400" b="1" dirty="0"/>
              <a:t>: </a:t>
            </a:r>
            <a:r>
              <a:rPr lang="ko-KR" altLang="en-US" sz="1400" b="1" dirty="0"/>
              <a:t>지정된 외부 데이터 소스로부터 </a:t>
            </a:r>
            <a:r>
              <a:rPr lang="en-US" altLang="ko-KR" sz="1400" b="1" dirty="0"/>
              <a:t>Airflow</a:t>
            </a:r>
            <a:r>
              <a:rPr lang="ko-KR" altLang="en-US" sz="1400" b="1" dirty="0"/>
              <a:t>를 이용해 주기적으로 데이터를 자동 수집하고 </a:t>
            </a:r>
            <a:r>
              <a:rPr lang="en-US" altLang="ko-KR" sz="1400" b="1" dirty="0"/>
              <a:t>DB</a:t>
            </a:r>
            <a:r>
              <a:rPr lang="ko-KR" altLang="en-US" sz="1400" b="1" dirty="0"/>
              <a:t>에 통합</a:t>
            </a:r>
            <a:br>
              <a:rPr lang="ko-KR" altLang="en-US" sz="1400" b="1" dirty="0"/>
            </a:br>
            <a:r>
              <a:rPr lang="en-US" altLang="ko-KR" sz="1400" b="1" dirty="0"/>
              <a:t>3. </a:t>
            </a:r>
            <a:r>
              <a:rPr lang="ko-KR" altLang="en-US" sz="1400" b="1" dirty="0"/>
              <a:t>직원 실적 기반 보고서 작성 </a:t>
            </a:r>
            <a:r>
              <a:rPr lang="en-US" altLang="ko-KR" sz="1400" b="1" dirty="0"/>
              <a:t>: </a:t>
            </a:r>
            <a:r>
              <a:rPr lang="ko-KR" altLang="en-US" sz="1400" b="1" dirty="0"/>
              <a:t>자연어 리포트</a:t>
            </a:r>
            <a:r>
              <a:rPr lang="en-US" altLang="ko-KR" sz="1400" b="1" dirty="0"/>
              <a:t>. </a:t>
            </a:r>
            <a:r>
              <a:rPr lang="ko-KR" altLang="en-US" sz="1400" b="1" dirty="0"/>
              <a:t>관리자용</a:t>
            </a:r>
            <a:r>
              <a:rPr lang="en-US" altLang="ko-KR" sz="1400" b="1" dirty="0"/>
              <a:t>/</a:t>
            </a:r>
            <a:r>
              <a:rPr lang="ko-KR" altLang="en-US" sz="1400" b="1" dirty="0"/>
              <a:t>개인용 영업 방향성 제안</a:t>
            </a:r>
            <a:r>
              <a:rPr lang="en-US" altLang="ko-KR" sz="1400" b="1" dirty="0"/>
              <a:t>, </a:t>
            </a:r>
            <a:r>
              <a:rPr lang="ko-KR" altLang="en-US" sz="1400" b="1" dirty="0"/>
              <a:t>특이점 분석</a:t>
            </a:r>
            <a:br>
              <a:rPr lang="ko-KR" altLang="en-US" sz="1400" b="1" dirty="0"/>
            </a:br>
            <a:r>
              <a:rPr lang="en-US" altLang="ko-KR" sz="1400" b="1" dirty="0"/>
              <a:t>4. </a:t>
            </a:r>
            <a:r>
              <a:rPr lang="ko-KR" altLang="en-US" sz="1400" b="1" dirty="0"/>
              <a:t>음성 분석 피드백 </a:t>
            </a:r>
            <a:r>
              <a:rPr lang="en-US" altLang="ko-KR" sz="1400" b="1" dirty="0"/>
              <a:t>: </a:t>
            </a:r>
            <a:r>
              <a:rPr lang="ko-KR" altLang="en-US" sz="1400" b="1" dirty="0"/>
              <a:t>미팅 음성 내용을 분석하여 피드백 </a:t>
            </a:r>
            <a:r>
              <a:rPr lang="ko-KR" altLang="en-US" sz="1400" b="1" dirty="0" err="1"/>
              <a:t>제공공</a:t>
            </a:r>
            <a:br>
              <a:rPr lang="ko-KR" altLang="en-US" sz="1400" b="1" dirty="0"/>
            </a:br>
            <a:r>
              <a:rPr lang="en-US" altLang="ko-KR" sz="1400" b="1" dirty="0"/>
              <a:t>5. </a:t>
            </a:r>
            <a:r>
              <a:rPr lang="ko-KR" altLang="en-US" sz="1400" b="1" dirty="0"/>
              <a:t>법적 리스크 분석 </a:t>
            </a:r>
            <a:r>
              <a:rPr lang="en-US" altLang="ko-KR" sz="1400" b="1" dirty="0"/>
              <a:t>: </a:t>
            </a:r>
            <a:r>
              <a:rPr lang="ko-KR" altLang="en-US" sz="1400" b="1" dirty="0" err="1"/>
              <a:t>의약법</a:t>
            </a:r>
            <a:r>
              <a:rPr lang="ko-KR" altLang="en-US" sz="1400" b="1" dirty="0"/>
              <a:t> 위반 가능성 있는 키워드</a:t>
            </a:r>
            <a:r>
              <a:rPr lang="en-US" altLang="ko-KR" sz="1400" b="1" dirty="0"/>
              <a:t>·</a:t>
            </a:r>
            <a:r>
              <a:rPr lang="ko-KR" altLang="en-US" sz="1400" b="1" dirty="0"/>
              <a:t>문맥 탐지</a:t>
            </a:r>
            <a:r>
              <a:rPr lang="en-US" altLang="ko-KR" sz="1400" b="1" dirty="0"/>
              <a:t>, </a:t>
            </a:r>
            <a:r>
              <a:rPr lang="ko-KR" altLang="en-US" sz="1400" b="1" dirty="0"/>
              <a:t>리스크 레벨 표시</a:t>
            </a:r>
          </a:p>
          <a:p>
            <a:pPr marL="0" lvl="1" indent="0">
              <a:buClr>
                <a:schemeClr val="dk1"/>
              </a:buClr>
              <a:buSzPts val="1218"/>
              <a:buNone/>
            </a:pPr>
            <a:endParaRPr lang="ko-KR" altLang="en-US" sz="1400" dirty="0"/>
          </a:p>
          <a:p>
            <a:pPr marL="0" lvl="1" indent="0">
              <a:buClr>
                <a:schemeClr val="dk1"/>
              </a:buClr>
              <a:buSzPts val="1218"/>
              <a:buNone/>
            </a:pPr>
            <a:endParaRPr lang="ko-KR" altLang="en-US" sz="1400" dirty="0"/>
          </a:p>
        </p:txBody>
      </p:sp>
    </p:spTree>
    <p:extLst>
      <p:ext uri="{BB962C8B-B14F-4D97-AF65-F5344CB8AC3E}">
        <p14:creationId xmlns:p14="http://schemas.microsoft.com/office/powerpoint/2010/main" val="25602602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그림 5" descr="텍스트, 스크린샷, 번호, 라인이(가) 표시된 사진&#10;&#10;AI 생성 콘텐츠는 정확하지 않을 수 있습니다.">
            <a:extLst>
              <a:ext uri="{FF2B5EF4-FFF2-40B4-BE49-F238E27FC236}">
                <a16:creationId xmlns:a16="http://schemas.microsoft.com/office/drawing/2014/main" id="{C3071478-F5D1-EB5D-BA1E-A472D305F6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22" y="1224166"/>
            <a:ext cx="11263190" cy="5237593"/>
          </a:xfrm>
          <a:prstGeom prst="rect">
            <a:avLst/>
          </a:prstGeom>
        </p:spPr>
      </p:pic>
      <p:sp>
        <p:nvSpPr>
          <p:cNvPr id="7" name="TextBox 6">
            <a:extLst>
              <a:ext uri="{FF2B5EF4-FFF2-40B4-BE49-F238E27FC236}">
                <a16:creationId xmlns:a16="http://schemas.microsoft.com/office/drawing/2014/main" id="{9F4D17DD-F666-4304-BA2F-9D68F6C5D66B}"/>
              </a:ext>
            </a:extLst>
          </p:cNvPr>
          <p:cNvSpPr txBox="1"/>
          <p:nvPr/>
        </p:nvSpPr>
        <p:spPr>
          <a:xfrm>
            <a:off x="680348" y="320530"/>
            <a:ext cx="1270000" cy="584775"/>
          </a:xfrm>
          <a:prstGeom prst="rect">
            <a:avLst/>
          </a:prstGeom>
          <a:noFill/>
        </p:spPr>
        <p:txBody>
          <a:bodyPr wrap="square" rtlCol="0">
            <a:spAutoFit/>
          </a:bodyPr>
          <a:lstStyle/>
          <a:p>
            <a:r>
              <a:rPr lang="en-US" altLang="ko-KR" sz="3200" b="1" dirty="0"/>
              <a:t>WBS</a:t>
            </a:r>
            <a:endParaRPr lang="ko-KR" altLang="en-US" sz="3200" b="1" dirty="0"/>
          </a:p>
        </p:txBody>
      </p:sp>
    </p:spTree>
    <p:extLst>
      <p:ext uri="{BB962C8B-B14F-4D97-AF65-F5344CB8AC3E}">
        <p14:creationId xmlns:p14="http://schemas.microsoft.com/office/powerpoint/2010/main" val="1355732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제목 1">
            <a:extLst>
              <a:ext uri="{FF2B5EF4-FFF2-40B4-BE49-F238E27FC236}">
                <a16:creationId xmlns:a16="http://schemas.microsoft.com/office/drawing/2014/main" id="{2EE55B5F-EF5D-2968-4CED-0805E59FE002}"/>
              </a:ext>
            </a:extLst>
          </p:cNvPr>
          <p:cNvSpPr>
            <a:spLocks noGrp="1"/>
          </p:cNvSpPr>
          <p:nvPr>
            <p:ph type="title"/>
          </p:nvPr>
        </p:nvSpPr>
        <p:spPr>
          <a:xfrm>
            <a:off x="214808" y="597401"/>
            <a:ext cx="2576607" cy="1097280"/>
          </a:xfrm>
        </p:spPr>
        <p:txBody>
          <a:bodyPr vert="horz" lIns="91440" tIns="45720" rIns="91440" bIns="45720" rtlCol="0" anchor="t">
            <a:normAutofit/>
          </a:bodyPr>
          <a:lstStyle/>
          <a:p>
            <a:pPr>
              <a:lnSpc>
                <a:spcPct val="90000"/>
              </a:lnSpc>
            </a:pPr>
            <a:r>
              <a:rPr lang="ko-KR" altLang="en-US" sz="3600" dirty="0"/>
              <a:t>주요기능</a:t>
            </a:r>
            <a:br>
              <a:rPr lang="en-US" altLang="ko-KR" sz="3600" dirty="0"/>
            </a:br>
            <a:endParaRPr lang="ko-KR" altLang="en-US" sz="3600" dirty="0"/>
          </a:p>
        </p:txBody>
      </p:sp>
      <p:pic>
        <p:nvPicPr>
          <p:cNvPr id="5" name="내용 개체 틀 4" descr="두 명의 디자이너가 일하고 있습니다. 사진 촬영에 사용된 모든 사진은 제가 촬영한 것이며 모두 제 포트폴리오에서 좋아할 수 있습니다.">
            <a:extLst>
              <a:ext uri="{FF2B5EF4-FFF2-40B4-BE49-F238E27FC236}">
                <a16:creationId xmlns:a16="http://schemas.microsoft.com/office/drawing/2014/main" id="{9FA9A805-6855-4886-BCAA-CA68C1F6E6C1}"/>
              </a:ext>
            </a:extLst>
          </p:cNvPr>
          <p:cNvPicPr>
            <a:picLocks noGrp="1" noChangeAspect="1"/>
          </p:cNvPicPr>
          <p:nvPr>
            <p:ph sz="half" idx="1"/>
          </p:nvPr>
        </p:nvPicPr>
        <p:blipFill>
          <a:blip r:embed="rId3"/>
          <a:srcRect l="3874" r="14823" b="2"/>
          <a:stretch>
            <a:fillRect/>
          </a:stretch>
        </p:blipFill>
        <p:spPr>
          <a:xfrm>
            <a:off x="5671128" y="914399"/>
            <a:ext cx="6520872" cy="5353521"/>
          </a:xfrm>
          <a:prstGeom prst="rect">
            <a:avLst/>
          </a:prstGeom>
        </p:spPr>
      </p:pic>
      <p:cxnSp>
        <p:nvCxnSpPr>
          <p:cNvPr id="14" name="Straight Connector 13">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672328" y="6267921"/>
            <a:ext cx="6519672" cy="2"/>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7" name="표 6">
            <a:extLst>
              <a:ext uri="{FF2B5EF4-FFF2-40B4-BE49-F238E27FC236}">
                <a16:creationId xmlns:a16="http://schemas.microsoft.com/office/drawing/2014/main" id="{FA0EC5F3-58D4-7186-5CFD-6E272D5CCF79}"/>
              </a:ext>
            </a:extLst>
          </p:cNvPr>
          <p:cNvGraphicFramePr>
            <a:graphicFrameLocks noGrp="1"/>
          </p:cNvGraphicFramePr>
          <p:nvPr>
            <p:extLst>
              <p:ext uri="{D42A27DB-BD31-4B8C-83A1-F6EECF244321}">
                <p14:modId xmlns:p14="http://schemas.microsoft.com/office/powerpoint/2010/main" val="2329173097"/>
              </p:ext>
            </p:extLst>
          </p:nvPr>
        </p:nvGraphicFramePr>
        <p:xfrm>
          <a:off x="214808" y="1694681"/>
          <a:ext cx="5235257" cy="4439668"/>
        </p:xfrm>
        <a:graphic>
          <a:graphicData uri="http://schemas.openxmlformats.org/drawingml/2006/table">
            <a:tbl>
              <a:tblPr/>
              <a:tblGrid>
                <a:gridCol w="1594097">
                  <a:extLst>
                    <a:ext uri="{9D8B030D-6E8A-4147-A177-3AD203B41FA5}">
                      <a16:colId xmlns:a16="http://schemas.microsoft.com/office/drawing/2014/main" val="2600382203"/>
                    </a:ext>
                  </a:extLst>
                </a:gridCol>
                <a:gridCol w="3641160">
                  <a:extLst>
                    <a:ext uri="{9D8B030D-6E8A-4147-A177-3AD203B41FA5}">
                      <a16:colId xmlns:a16="http://schemas.microsoft.com/office/drawing/2014/main" val="2853880938"/>
                    </a:ext>
                  </a:extLst>
                </a:gridCol>
              </a:tblGrid>
              <a:tr h="270913">
                <a:tc>
                  <a:txBody>
                    <a:bodyPr/>
                    <a:lstStyle/>
                    <a:p>
                      <a:pPr algn="ctr" rtl="0" fontAlgn="ctr">
                        <a:buNone/>
                      </a:pPr>
                      <a:r>
                        <a:rPr lang="ko-KR" altLang="en-US" sz="900" b="1" i="0" u="none" strike="noStrike">
                          <a:solidFill>
                            <a:srgbClr val="000000"/>
                          </a:solidFill>
                          <a:effectLst/>
                          <a:latin typeface="Malgun Gothic" panose="020B0503020000020004" pitchFamily="50" charset="-127"/>
                          <a:ea typeface="Malgun Gothic" panose="020B0503020000020004" pitchFamily="50" charset="-127"/>
                        </a:rPr>
                        <a:t>기능</a:t>
                      </a:r>
                      <a:endParaRPr lang="ko-KR" altLang="en-US" sz="1600">
                        <a:effectLst/>
                      </a:endParaRPr>
                    </a:p>
                  </a:txBody>
                  <a:tcPr marL="56137" marR="56137" marT="40827" marB="408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ko-KR" altLang="en-US" sz="900" b="1" i="0" u="none" strike="noStrike">
                          <a:solidFill>
                            <a:srgbClr val="000000"/>
                          </a:solidFill>
                          <a:effectLst/>
                          <a:latin typeface="Malgun Gothic" panose="020B0503020000020004" pitchFamily="50" charset="-127"/>
                          <a:ea typeface="Malgun Gothic" panose="020B0503020000020004" pitchFamily="50" charset="-127"/>
                        </a:rPr>
                        <a:t>기능 설명</a:t>
                      </a:r>
                      <a:endParaRPr lang="ko-KR" altLang="en-US" sz="1600">
                        <a:effectLst/>
                      </a:endParaRPr>
                    </a:p>
                  </a:txBody>
                  <a:tcPr marL="56137" marR="56137" marT="40827" marB="408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2686306"/>
                  </a:ext>
                </a:extLst>
              </a:tr>
              <a:tr h="610547">
                <a:tc>
                  <a:txBody>
                    <a:bodyPr/>
                    <a:lstStyle/>
                    <a:p>
                      <a:pPr rtl="0" fontAlgn="ctr">
                        <a:buNone/>
                      </a:pPr>
                      <a:r>
                        <a:rPr lang="en-US" altLang="ko-KR" sz="900" b="1" i="0" u="none" strike="noStrike">
                          <a:solidFill>
                            <a:srgbClr val="000000"/>
                          </a:solidFill>
                          <a:effectLst/>
                          <a:latin typeface="Malgun Gothic" panose="020B0503020000020004" pitchFamily="50" charset="-127"/>
                          <a:ea typeface="Malgun Gothic" panose="020B0503020000020004" pitchFamily="50" charset="-127"/>
                        </a:rPr>
                        <a:t>1. </a:t>
                      </a:r>
                      <a:r>
                        <a:rPr lang="ko-KR" altLang="en-US" sz="900" b="1" i="0" u="none" strike="noStrike">
                          <a:solidFill>
                            <a:srgbClr val="000000"/>
                          </a:solidFill>
                          <a:effectLst/>
                          <a:latin typeface="Malgun Gothic" panose="020B0503020000020004" pitchFamily="50" charset="-127"/>
                          <a:ea typeface="Malgun Gothic" panose="020B0503020000020004" pitchFamily="50" charset="-127"/>
                        </a:rPr>
                        <a:t>데이터베이스 자동 업데이트 및 검색</a:t>
                      </a:r>
                      <a:endParaRPr lang="ko-KR" altLang="en-US" sz="1600">
                        <a:effectLst/>
                      </a:endParaRPr>
                    </a:p>
                  </a:txBody>
                  <a:tcPr marL="56137" marR="56137" marT="40827" marB="408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ctr">
                        <a:buNone/>
                      </a:pPr>
                      <a:r>
                        <a:rPr lang="ko-KR" altLang="en-US" sz="900" b="0" i="0" u="none" strike="noStrike">
                          <a:solidFill>
                            <a:srgbClr val="000000"/>
                          </a:solidFill>
                          <a:effectLst/>
                          <a:latin typeface="Malgun Gothic" panose="020B0503020000020004" pitchFamily="50" charset="-127"/>
                          <a:ea typeface="Malgun Gothic" panose="020B0503020000020004" pitchFamily="50" charset="-127"/>
                        </a:rPr>
                        <a:t>내부 데이터는 수동 업데이트</a:t>
                      </a:r>
                      <a:r>
                        <a:rPr lang="en-US" altLang="ko-KR" sz="900" b="0" i="0" u="none" strike="noStrike">
                          <a:solidFill>
                            <a:srgbClr val="000000"/>
                          </a:solidFill>
                          <a:effectLst/>
                          <a:latin typeface="Malgun Gothic" panose="020B0503020000020004" pitchFamily="50" charset="-127"/>
                          <a:ea typeface="Malgun Gothic" panose="020B0503020000020004" pitchFamily="50" charset="-127"/>
                        </a:rPr>
                        <a:t>, </a:t>
                      </a:r>
                      <a:r>
                        <a:rPr lang="ko-KR" altLang="en-US" sz="900" b="0" i="0" u="none" strike="noStrike">
                          <a:solidFill>
                            <a:srgbClr val="000000"/>
                          </a:solidFill>
                          <a:effectLst/>
                          <a:latin typeface="Malgun Gothic" panose="020B0503020000020004" pitchFamily="50" charset="-127"/>
                          <a:ea typeface="Malgun Gothic" panose="020B0503020000020004" pitchFamily="50" charset="-127"/>
                        </a:rPr>
                        <a:t>외부 데이터는 </a:t>
                      </a:r>
                      <a:r>
                        <a:rPr lang="en-US" altLang="ko-KR" sz="900" b="0" i="0" u="none" strike="noStrike">
                          <a:solidFill>
                            <a:srgbClr val="000000"/>
                          </a:solidFill>
                          <a:effectLst/>
                          <a:latin typeface="Malgun Gothic" panose="020B0503020000020004" pitchFamily="50" charset="-127"/>
                          <a:ea typeface="Malgun Gothic" panose="020B0503020000020004" pitchFamily="50" charset="-127"/>
                        </a:rPr>
                        <a:t>Airflow</a:t>
                      </a:r>
                      <a:r>
                        <a:rPr lang="ko-KR" altLang="en-US" sz="900" b="0" i="0" u="none" strike="noStrike">
                          <a:solidFill>
                            <a:srgbClr val="000000"/>
                          </a:solidFill>
                          <a:effectLst/>
                          <a:latin typeface="Malgun Gothic" panose="020B0503020000020004" pitchFamily="50" charset="-127"/>
                          <a:ea typeface="Malgun Gothic" panose="020B0503020000020004" pitchFamily="50" charset="-127"/>
                        </a:rPr>
                        <a:t>를 활용해 자동 수집 및 통합 검색 가능</a:t>
                      </a:r>
                      <a:endParaRPr lang="ko-KR" altLang="en-US" sz="1600">
                        <a:effectLst/>
                      </a:endParaRPr>
                    </a:p>
                  </a:txBody>
                  <a:tcPr marL="56137" marR="56137" marT="40827" marB="408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50368035"/>
                  </a:ext>
                </a:extLst>
              </a:tr>
              <a:tr h="610547">
                <a:tc>
                  <a:txBody>
                    <a:bodyPr/>
                    <a:lstStyle/>
                    <a:p>
                      <a:pPr rtl="0" fontAlgn="ctr">
                        <a:buNone/>
                      </a:pPr>
                      <a:r>
                        <a:rPr lang="en-US" altLang="ko-KR" sz="900" b="1" i="0" u="none" strike="noStrike">
                          <a:solidFill>
                            <a:srgbClr val="000000"/>
                          </a:solidFill>
                          <a:effectLst/>
                          <a:latin typeface="Malgun Gothic" panose="020B0503020000020004" pitchFamily="50" charset="-127"/>
                          <a:ea typeface="Malgun Gothic" panose="020B0503020000020004" pitchFamily="50" charset="-127"/>
                        </a:rPr>
                        <a:t>2. </a:t>
                      </a:r>
                      <a:r>
                        <a:rPr lang="ko-KR" altLang="en-US" sz="900" b="1" i="0" u="none" strike="noStrike">
                          <a:solidFill>
                            <a:srgbClr val="000000"/>
                          </a:solidFill>
                          <a:effectLst/>
                          <a:latin typeface="Malgun Gothic" panose="020B0503020000020004" pitchFamily="50" charset="-127"/>
                          <a:ea typeface="Malgun Gothic" panose="020B0503020000020004" pitchFamily="50" charset="-127"/>
                        </a:rPr>
                        <a:t>직원 실적 보고서 자동 작성</a:t>
                      </a:r>
                      <a:endParaRPr lang="ko-KR" altLang="en-US" sz="1600">
                        <a:effectLst/>
                      </a:endParaRPr>
                    </a:p>
                  </a:txBody>
                  <a:tcPr marL="56137" marR="56137" marT="40827" marB="408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ctr">
                        <a:buNone/>
                      </a:pPr>
                      <a:r>
                        <a:rPr lang="ko-KR" altLang="en-US" sz="900" b="0" i="0" u="none" strike="noStrike" dirty="0" err="1">
                          <a:solidFill>
                            <a:srgbClr val="000000"/>
                          </a:solidFill>
                          <a:effectLst/>
                          <a:latin typeface="Malgun Gothic" panose="020B0503020000020004" pitchFamily="50" charset="-127"/>
                          <a:ea typeface="Malgun Gothic" panose="020B0503020000020004" pitchFamily="50" charset="-127"/>
                        </a:rPr>
                        <a:t>머신러닝</a:t>
                      </a:r>
                      <a:r>
                        <a:rPr lang="ko-KR" altLang="en-US" sz="900" b="0" i="0" u="none" strike="noStrike" dirty="0">
                          <a:solidFill>
                            <a:srgbClr val="000000"/>
                          </a:solidFill>
                          <a:effectLst/>
                          <a:latin typeface="Malgun Gothic" panose="020B0503020000020004" pitchFamily="50" charset="-127"/>
                          <a:ea typeface="Malgun Gothic" panose="020B0503020000020004" pitchFamily="50" charset="-127"/>
                        </a:rPr>
                        <a:t> 기반 분석을 통해 실적 요약 보고서를 생성하고</a:t>
                      </a:r>
                      <a:r>
                        <a:rPr lang="en-US" altLang="ko-KR" sz="900" b="0" i="0" u="none" strike="noStrike" dirty="0">
                          <a:solidFill>
                            <a:srgbClr val="000000"/>
                          </a:solidFill>
                          <a:effectLst/>
                          <a:latin typeface="Malgun Gothic" panose="020B0503020000020004" pitchFamily="50" charset="-127"/>
                          <a:ea typeface="Malgun Gothic" panose="020B0503020000020004" pitchFamily="50" charset="-127"/>
                        </a:rPr>
                        <a:t>, </a:t>
                      </a:r>
                      <a:r>
                        <a:rPr lang="ko-KR" altLang="en-US" sz="900" b="0" i="0" u="none" strike="noStrike" dirty="0">
                          <a:solidFill>
                            <a:srgbClr val="000000"/>
                          </a:solidFill>
                          <a:effectLst/>
                          <a:latin typeface="Malgun Gothic" panose="020B0503020000020004" pitchFamily="50" charset="-127"/>
                          <a:ea typeface="Malgun Gothic" panose="020B0503020000020004" pitchFamily="50" charset="-127"/>
                        </a:rPr>
                        <a:t>관리자</a:t>
                      </a:r>
                      <a:r>
                        <a:rPr lang="en-US" altLang="ko-KR" sz="900" b="0" i="0" u="none" strike="noStrike" dirty="0">
                          <a:solidFill>
                            <a:srgbClr val="000000"/>
                          </a:solidFill>
                          <a:effectLst/>
                          <a:latin typeface="Malgun Gothic" panose="020B0503020000020004" pitchFamily="50" charset="-127"/>
                          <a:ea typeface="Malgun Gothic" panose="020B0503020000020004" pitchFamily="50" charset="-127"/>
                        </a:rPr>
                        <a:t>/</a:t>
                      </a:r>
                      <a:r>
                        <a:rPr lang="ko-KR" altLang="en-US" sz="900" b="0" i="0" u="none" strike="noStrike" dirty="0">
                          <a:solidFill>
                            <a:srgbClr val="000000"/>
                          </a:solidFill>
                          <a:effectLst/>
                          <a:latin typeface="Malgun Gothic" panose="020B0503020000020004" pitchFamily="50" charset="-127"/>
                          <a:ea typeface="Malgun Gothic" panose="020B0503020000020004" pitchFamily="50" charset="-127"/>
                        </a:rPr>
                        <a:t>직원 모드에 따라 다르게 제공</a:t>
                      </a:r>
                      <a:endParaRPr lang="ko-KR" altLang="en-US" sz="1600" dirty="0">
                        <a:effectLst/>
                      </a:endParaRPr>
                    </a:p>
                  </a:txBody>
                  <a:tcPr marL="56137" marR="56137" marT="40827" marB="408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90777578"/>
                  </a:ext>
                </a:extLst>
              </a:tr>
              <a:tr h="610547">
                <a:tc>
                  <a:txBody>
                    <a:bodyPr/>
                    <a:lstStyle/>
                    <a:p>
                      <a:pPr rtl="0" fontAlgn="ctr">
                        <a:buNone/>
                      </a:pPr>
                      <a:r>
                        <a:rPr lang="en-US" altLang="ko-KR" sz="900" b="1" i="0" u="none" strike="noStrike">
                          <a:solidFill>
                            <a:srgbClr val="000000"/>
                          </a:solidFill>
                          <a:effectLst/>
                          <a:latin typeface="Malgun Gothic" panose="020B0503020000020004" pitchFamily="50" charset="-127"/>
                          <a:ea typeface="Malgun Gothic" panose="020B0503020000020004" pitchFamily="50" charset="-127"/>
                        </a:rPr>
                        <a:t>3. </a:t>
                      </a:r>
                      <a:r>
                        <a:rPr lang="ko-KR" altLang="en-US" sz="900" b="1" i="0" u="none" strike="noStrike">
                          <a:solidFill>
                            <a:srgbClr val="000000"/>
                          </a:solidFill>
                          <a:effectLst/>
                          <a:latin typeface="Malgun Gothic" panose="020B0503020000020004" pitchFamily="50" charset="-127"/>
                          <a:ea typeface="Malgun Gothic" panose="020B0503020000020004" pitchFamily="50" charset="-127"/>
                        </a:rPr>
                        <a:t>거래처 실적 분석 및 등급 분류</a:t>
                      </a:r>
                      <a:endParaRPr lang="ko-KR" altLang="en-US" sz="1600">
                        <a:effectLst/>
                      </a:endParaRPr>
                    </a:p>
                  </a:txBody>
                  <a:tcPr marL="56137" marR="56137" marT="40827" marB="408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ctr">
                        <a:buNone/>
                      </a:pPr>
                      <a:r>
                        <a:rPr lang="ko-KR" altLang="en-US" sz="900" b="0" i="0" u="none" strike="noStrike">
                          <a:solidFill>
                            <a:srgbClr val="000000"/>
                          </a:solidFill>
                          <a:effectLst/>
                          <a:latin typeface="Malgun Gothic" panose="020B0503020000020004" pitchFamily="50" charset="-127"/>
                          <a:ea typeface="Malgun Gothic" panose="020B0503020000020004" pitchFamily="50" charset="-127"/>
                        </a:rPr>
                        <a:t>고객 등급을 분석하여 분류하고</a:t>
                      </a:r>
                      <a:r>
                        <a:rPr lang="en-US" altLang="ko-KR" sz="900" b="0" i="0" u="none" strike="noStrike">
                          <a:solidFill>
                            <a:srgbClr val="000000"/>
                          </a:solidFill>
                          <a:effectLst/>
                          <a:latin typeface="Malgun Gothic" panose="020B0503020000020004" pitchFamily="50" charset="-127"/>
                          <a:ea typeface="Malgun Gothic" panose="020B0503020000020004" pitchFamily="50" charset="-127"/>
                        </a:rPr>
                        <a:t>, </a:t>
                      </a:r>
                      <a:r>
                        <a:rPr lang="ko-KR" altLang="en-US" sz="900" b="0" i="0" u="none" strike="noStrike">
                          <a:solidFill>
                            <a:srgbClr val="000000"/>
                          </a:solidFill>
                          <a:effectLst/>
                          <a:latin typeface="Malgun Gothic" panose="020B0503020000020004" pitchFamily="50" charset="-127"/>
                          <a:ea typeface="Malgun Gothic" panose="020B0503020000020004" pitchFamily="50" charset="-127"/>
                        </a:rPr>
                        <a:t>영업 리소스 배분 최적화 및 필요한 문서</a:t>
                      </a:r>
                      <a:r>
                        <a:rPr lang="en-US" altLang="ko-KR" sz="900" b="0" i="0" u="none" strike="noStrike">
                          <a:solidFill>
                            <a:srgbClr val="000000"/>
                          </a:solidFill>
                          <a:effectLst/>
                          <a:latin typeface="Malgun Gothic" panose="020B0503020000020004" pitchFamily="50" charset="-127"/>
                          <a:ea typeface="Malgun Gothic" panose="020B0503020000020004" pitchFamily="50" charset="-127"/>
                        </a:rPr>
                        <a:t>/</a:t>
                      </a:r>
                      <a:r>
                        <a:rPr lang="ko-KR" altLang="en-US" sz="900" b="0" i="0" u="none" strike="noStrike">
                          <a:solidFill>
                            <a:srgbClr val="000000"/>
                          </a:solidFill>
                          <a:effectLst/>
                          <a:latin typeface="Malgun Gothic" panose="020B0503020000020004" pitchFamily="50" charset="-127"/>
                          <a:ea typeface="Malgun Gothic" panose="020B0503020000020004" pitchFamily="50" charset="-127"/>
                        </a:rPr>
                        <a:t>절차 자동 제시</a:t>
                      </a:r>
                      <a:endParaRPr lang="ko-KR" altLang="en-US" sz="1600">
                        <a:effectLst/>
                      </a:endParaRPr>
                    </a:p>
                  </a:txBody>
                  <a:tcPr marL="56137" marR="56137" marT="40827" marB="408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90532307"/>
                  </a:ext>
                </a:extLst>
              </a:tr>
              <a:tr h="610547">
                <a:tc>
                  <a:txBody>
                    <a:bodyPr/>
                    <a:lstStyle/>
                    <a:p>
                      <a:pPr rtl="0" fontAlgn="ctr">
                        <a:buNone/>
                      </a:pPr>
                      <a:r>
                        <a:rPr lang="en-US" altLang="ko-KR" sz="900" b="1" i="0" u="none" strike="noStrike">
                          <a:solidFill>
                            <a:srgbClr val="000000"/>
                          </a:solidFill>
                          <a:effectLst/>
                          <a:latin typeface="Malgun Gothic" panose="020B0503020000020004" pitchFamily="50" charset="-127"/>
                          <a:ea typeface="Malgun Gothic" panose="020B0503020000020004" pitchFamily="50" charset="-127"/>
                        </a:rPr>
                        <a:t>4. </a:t>
                      </a:r>
                      <a:r>
                        <a:rPr lang="ko-KR" altLang="en-US" sz="900" b="1" i="0" u="none" strike="noStrike">
                          <a:solidFill>
                            <a:srgbClr val="000000"/>
                          </a:solidFill>
                          <a:effectLst/>
                          <a:latin typeface="Malgun Gothic" panose="020B0503020000020004" pitchFamily="50" charset="-127"/>
                          <a:ea typeface="Malgun Gothic" panose="020B0503020000020004" pitchFamily="50" charset="-127"/>
                        </a:rPr>
                        <a:t>서류 자동화 및 규정 검토</a:t>
                      </a:r>
                      <a:endParaRPr lang="ko-KR" altLang="en-US" sz="1600">
                        <a:effectLst/>
                      </a:endParaRPr>
                    </a:p>
                  </a:txBody>
                  <a:tcPr marL="56137" marR="56137" marT="40827" marB="408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ctr">
                        <a:buNone/>
                      </a:pPr>
                      <a:r>
                        <a:rPr lang="ko-KR" altLang="en-US" sz="900" b="0" i="0" u="none" strike="noStrike" dirty="0">
                          <a:solidFill>
                            <a:srgbClr val="000000"/>
                          </a:solidFill>
                          <a:effectLst/>
                          <a:latin typeface="Malgun Gothic" panose="020B0503020000020004" pitchFamily="50" charset="-127"/>
                          <a:ea typeface="Malgun Gothic" panose="020B0503020000020004" pitchFamily="50" charset="-127"/>
                        </a:rPr>
                        <a:t>보고서</a:t>
                      </a:r>
                      <a:r>
                        <a:rPr lang="en-US" altLang="ko-KR" sz="900" b="0" i="0" u="none" strike="noStrike" dirty="0">
                          <a:solidFill>
                            <a:srgbClr val="000000"/>
                          </a:solidFill>
                          <a:effectLst/>
                          <a:latin typeface="Malgun Gothic" panose="020B0503020000020004" pitchFamily="50" charset="-127"/>
                          <a:ea typeface="Malgun Gothic" panose="020B0503020000020004" pitchFamily="50" charset="-127"/>
                        </a:rPr>
                        <a:t>, </a:t>
                      </a:r>
                      <a:r>
                        <a:rPr lang="ko-KR" altLang="en-US" sz="900" b="0" i="0" u="none" strike="noStrike" dirty="0">
                          <a:solidFill>
                            <a:srgbClr val="000000"/>
                          </a:solidFill>
                          <a:effectLst/>
                          <a:latin typeface="Malgun Gothic" panose="020B0503020000020004" pitchFamily="50" charset="-127"/>
                          <a:ea typeface="Malgun Gothic" panose="020B0503020000020004" pitchFamily="50" charset="-127"/>
                        </a:rPr>
                        <a:t>계획서</a:t>
                      </a:r>
                      <a:r>
                        <a:rPr lang="en-US" altLang="ko-KR" sz="900" b="0" i="0" u="none" strike="noStrike" dirty="0">
                          <a:solidFill>
                            <a:srgbClr val="000000"/>
                          </a:solidFill>
                          <a:effectLst/>
                          <a:latin typeface="Malgun Gothic" panose="020B0503020000020004" pitchFamily="50" charset="-127"/>
                          <a:ea typeface="Malgun Gothic" panose="020B0503020000020004" pitchFamily="50" charset="-127"/>
                        </a:rPr>
                        <a:t>, </a:t>
                      </a:r>
                      <a:r>
                        <a:rPr lang="ko-KR" altLang="en-US" sz="900" b="0" i="0" u="none" strike="noStrike" dirty="0">
                          <a:solidFill>
                            <a:srgbClr val="000000"/>
                          </a:solidFill>
                          <a:effectLst/>
                          <a:latin typeface="Malgun Gothic" panose="020B0503020000020004" pitchFamily="50" charset="-127"/>
                          <a:ea typeface="Malgun Gothic" panose="020B0503020000020004" pitchFamily="50" charset="-127"/>
                        </a:rPr>
                        <a:t>전표</a:t>
                      </a:r>
                      <a:r>
                        <a:rPr lang="en-US" altLang="ko-KR" sz="900" b="0" i="0" u="none" strike="noStrike" dirty="0">
                          <a:solidFill>
                            <a:srgbClr val="000000"/>
                          </a:solidFill>
                          <a:effectLst/>
                          <a:latin typeface="Malgun Gothic" panose="020B0503020000020004" pitchFamily="50" charset="-127"/>
                          <a:ea typeface="Malgun Gothic" panose="020B0503020000020004" pitchFamily="50" charset="-127"/>
                        </a:rPr>
                        <a:t>, </a:t>
                      </a:r>
                      <a:r>
                        <a:rPr lang="ko-KR" altLang="en-US" sz="900" b="0" i="0" u="none" strike="noStrike" dirty="0">
                          <a:solidFill>
                            <a:srgbClr val="000000"/>
                          </a:solidFill>
                          <a:effectLst/>
                          <a:latin typeface="Malgun Gothic" panose="020B0503020000020004" pitchFamily="50" charset="-127"/>
                          <a:ea typeface="Malgun Gothic" panose="020B0503020000020004" pitchFamily="50" charset="-127"/>
                        </a:rPr>
                        <a:t>계약서 등 주요 문서를 자동 생성하고 내부 규정 및 </a:t>
                      </a:r>
                      <a:r>
                        <a:rPr lang="ko-KR" altLang="en-US" sz="900" b="0" i="0" u="none" strike="noStrike" dirty="0" err="1">
                          <a:solidFill>
                            <a:srgbClr val="000000"/>
                          </a:solidFill>
                          <a:effectLst/>
                          <a:latin typeface="Malgun Gothic" panose="020B0503020000020004" pitchFamily="50" charset="-127"/>
                          <a:ea typeface="Malgun Gothic" panose="020B0503020000020004" pitchFamily="50" charset="-127"/>
                        </a:rPr>
                        <a:t>의약법</a:t>
                      </a:r>
                      <a:r>
                        <a:rPr lang="ko-KR" altLang="en-US" sz="900" b="0" i="0" u="none" strike="noStrike" dirty="0">
                          <a:solidFill>
                            <a:srgbClr val="000000"/>
                          </a:solidFill>
                          <a:effectLst/>
                          <a:latin typeface="Malgun Gothic" panose="020B0503020000020004" pitchFamily="50" charset="-127"/>
                          <a:ea typeface="Malgun Gothic" panose="020B0503020000020004" pitchFamily="50" charset="-127"/>
                        </a:rPr>
                        <a:t> 위반 여부 검토</a:t>
                      </a:r>
                      <a:endParaRPr lang="ko-KR" altLang="en-US" sz="1600" dirty="0">
                        <a:effectLst/>
                      </a:endParaRPr>
                    </a:p>
                  </a:txBody>
                  <a:tcPr marL="56137" marR="56137" marT="40827" marB="408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9053958"/>
                  </a:ext>
                </a:extLst>
              </a:tr>
              <a:tr h="505473">
                <a:tc>
                  <a:txBody>
                    <a:bodyPr/>
                    <a:lstStyle/>
                    <a:p>
                      <a:pPr rtl="0" fontAlgn="ctr">
                        <a:buNone/>
                      </a:pPr>
                      <a:r>
                        <a:rPr lang="en-US" altLang="ko-KR" sz="900" b="1" i="0" u="none" strike="noStrike">
                          <a:solidFill>
                            <a:srgbClr val="000000"/>
                          </a:solidFill>
                          <a:effectLst/>
                          <a:latin typeface="Malgun Gothic" panose="020B0503020000020004" pitchFamily="50" charset="-127"/>
                          <a:ea typeface="Malgun Gothic" panose="020B0503020000020004" pitchFamily="50" charset="-127"/>
                        </a:rPr>
                        <a:t>5. </a:t>
                      </a:r>
                      <a:r>
                        <a:rPr lang="ko-KR" altLang="en-US" sz="900" b="1" i="0" u="none" strike="noStrike">
                          <a:solidFill>
                            <a:srgbClr val="000000"/>
                          </a:solidFill>
                          <a:effectLst/>
                          <a:latin typeface="Malgun Gothic" panose="020B0503020000020004" pitchFamily="50" charset="-127"/>
                          <a:ea typeface="Malgun Gothic" panose="020B0503020000020004" pitchFamily="50" charset="-127"/>
                        </a:rPr>
                        <a:t>감정 및 법적 분석 기능</a:t>
                      </a:r>
                      <a:endParaRPr lang="ko-KR" altLang="en-US" sz="1600">
                        <a:effectLst/>
                      </a:endParaRPr>
                    </a:p>
                  </a:txBody>
                  <a:tcPr marL="56137" marR="56137" marT="40827" marB="408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ctr">
                        <a:buNone/>
                      </a:pPr>
                      <a:r>
                        <a:rPr lang="ko-KR" altLang="en-US" sz="900" b="0" i="0" u="none" strike="noStrike">
                          <a:solidFill>
                            <a:srgbClr val="000000"/>
                          </a:solidFill>
                          <a:effectLst/>
                          <a:latin typeface="Malgun Gothic" panose="020B0503020000020004" pitchFamily="50" charset="-127"/>
                          <a:ea typeface="Malgun Gothic" panose="020B0503020000020004" pitchFamily="50" charset="-127"/>
                        </a:rPr>
                        <a:t>의사와의 대화 보고</a:t>
                      </a:r>
                      <a:r>
                        <a:rPr lang="en-US" altLang="ko-KR" sz="900" b="0" i="0" u="none" strike="noStrike">
                          <a:solidFill>
                            <a:srgbClr val="000000"/>
                          </a:solidFill>
                          <a:effectLst/>
                          <a:latin typeface="Malgun Gothic" panose="020B0503020000020004" pitchFamily="50" charset="-127"/>
                          <a:ea typeface="Malgun Gothic" panose="020B0503020000020004" pitchFamily="50" charset="-127"/>
                        </a:rPr>
                        <a:t>/</a:t>
                      </a:r>
                      <a:r>
                        <a:rPr lang="ko-KR" altLang="en-US" sz="900" b="0" i="0" u="none" strike="noStrike">
                          <a:solidFill>
                            <a:srgbClr val="000000"/>
                          </a:solidFill>
                          <a:effectLst/>
                          <a:latin typeface="Malgun Gothic" panose="020B0503020000020004" pitchFamily="50" charset="-127"/>
                          <a:ea typeface="Malgun Gothic" panose="020B0503020000020004" pitchFamily="50" charset="-127"/>
                        </a:rPr>
                        <a:t>녹음본을 기반으로 감정 상태 분석 및 의약법 위반 가능성 판단</a:t>
                      </a:r>
                      <a:endParaRPr lang="ko-KR" altLang="en-US" sz="1600">
                        <a:effectLst/>
                      </a:endParaRPr>
                    </a:p>
                  </a:txBody>
                  <a:tcPr marL="56137" marR="56137" marT="40827" marB="408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26823203"/>
                  </a:ext>
                </a:extLst>
              </a:tr>
              <a:tr h="610547">
                <a:tc>
                  <a:txBody>
                    <a:bodyPr/>
                    <a:lstStyle/>
                    <a:p>
                      <a:pPr rtl="0" fontAlgn="ctr">
                        <a:buNone/>
                      </a:pPr>
                      <a:r>
                        <a:rPr lang="en-US" altLang="ko-KR" sz="900" b="1" i="0" u="none" strike="noStrike">
                          <a:solidFill>
                            <a:srgbClr val="000000"/>
                          </a:solidFill>
                          <a:effectLst/>
                          <a:latin typeface="Malgun Gothic" panose="020B0503020000020004" pitchFamily="50" charset="-127"/>
                          <a:ea typeface="Malgun Gothic" panose="020B0503020000020004" pitchFamily="50" charset="-127"/>
                        </a:rPr>
                        <a:t>6. </a:t>
                      </a:r>
                      <a:r>
                        <a:rPr lang="ko-KR" altLang="en-US" sz="900" b="1" i="0" u="none" strike="noStrike">
                          <a:solidFill>
                            <a:srgbClr val="000000"/>
                          </a:solidFill>
                          <a:effectLst/>
                          <a:latin typeface="Malgun Gothic" panose="020B0503020000020004" pitchFamily="50" charset="-127"/>
                          <a:ea typeface="Malgun Gothic" panose="020B0503020000020004" pitchFamily="50" charset="-127"/>
                        </a:rPr>
                        <a:t>데이터 위키</a:t>
                      </a:r>
                      <a:endParaRPr lang="ko-KR" altLang="en-US" sz="1600">
                        <a:effectLst/>
                      </a:endParaRPr>
                    </a:p>
                  </a:txBody>
                  <a:tcPr marL="56137" marR="56137" marT="40827" marB="408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ctr">
                        <a:buNone/>
                      </a:pPr>
                      <a:r>
                        <a:rPr lang="ko-KR" altLang="en-US" sz="900" b="0" i="0" u="none" strike="noStrike">
                          <a:solidFill>
                            <a:srgbClr val="000000"/>
                          </a:solidFill>
                          <a:effectLst/>
                          <a:latin typeface="Malgun Gothic" panose="020B0503020000020004" pitchFamily="50" charset="-127"/>
                          <a:ea typeface="Malgun Gothic" panose="020B0503020000020004" pitchFamily="50" charset="-127"/>
                        </a:rPr>
                        <a:t>지역별 누적 데이터 공유 시스템으로</a:t>
                      </a:r>
                      <a:r>
                        <a:rPr lang="en-US" altLang="ko-KR" sz="900" b="0" i="0" u="none" strike="noStrike">
                          <a:solidFill>
                            <a:srgbClr val="000000"/>
                          </a:solidFill>
                          <a:effectLst/>
                          <a:latin typeface="Malgun Gothic" panose="020B0503020000020004" pitchFamily="50" charset="-127"/>
                          <a:ea typeface="Malgun Gothic" panose="020B0503020000020004" pitchFamily="50" charset="-127"/>
                        </a:rPr>
                        <a:t>, </a:t>
                      </a:r>
                      <a:r>
                        <a:rPr lang="ko-KR" altLang="en-US" sz="900" b="0" i="0" u="none" strike="noStrike">
                          <a:solidFill>
                            <a:srgbClr val="000000"/>
                          </a:solidFill>
                          <a:effectLst/>
                          <a:latin typeface="Malgun Gothic" panose="020B0503020000020004" pitchFamily="50" charset="-127"/>
                          <a:ea typeface="Malgun Gothic" panose="020B0503020000020004" pitchFamily="50" charset="-127"/>
                        </a:rPr>
                        <a:t>후임 담당자가 전임자의 자료를 보며 업무 연속성 확보</a:t>
                      </a:r>
                      <a:endParaRPr lang="ko-KR" altLang="en-US" sz="1600">
                        <a:effectLst/>
                      </a:endParaRPr>
                    </a:p>
                  </a:txBody>
                  <a:tcPr marL="56137" marR="56137" marT="40827" marB="408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36394473"/>
                  </a:ext>
                </a:extLst>
              </a:tr>
              <a:tr h="610547">
                <a:tc>
                  <a:txBody>
                    <a:bodyPr/>
                    <a:lstStyle/>
                    <a:p>
                      <a:pPr rtl="0" fontAlgn="ctr">
                        <a:buNone/>
                      </a:pPr>
                      <a:r>
                        <a:rPr lang="en-US" altLang="ko-KR" sz="900" b="1" i="0" u="none" strike="noStrike">
                          <a:solidFill>
                            <a:srgbClr val="000000"/>
                          </a:solidFill>
                          <a:effectLst/>
                          <a:latin typeface="Malgun Gothic" panose="020B0503020000020004" pitchFamily="50" charset="-127"/>
                          <a:ea typeface="Malgun Gothic" panose="020B0503020000020004" pitchFamily="50" charset="-127"/>
                        </a:rPr>
                        <a:t>7. </a:t>
                      </a:r>
                      <a:r>
                        <a:rPr lang="ko-KR" altLang="en-US" sz="900" b="1" i="0" u="none" strike="noStrike">
                          <a:solidFill>
                            <a:srgbClr val="000000"/>
                          </a:solidFill>
                          <a:effectLst/>
                          <a:latin typeface="Malgun Gothic" panose="020B0503020000020004" pitchFamily="50" charset="-127"/>
                          <a:ea typeface="Malgun Gothic" panose="020B0503020000020004" pitchFamily="50" charset="-127"/>
                        </a:rPr>
                        <a:t>데일리 레포트 </a:t>
                      </a:r>
                      <a:r>
                        <a:rPr lang="en-US" altLang="ko-KR" sz="900" b="1" i="0" u="none" strike="noStrike">
                          <a:solidFill>
                            <a:srgbClr val="000000"/>
                          </a:solidFill>
                          <a:effectLst/>
                          <a:latin typeface="Malgun Gothic" panose="020B0503020000020004" pitchFamily="50" charset="-127"/>
                          <a:ea typeface="Malgun Gothic" panose="020B0503020000020004" pitchFamily="50" charset="-127"/>
                        </a:rPr>
                        <a:t>+ </a:t>
                      </a:r>
                      <a:r>
                        <a:rPr lang="ko-KR" altLang="en-US" sz="900" b="1" i="0" u="none" strike="noStrike">
                          <a:solidFill>
                            <a:srgbClr val="000000"/>
                          </a:solidFill>
                          <a:effectLst/>
                          <a:latin typeface="Malgun Gothic" panose="020B0503020000020004" pitchFamily="50" charset="-127"/>
                          <a:ea typeface="Malgun Gothic" panose="020B0503020000020004" pitchFamily="50" charset="-127"/>
                        </a:rPr>
                        <a:t>원장 맞춤 뉴스 추천</a:t>
                      </a:r>
                      <a:endParaRPr lang="ko-KR" altLang="en-US" sz="1600">
                        <a:effectLst/>
                      </a:endParaRPr>
                    </a:p>
                  </a:txBody>
                  <a:tcPr marL="56137" marR="56137" marT="40827" marB="408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ctr">
                        <a:buNone/>
                      </a:pPr>
                      <a:r>
                        <a:rPr lang="ko-KR" altLang="en-US" sz="900" b="0" i="0" u="none" strike="noStrike" dirty="0">
                          <a:solidFill>
                            <a:srgbClr val="000000"/>
                          </a:solidFill>
                          <a:effectLst/>
                          <a:latin typeface="Malgun Gothic" panose="020B0503020000020004" pitchFamily="50" charset="-127"/>
                          <a:ea typeface="Malgun Gothic" panose="020B0503020000020004" pitchFamily="50" charset="-127"/>
                        </a:rPr>
                        <a:t>정치</a:t>
                      </a:r>
                      <a:r>
                        <a:rPr lang="en-US" altLang="ko-KR" sz="900" b="0" i="0" u="none" strike="noStrike" dirty="0">
                          <a:solidFill>
                            <a:srgbClr val="000000"/>
                          </a:solidFill>
                          <a:effectLst/>
                          <a:latin typeface="Malgun Gothic" panose="020B0503020000020004" pitchFamily="50" charset="-127"/>
                          <a:ea typeface="Malgun Gothic" panose="020B0503020000020004" pitchFamily="50" charset="-127"/>
                        </a:rPr>
                        <a:t>·</a:t>
                      </a:r>
                      <a:r>
                        <a:rPr lang="ko-KR" altLang="en-US" sz="900" b="0" i="0" u="none" strike="noStrike" dirty="0">
                          <a:solidFill>
                            <a:srgbClr val="000000"/>
                          </a:solidFill>
                          <a:effectLst/>
                          <a:latin typeface="Malgun Gothic" panose="020B0503020000020004" pitchFamily="50" charset="-127"/>
                          <a:ea typeface="Malgun Gothic" panose="020B0503020000020004" pitchFamily="50" charset="-127"/>
                        </a:rPr>
                        <a:t>경제</a:t>
                      </a:r>
                      <a:r>
                        <a:rPr lang="en-US" altLang="ko-KR" sz="900" b="0" i="0" u="none" strike="noStrike" dirty="0">
                          <a:solidFill>
                            <a:srgbClr val="000000"/>
                          </a:solidFill>
                          <a:effectLst/>
                          <a:latin typeface="Malgun Gothic" panose="020B0503020000020004" pitchFamily="50" charset="-127"/>
                          <a:ea typeface="Malgun Gothic" panose="020B0503020000020004" pitchFamily="50" charset="-127"/>
                        </a:rPr>
                        <a:t>·</a:t>
                      </a:r>
                      <a:r>
                        <a:rPr lang="ko-KR" altLang="en-US" sz="900" b="0" i="0" u="none" strike="noStrike" dirty="0">
                          <a:solidFill>
                            <a:srgbClr val="000000"/>
                          </a:solidFill>
                          <a:effectLst/>
                          <a:latin typeface="Malgun Gothic" panose="020B0503020000020004" pitchFamily="50" charset="-127"/>
                          <a:ea typeface="Malgun Gothic" panose="020B0503020000020004" pitchFamily="50" charset="-127"/>
                        </a:rPr>
                        <a:t>사회</a:t>
                      </a:r>
                      <a:r>
                        <a:rPr lang="en-US" altLang="ko-KR" sz="900" b="0" i="0" u="none" strike="noStrike" dirty="0">
                          <a:solidFill>
                            <a:srgbClr val="000000"/>
                          </a:solidFill>
                          <a:effectLst/>
                          <a:latin typeface="Malgun Gothic" panose="020B0503020000020004" pitchFamily="50" charset="-127"/>
                          <a:ea typeface="Malgun Gothic" panose="020B0503020000020004" pitchFamily="50" charset="-127"/>
                        </a:rPr>
                        <a:t>·</a:t>
                      </a:r>
                      <a:r>
                        <a:rPr lang="ko-KR" altLang="en-US" sz="900" b="0" i="0" u="none" strike="noStrike" dirty="0">
                          <a:solidFill>
                            <a:srgbClr val="000000"/>
                          </a:solidFill>
                          <a:effectLst/>
                          <a:latin typeface="Malgun Gothic" panose="020B0503020000020004" pitchFamily="50" charset="-127"/>
                          <a:ea typeface="Malgun Gothic" panose="020B0503020000020004" pitchFamily="50" charset="-127"/>
                        </a:rPr>
                        <a:t>문화 등 다양한 분야의 뉴스를 매일 요약해 제공하고</a:t>
                      </a:r>
                      <a:r>
                        <a:rPr lang="en-US" altLang="ko-KR" sz="900" b="0" i="0" u="none" strike="noStrike" dirty="0">
                          <a:solidFill>
                            <a:srgbClr val="000000"/>
                          </a:solidFill>
                          <a:effectLst/>
                          <a:latin typeface="Malgun Gothic" panose="020B0503020000020004" pitchFamily="50" charset="-127"/>
                          <a:ea typeface="Malgun Gothic" panose="020B0503020000020004" pitchFamily="50" charset="-127"/>
                        </a:rPr>
                        <a:t>, </a:t>
                      </a:r>
                      <a:r>
                        <a:rPr lang="ko-KR" altLang="en-US" sz="900" b="0" i="0" u="none" strike="noStrike" dirty="0">
                          <a:solidFill>
                            <a:srgbClr val="000000"/>
                          </a:solidFill>
                          <a:effectLst/>
                          <a:latin typeface="Malgun Gothic" panose="020B0503020000020004" pitchFamily="50" charset="-127"/>
                          <a:ea typeface="Malgun Gothic" panose="020B0503020000020004" pitchFamily="50" charset="-127"/>
                        </a:rPr>
                        <a:t>병원장 성향에 맞춘 맞춤 콘텐츠 추천</a:t>
                      </a:r>
                      <a:endParaRPr lang="ko-KR" altLang="en-US" sz="1600" dirty="0">
                        <a:effectLst/>
                      </a:endParaRPr>
                    </a:p>
                  </a:txBody>
                  <a:tcPr marL="56137" marR="56137" marT="40827" marB="408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60144159"/>
                  </a:ext>
                </a:extLst>
              </a:tr>
            </a:tbl>
          </a:graphicData>
        </a:graphic>
      </p:graphicFrame>
    </p:spTree>
    <p:extLst>
      <p:ext uri="{BB962C8B-B14F-4D97-AF65-F5344CB8AC3E}">
        <p14:creationId xmlns:p14="http://schemas.microsoft.com/office/powerpoint/2010/main" val="14297077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descr="텍스트, 스크린샷, 웹사이트, 웹 페이지이(가) 표시된 사진&#10;&#10;AI 생성 콘텐츠는 정확하지 않을 수 있습니다.">
            <a:extLst>
              <a:ext uri="{FF2B5EF4-FFF2-40B4-BE49-F238E27FC236}">
                <a16:creationId xmlns:a16="http://schemas.microsoft.com/office/drawing/2014/main" id="{DBA3A796-51E4-4E8D-7128-6D0EF80448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5814" y="337965"/>
            <a:ext cx="8200050" cy="6182069"/>
          </a:xfrm>
          <a:prstGeom prst="rect">
            <a:avLst/>
          </a:prstGeom>
        </p:spPr>
      </p:pic>
      <p:sp>
        <p:nvSpPr>
          <p:cNvPr id="6" name="TextBox 5">
            <a:extLst>
              <a:ext uri="{FF2B5EF4-FFF2-40B4-BE49-F238E27FC236}">
                <a16:creationId xmlns:a16="http://schemas.microsoft.com/office/drawing/2014/main" id="{56F1651E-6B06-D70E-5CA7-638F25B9D018}"/>
              </a:ext>
            </a:extLst>
          </p:cNvPr>
          <p:cNvSpPr txBox="1"/>
          <p:nvPr/>
        </p:nvSpPr>
        <p:spPr>
          <a:xfrm>
            <a:off x="280555" y="299894"/>
            <a:ext cx="3740727" cy="584775"/>
          </a:xfrm>
          <a:prstGeom prst="rect">
            <a:avLst/>
          </a:prstGeom>
          <a:noFill/>
        </p:spPr>
        <p:txBody>
          <a:bodyPr wrap="square" rtlCol="0">
            <a:spAutoFit/>
          </a:bodyPr>
          <a:lstStyle/>
          <a:p>
            <a:r>
              <a:rPr lang="ko-KR" altLang="en-US" sz="3200" b="1" dirty="0"/>
              <a:t>화면 </a:t>
            </a:r>
            <a:r>
              <a:rPr lang="ko-KR" altLang="en-US" sz="3200" b="1"/>
              <a:t>구현 예시</a:t>
            </a:r>
          </a:p>
        </p:txBody>
      </p:sp>
    </p:spTree>
    <p:extLst>
      <p:ext uri="{BB962C8B-B14F-4D97-AF65-F5344CB8AC3E}">
        <p14:creationId xmlns:p14="http://schemas.microsoft.com/office/powerpoint/2010/main" val="25240860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제목 1">
            <a:extLst>
              <a:ext uri="{FF2B5EF4-FFF2-40B4-BE49-F238E27FC236}">
                <a16:creationId xmlns:a16="http://schemas.microsoft.com/office/drawing/2014/main" id="{EB3001EE-2E0C-2129-2458-9F3C77A97A13}"/>
              </a:ext>
            </a:extLst>
          </p:cNvPr>
          <p:cNvSpPr>
            <a:spLocks noGrp="1"/>
          </p:cNvSpPr>
          <p:nvPr>
            <p:ph type="ctrTitle"/>
          </p:nvPr>
        </p:nvSpPr>
        <p:spPr>
          <a:xfrm>
            <a:off x="559219" y="1115844"/>
            <a:ext cx="7680960" cy="4631911"/>
          </a:xfrm>
        </p:spPr>
        <p:txBody>
          <a:bodyPr anchor="b">
            <a:normAutofit/>
          </a:bodyPr>
          <a:lstStyle/>
          <a:p>
            <a:r>
              <a:rPr lang="ko-KR" altLang="en-US" sz="6500"/>
              <a:t>팀원별 진행 상황</a:t>
            </a:r>
          </a:p>
        </p:txBody>
      </p:sp>
      <p:cxnSp>
        <p:nvCxnSpPr>
          <p:cNvPr id="11" name="Straight Connector 10">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33597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8FCE029E-5073-4498-8104-8427AA987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제목 1">
            <a:extLst>
              <a:ext uri="{FF2B5EF4-FFF2-40B4-BE49-F238E27FC236}">
                <a16:creationId xmlns:a16="http://schemas.microsoft.com/office/drawing/2014/main" id="{8F6F4BC6-8E08-CD87-49B8-3924AD8E23CD}"/>
              </a:ext>
            </a:extLst>
          </p:cNvPr>
          <p:cNvSpPr>
            <a:spLocks noGrp="1"/>
          </p:cNvSpPr>
          <p:nvPr>
            <p:ph type="title"/>
          </p:nvPr>
        </p:nvSpPr>
        <p:spPr>
          <a:xfrm>
            <a:off x="640080" y="914401"/>
            <a:ext cx="4306824" cy="1477817"/>
          </a:xfrm>
        </p:spPr>
        <p:txBody>
          <a:bodyPr vert="horz" lIns="91440" tIns="45720" rIns="91440" bIns="45720" rtlCol="0" anchor="t">
            <a:normAutofit/>
          </a:bodyPr>
          <a:lstStyle/>
          <a:p>
            <a:r>
              <a:rPr lang="ko-KR" altLang="en-US"/>
              <a:t>김도윤</a:t>
            </a:r>
          </a:p>
        </p:txBody>
      </p:sp>
      <p:pic>
        <p:nvPicPr>
          <p:cNvPr id="5" name="내용 개체 틀 4" descr="계획, 도면, 디자인 도구, 스케치, 아이디어 및 커피 한 잔은 부부가 부엌을 다시 디자인할 준비를 할 때입니다.,">
            <a:extLst>
              <a:ext uri="{FF2B5EF4-FFF2-40B4-BE49-F238E27FC236}">
                <a16:creationId xmlns:a16="http://schemas.microsoft.com/office/drawing/2014/main" id="{CAD2FAEE-3E80-4A0D-8CCA-C193517DBFC0}"/>
              </a:ext>
            </a:extLst>
          </p:cNvPr>
          <p:cNvPicPr>
            <a:picLocks noGrp="1" noChangeAspect="1"/>
          </p:cNvPicPr>
          <p:nvPr>
            <p:ph sz="half" idx="1"/>
          </p:nvPr>
        </p:nvPicPr>
        <p:blipFill>
          <a:blip r:embed="rId3"/>
          <a:srcRect l="10498" r="1" b="1"/>
          <a:stretch>
            <a:fillRect/>
          </a:stretch>
        </p:blipFill>
        <p:spPr>
          <a:xfrm>
            <a:off x="1" y="2613892"/>
            <a:ext cx="4946906" cy="3689359"/>
          </a:xfrm>
          <a:prstGeom prst="rect">
            <a:avLst/>
          </a:prstGeom>
        </p:spPr>
      </p:pic>
      <p:cxnSp>
        <p:nvCxnSpPr>
          <p:cNvPr id="14" name="Straight Connector 13">
            <a:extLst>
              <a:ext uri="{FF2B5EF4-FFF2-40B4-BE49-F238E27FC236}">
                <a16:creationId xmlns:a16="http://schemas.microsoft.com/office/drawing/2014/main" id="{BEFF515C-2521-4964-9DAC-2BFB8EC86A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74446"/>
            <a:ext cx="4946904"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내용 개체 틀 3">
            <a:extLst>
              <a:ext uri="{FF2B5EF4-FFF2-40B4-BE49-F238E27FC236}">
                <a16:creationId xmlns:a16="http://schemas.microsoft.com/office/drawing/2014/main" id="{5AD0AA8D-8ED2-2A87-27AD-FEAF80CA15C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8" y="1014984"/>
            <a:ext cx="5889161" cy="5288267"/>
          </a:xfrm>
        </p:spPr>
        <p:txBody>
          <a:bodyPr>
            <a:normAutofit/>
          </a:bodyPr>
          <a:lstStyle/>
          <a:p>
            <a:pPr marL="0" indent="0">
              <a:spcBef>
                <a:spcPts val="2500"/>
              </a:spcBef>
              <a:buNone/>
            </a:pPr>
            <a:r>
              <a:rPr lang="ko-KR" altLang="en-US" sz="1400" b="1"/>
              <a:t>프로젝트 계획 문서</a:t>
            </a:r>
          </a:p>
          <a:p>
            <a:pPr marL="0" lvl="1" indent="0">
              <a:buNone/>
            </a:pPr>
            <a:r>
              <a:rPr lang="ko-KR" altLang="en-US" sz="1400"/>
              <a:t>김도윤 팀원은 </a:t>
            </a:r>
            <a:r>
              <a:rPr lang="en-US" altLang="ko-KR" sz="1400"/>
              <a:t>WBS</a:t>
            </a:r>
            <a:r>
              <a:rPr lang="ko-KR" altLang="en-US" sz="1400"/>
              <a:t>와 요구사항 정의서를 포함한 프로젝트 계획 문서를 작성하였습니다</a:t>
            </a:r>
            <a:r>
              <a:rPr lang="en-US" altLang="ko-KR" sz="1400"/>
              <a:t>.</a:t>
            </a:r>
          </a:p>
          <a:p>
            <a:pPr marL="0" indent="0">
              <a:spcBef>
                <a:spcPts val="2500"/>
              </a:spcBef>
              <a:buNone/>
            </a:pPr>
            <a:r>
              <a:rPr lang="ko-KR" altLang="en-US" sz="1400" b="1"/>
              <a:t>아이디어 기획서 작성</a:t>
            </a:r>
          </a:p>
          <a:p>
            <a:pPr marL="0" lvl="1" indent="0">
              <a:buNone/>
            </a:pPr>
            <a:r>
              <a:rPr lang="ko-KR" altLang="en-US" sz="1400"/>
              <a:t>아이디어 기획서와 제약 아이디어 초안을 작성하여 프로젝트의 방향성을 설정하였습니다</a:t>
            </a:r>
            <a:r>
              <a:rPr lang="en-US" altLang="ko-KR" sz="1400"/>
              <a:t>.</a:t>
            </a:r>
          </a:p>
          <a:p>
            <a:pPr marL="0" indent="0">
              <a:spcBef>
                <a:spcPts val="2500"/>
              </a:spcBef>
              <a:buNone/>
            </a:pPr>
            <a:r>
              <a:rPr lang="ko-KR" altLang="en-US" sz="1400" b="1"/>
              <a:t>시장 조사 완료</a:t>
            </a:r>
          </a:p>
          <a:p>
            <a:pPr marL="0" lvl="1" indent="0">
              <a:buNone/>
            </a:pPr>
            <a:r>
              <a:rPr lang="ko-KR" altLang="en-US" sz="1400"/>
              <a:t>제약 분야에서의 시장 조사를 완료하여 트렌드와 경쟁 상황을 분석하였습니다</a:t>
            </a:r>
            <a:r>
              <a:rPr lang="en-US" altLang="ko-KR" sz="1400"/>
              <a:t>.</a:t>
            </a:r>
          </a:p>
          <a:p>
            <a:pPr marL="0" indent="0">
              <a:spcBef>
                <a:spcPts val="2500"/>
              </a:spcBef>
              <a:buNone/>
            </a:pPr>
            <a:r>
              <a:rPr lang="ko-KR" altLang="en-US" sz="1400" b="1"/>
              <a:t>패션 기획 테스트</a:t>
            </a:r>
          </a:p>
          <a:p>
            <a:pPr marL="0" lvl="1" indent="0">
              <a:buNone/>
            </a:pPr>
            <a:r>
              <a:rPr lang="ko-KR" altLang="en-US" sz="1400"/>
              <a:t>패션 기획 프론트 테스트 구현을 통해 실제 테스트를 진행하였습니다</a:t>
            </a:r>
            <a:r>
              <a:rPr lang="en-US" altLang="ko-KR" sz="1400"/>
              <a:t>.</a:t>
            </a:r>
            <a:endParaRPr lang="ko-KR" altLang="en-US" sz="1400"/>
          </a:p>
        </p:txBody>
      </p:sp>
    </p:spTree>
    <p:extLst>
      <p:ext uri="{BB962C8B-B14F-4D97-AF65-F5344CB8AC3E}">
        <p14:creationId xmlns:p14="http://schemas.microsoft.com/office/powerpoint/2010/main" val="5466693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제목 1">
            <a:extLst>
              <a:ext uri="{FF2B5EF4-FFF2-40B4-BE49-F238E27FC236}">
                <a16:creationId xmlns:a16="http://schemas.microsoft.com/office/drawing/2014/main" id="{7BBF8281-8656-9C92-9E4F-2E761F7DE96F}"/>
              </a:ext>
            </a:extLst>
          </p:cNvPr>
          <p:cNvSpPr>
            <a:spLocks noGrp="1"/>
          </p:cNvSpPr>
          <p:nvPr>
            <p:ph type="title"/>
          </p:nvPr>
        </p:nvSpPr>
        <p:spPr>
          <a:xfrm>
            <a:off x="640080" y="914400"/>
            <a:ext cx="6291472" cy="1097280"/>
          </a:xfrm>
        </p:spPr>
        <p:txBody>
          <a:bodyPr vert="horz" lIns="91440" tIns="45720" rIns="91440" bIns="45720" rtlCol="0" anchor="t">
            <a:normAutofit/>
          </a:bodyPr>
          <a:lstStyle/>
          <a:p>
            <a:r>
              <a:rPr lang="ko-KR" altLang="en-US"/>
              <a:t>이용규</a:t>
            </a:r>
          </a:p>
        </p:txBody>
      </p:sp>
      <p:sp>
        <p:nvSpPr>
          <p:cNvPr id="4" name="내용 개체 틀 3">
            <a:extLst>
              <a:ext uri="{FF2B5EF4-FFF2-40B4-BE49-F238E27FC236}">
                <a16:creationId xmlns:a16="http://schemas.microsoft.com/office/drawing/2014/main" id="{0FC6ADA5-7916-3B8C-1826-556922EF3052}"/>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80" y="2176036"/>
            <a:ext cx="6291472" cy="4123944"/>
          </a:xfrm>
        </p:spPr>
        <p:txBody>
          <a:bodyPr>
            <a:normAutofit/>
          </a:bodyPr>
          <a:lstStyle/>
          <a:p>
            <a:pPr marL="0" indent="0">
              <a:spcBef>
                <a:spcPts val="2500"/>
              </a:spcBef>
              <a:buNone/>
            </a:pPr>
            <a:r>
              <a:rPr lang="ko-KR" altLang="en-US" sz="1400" b="1"/>
              <a:t>아이디어 기획서 작성</a:t>
            </a:r>
          </a:p>
          <a:p>
            <a:pPr marL="0" lvl="1" indent="0">
              <a:buNone/>
            </a:pPr>
            <a:r>
              <a:rPr lang="ko-KR" altLang="en-US" sz="1400"/>
              <a:t>팀원은 프로젝트 아이디어에 대한 기획서 초안을 작성 중단하였습니다</a:t>
            </a:r>
            <a:r>
              <a:rPr lang="en-US" altLang="ko-KR" sz="1400"/>
              <a:t>. </a:t>
            </a:r>
            <a:r>
              <a:rPr lang="ko-KR" altLang="en-US" sz="1400"/>
              <a:t>이 과정은 아이디어 구체화에 중요한 단계입니다</a:t>
            </a:r>
            <a:r>
              <a:rPr lang="en-US" altLang="ko-KR" sz="1400"/>
              <a:t>.</a:t>
            </a:r>
          </a:p>
          <a:p>
            <a:pPr marL="0" indent="0">
              <a:spcBef>
                <a:spcPts val="2500"/>
              </a:spcBef>
              <a:buNone/>
            </a:pPr>
            <a:r>
              <a:rPr lang="ko-KR" altLang="en-US" sz="1400" b="1"/>
              <a:t>시장 조사</a:t>
            </a:r>
          </a:p>
          <a:p>
            <a:pPr marL="0" lvl="1" indent="0">
              <a:buNone/>
            </a:pPr>
            <a:r>
              <a:rPr lang="ko-KR" altLang="en-US" sz="1400"/>
              <a:t>패션 관련 기업에 대한 시장 조사를 수행하여 현재 트렌드와 경쟁 업체 분석을 진행하였습니다</a:t>
            </a:r>
            <a:r>
              <a:rPr lang="en-US" altLang="ko-KR" sz="1400"/>
              <a:t>.</a:t>
            </a:r>
          </a:p>
          <a:p>
            <a:pPr marL="0" indent="0">
              <a:spcBef>
                <a:spcPts val="2500"/>
              </a:spcBef>
              <a:buNone/>
            </a:pPr>
            <a:r>
              <a:rPr lang="ko-KR" altLang="en-US" sz="1400" b="1"/>
              <a:t>요구사항 정의서</a:t>
            </a:r>
          </a:p>
          <a:p>
            <a:pPr marL="0" lvl="1" indent="0">
              <a:buNone/>
            </a:pPr>
            <a:r>
              <a:rPr lang="ko-KR" altLang="en-US" sz="1400"/>
              <a:t>요구사항 정의서의 초안을 작성하여 프로젝트의 목표와 필요 조건을 명확히 하였습니다</a:t>
            </a:r>
            <a:r>
              <a:rPr lang="en-US" altLang="ko-KR" sz="1400"/>
              <a:t>.</a:t>
            </a:r>
            <a:endParaRPr lang="ko-KR" altLang="en-US" sz="1400"/>
          </a:p>
        </p:txBody>
      </p:sp>
      <p:pic>
        <p:nvPicPr>
          <p:cNvPr id="5" name="내용 개체 틀 4" descr="디자인 스튜디오, 디지털 태블릿의 책상에 패션 스케치.">
            <a:extLst>
              <a:ext uri="{FF2B5EF4-FFF2-40B4-BE49-F238E27FC236}">
                <a16:creationId xmlns:a16="http://schemas.microsoft.com/office/drawing/2014/main" id="{173E6A3A-A332-4E39-B4AB-3A40E6543C17}"/>
              </a:ext>
            </a:extLst>
          </p:cNvPr>
          <p:cNvPicPr>
            <a:picLocks noGrp="1" noChangeAspect="1"/>
          </p:cNvPicPr>
          <p:nvPr>
            <p:ph sz="half" idx="1"/>
          </p:nvPr>
        </p:nvPicPr>
        <p:blipFill>
          <a:blip r:embed="rId3"/>
          <a:srcRect l="28332" r="16661"/>
          <a:stretch>
            <a:fillRect/>
          </a:stretch>
        </p:blipFill>
        <p:spPr>
          <a:xfrm>
            <a:off x="7776429" y="914400"/>
            <a:ext cx="4414591" cy="5357106"/>
          </a:xfrm>
          <a:prstGeom prst="rect">
            <a:avLst/>
          </a:prstGeom>
        </p:spPr>
      </p:pic>
      <p:cxnSp>
        <p:nvCxnSpPr>
          <p:cNvPr id="14" name="Straight Connector 13">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774468" y="6271515"/>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82648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8FCE029E-5073-4498-8104-8427AA987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제목 1">
            <a:extLst>
              <a:ext uri="{FF2B5EF4-FFF2-40B4-BE49-F238E27FC236}">
                <a16:creationId xmlns:a16="http://schemas.microsoft.com/office/drawing/2014/main" id="{DE64A718-A810-1AA9-6B4F-68281CD101B4}"/>
              </a:ext>
            </a:extLst>
          </p:cNvPr>
          <p:cNvSpPr>
            <a:spLocks noGrp="1"/>
          </p:cNvSpPr>
          <p:nvPr>
            <p:ph type="title"/>
          </p:nvPr>
        </p:nvSpPr>
        <p:spPr>
          <a:xfrm>
            <a:off x="640080" y="914401"/>
            <a:ext cx="4306824" cy="1477817"/>
          </a:xfrm>
        </p:spPr>
        <p:txBody>
          <a:bodyPr vert="horz" lIns="91440" tIns="45720" rIns="91440" bIns="45720" rtlCol="0" anchor="t">
            <a:normAutofit/>
          </a:bodyPr>
          <a:lstStyle/>
          <a:p>
            <a:r>
              <a:rPr lang="ko-KR" altLang="en-US"/>
              <a:t>허한결</a:t>
            </a:r>
          </a:p>
        </p:txBody>
      </p:sp>
      <p:pic>
        <p:nvPicPr>
          <p:cNvPr id="5" name="내용 개체 틀 4" descr="건축 청사진 위에 있는 테크니컬 펜, 배경의 안경과 커피 머그잔">
            <a:extLst>
              <a:ext uri="{FF2B5EF4-FFF2-40B4-BE49-F238E27FC236}">
                <a16:creationId xmlns:a16="http://schemas.microsoft.com/office/drawing/2014/main" id="{9A39D198-1544-47BA-A6A2-9CBFEE003F73}"/>
              </a:ext>
            </a:extLst>
          </p:cNvPr>
          <p:cNvPicPr>
            <a:picLocks noGrp="1" noChangeAspect="1"/>
          </p:cNvPicPr>
          <p:nvPr>
            <p:ph sz="half" idx="1"/>
          </p:nvPr>
        </p:nvPicPr>
        <p:blipFill>
          <a:blip r:embed="rId3"/>
          <a:srcRect l="1308" r="9190" b="1"/>
          <a:stretch>
            <a:fillRect/>
          </a:stretch>
        </p:blipFill>
        <p:spPr>
          <a:xfrm>
            <a:off x="1" y="2613892"/>
            <a:ext cx="4946906" cy="3689359"/>
          </a:xfrm>
          <a:prstGeom prst="rect">
            <a:avLst/>
          </a:prstGeom>
        </p:spPr>
      </p:pic>
      <p:cxnSp>
        <p:nvCxnSpPr>
          <p:cNvPr id="14" name="Straight Connector 13">
            <a:extLst>
              <a:ext uri="{FF2B5EF4-FFF2-40B4-BE49-F238E27FC236}">
                <a16:creationId xmlns:a16="http://schemas.microsoft.com/office/drawing/2014/main" id="{BEFF515C-2521-4964-9DAC-2BFB8EC86A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74446"/>
            <a:ext cx="4946904"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내용 개체 틀 3">
            <a:extLst>
              <a:ext uri="{FF2B5EF4-FFF2-40B4-BE49-F238E27FC236}">
                <a16:creationId xmlns:a16="http://schemas.microsoft.com/office/drawing/2014/main" id="{11F9A49A-0A35-BFD2-416B-CEC3FA5B0DA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8" y="1014984"/>
            <a:ext cx="5889161" cy="5288267"/>
          </a:xfrm>
        </p:spPr>
        <p:txBody>
          <a:bodyPr>
            <a:normAutofit/>
          </a:bodyPr>
          <a:lstStyle/>
          <a:p>
            <a:pPr marL="0" indent="0">
              <a:spcBef>
                <a:spcPts val="2500"/>
              </a:spcBef>
              <a:buNone/>
            </a:pPr>
            <a:r>
              <a:rPr lang="ko-KR" altLang="en-US" sz="1400" b="1"/>
              <a:t>법률 기획안 작성</a:t>
            </a:r>
          </a:p>
          <a:p>
            <a:pPr marL="0" lvl="1" indent="0">
              <a:buNone/>
            </a:pPr>
            <a:r>
              <a:rPr lang="ko-KR" altLang="en-US" sz="1400"/>
              <a:t>법률 기획안 및 아이디어 기획서 작성을 통해 팀의 전략적 방향성을 설정했습니다</a:t>
            </a:r>
            <a:r>
              <a:rPr lang="en-US" altLang="ko-KR" sz="1400"/>
              <a:t>.</a:t>
            </a:r>
          </a:p>
          <a:p>
            <a:pPr marL="0" indent="0">
              <a:spcBef>
                <a:spcPts val="2500"/>
              </a:spcBef>
              <a:buNone/>
            </a:pPr>
            <a:r>
              <a:rPr lang="ko-KR" altLang="en-US" sz="1400" b="1"/>
              <a:t>타겟 기업 리서치</a:t>
            </a:r>
          </a:p>
          <a:p>
            <a:pPr marL="0" lvl="1" indent="0">
              <a:buNone/>
            </a:pPr>
            <a:r>
              <a:rPr lang="ko-KR" altLang="en-US" sz="1400"/>
              <a:t>타겟 기업에 대한 리서치를 진행하여 시장 내 위치와 경쟁력을 분석했습니다</a:t>
            </a:r>
            <a:r>
              <a:rPr lang="en-US" altLang="ko-KR" sz="1400"/>
              <a:t>.</a:t>
            </a:r>
          </a:p>
          <a:p>
            <a:pPr marL="0" indent="0">
              <a:spcBef>
                <a:spcPts val="2500"/>
              </a:spcBef>
              <a:buNone/>
            </a:pPr>
            <a:r>
              <a:rPr lang="ko-KR" altLang="en-US" sz="1400" b="1"/>
              <a:t>게임 분야 시장 조사</a:t>
            </a:r>
          </a:p>
          <a:p>
            <a:pPr marL="0" lvl="1" indent="0">
              <a:buNone/>
            </a:pPr>
            <a:r>
              <a:rPr lang="ko-KR" altLang="en-US" sz="1400"/>
              <a:t>게임 산업에 대한 시장 조사를 수행하여 최신 트렌드와 경쟁 환경을 이해했습니다</a:t>
            </a:r>
            <a:r>
              <a:rPr lang="en-US" altLang="ko-KR" sz="1400"/>
              <a:t>.</a:t>
            </a:r>
          </a:p>
          <a:p>
            <a:pPr marL="0" indent="0">
              <a:spcBef>
                <a:spcPts val="2500"/>
              </a:spcBef>
              <a:buNone/>
            </a:pPr>
            <a:r>
              <a:rPr lang="ko-KR" altLang="en-US" sz="1400" b="1"/>
              <a:t>요구사항 정의서 작성</a:t>
            </a:r>
          </a:p>
          <a:p>
            <a:pPr marL="0" lvl="1" indent="0">
              <a:buNone/>
            </a:pPr>
            <a:r>
              <a:rPr lang="ko-KR" altLang="en-US" sz="1400"/>
              <a:t>프로젝트 요구사항 정의서를 작성하여 팀의 목표와 필요를 명확히 했습니다</a:t>
            </a:r>
            <a:r>
              <a:rPr lang="en-US" altLang="ko-KR" sz="1400"/>
              <a:t>.</a:t>
            </a:r>
            <a:endParaRPr lang="ko-KR" altLang="en-US" sz="1400"/>
          </a:p>
        </p:txBody>
      </p:sp>
    </p:spTree>
    <p:extLst>
      <p:ext uri="{BB962C8B-B14F-4D97-AF65-F5344CB8AC3E}">
        <p14:creationId xmlns:p14="http://schemas.microsoft.com/office/powerpoint/2010/main" val="24276888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8FCE029E-5073-4498-8104-8427AA987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제목 1">
            <a:extLst>
              <a:ext uri="{FF2B5EF4-FFF2-40B4-BE49-F238E27FC236}">
                <a16:creationId xmlns:a16="http://schemas.microsoft.com/office/drawing/2014/main" id="{C9BFB0AE-CA7D-8EE3-42D0-28F5F61A98A2}"/>
              </a:ext>
            </a:extLst>
          </p:cNvPr>
          <p:cNvSpPr>
            <a:spLocks noGrp="1"/>
          </p:cNvSpPr>
          <p:nvPr>
            <p:ph type="title"/>
          </p:nvPr>
        </p:nvSpPr>
        <p:spPr>
          <a:xfrm>
            <a:off x="640080" y="914401"/>
            <a:ext cx="4306824" cy="1477817"/>
          </a:xfrm>
        </p:spPr>
        <p:txBody>
          <a:bodyPr vert="horz" lIns="91440" tIns="45720" rIns="91440" bIns="45720" rtlCol="0" anchor="t">
            <a:normAutofit/>
          </a:bodyPr>
          <a:lstStyle/>
          <a:p>
            <a:r>
              <a:rPr lang="ko-KR" altLang="en-US"/>
              <a:t>최문영</a:t>
            </a:r>
          </a:p>
        </p:txBody>
      </p:sp>
      <p:pic>
        <p:nvPicPr>
          <p:cNvPr id="5" name="내용 개체 틀 4" descr="책상에서 새로운 스케치를 하고 있는 패션 디자이너의 크롭 샷">
            <a:extLst>
              <a:ext uri="{FF2B5EF4-FFF2-40B4-BE49-F238E27FC236}">
                <a16:creationId xmlns:a16="http://schemas.microsoft.com/office/drawing/2014/main" id="{557B6A92-FB2C-4A09-A15F-4D22E7F57BA7}"/>
              </a:ext>
            </a:extLst>
          </p:cNvPr>
          <p:cNvPicPr>
            <a:picLocks noGrp="1" noChangeAspect="1"/>
          </p:cNvPicPr>
          <p:nvPr>
            <p:ph sz="half" idx="1"/>
          </p:nvPr>
        </p:nvPicPr>
        <p:blipFill>
          <a:blip r:embed="rId3"/>
          <a:srcRect r="10499" b="1"/>
          <a:stretch>
            <a:fillRect/>
          </a:stretch>
        </p:blipFill>
        <p:spPr>
          <a:xfrm>
            <a:off x="1" y="2613892"/>
            <a:ext cx="4946906" cy="3689359"/>
          </a:xfrm>
          <a:prstGeom prst="rect">
            <a:avLst/>
          </a:prstGeom>
        </p:spPr>
      </p:pic>
      <p:cxnSp>
        <p:nvCxnSpPr>
          <p:cNvPr id="14" name="Straight Connector 13">
            <a:extLst>
              <a:ext uri="{FF2B5EF4-FFF2-40B4-BE49-F238E27FC236}">
                <a16:creationId xmlns:a16="http://schemas.microsoft.com/office/drawing/2014/main" id="{BEFF515C-2521-4964-9DAC-2BFB8EC86A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74446"/>
            <a:ext cx="4946904"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내용 개체 틀 3">
            <a:extLst>
              <a:ext uri="{FF2B5EF4-FFF2-40B4-BE49-F238E27FC236}">
                <a16:creationId xmlns:a16="http://schemas.microsoft.com/office/drawing/2014/main" id="{BE9C7196-269A-4FD7-C279-4BFE88F755B3}"/>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8" y="1014984"/>
            <a:ext cx="5889161" cy="4441919"/>
          </a:xfrm>
        </p:spPr>
        <p:txBody>
          <a:bodyPr>
            <a:normAutofit/>
          </a:bodyPr>
          <a:lstStyle/>
          <a:p>
            <a:pPr marL="0" indent="0">
              <a:spcBef>
                <a:spcPts val="2500"/>
              </a:spcBef>
              <a:buNone/>
            </a:pPr>
            <a:r>
              <a:rPr lang="ko-KR" altLang="en-US" sz="1400" b="1" dirty="0"/>
              <a:t>법률 기획서 작성</a:t>
            </a:r>
          </a:p>
          <a:p>
            <a:pPr marL="0" lvl="1" indent="0">
              <a:buNone/>
            </a:pPr>
            <a:r>
              <a:rPr lang="ko-KR" altLang="en-US" sz="1400" dirty="0"/>
              <a:t>팀원은 법률 기획서를 작성하여 프로젝트의 법적 요구사항을 충족하도록 했습니다</a:t>
            </a:r>
            <a:r>
              <a:rPr lang="en-US" altLang="ko-KR" sz="1400" dirty="0"/>
              <a:t>.</a:t>
            </a:r>
          </a:p>
          <a:p>
            <a:pPr marL="0" indent="0">
              <a:spcBef>
                <a:spcPts val="2500"/>
              </a:spcBef>
              <a:buNone/>
            </a:pPr>
            <a:r>
              <a:rPr lang="ko-KR" altLang="en-US" sz="1400" b="1" dirty="0"/>
              <a:t>패션 정보 데이터 수집</a:t>
            </a:r>
          </a:p>
          <a:p>
            <a:pPr marL="0" lvl="1" indent="0">
              <a:buNone/>
            </a:pPr>
            <a:r>
              <a:rPr lang="ko-KR" altLang="en-US" sz="1400" dirty="0"/>
              <a:t>패션 관련 데이터 자료를 수집하여 최신 패션 트렌드를 분석하였습니다</a:t>
            </a:r>
            <a:r>
              <a:rPr lang="en-US" altLang="ko-KR" sz="1400" dirty="0"/>
              <a:t>.</a:t>
            </a:r>
          </a:p>
          <a:p>
            <a:pPr marL="0" indent="0">
              <a:spcBef>
                <a:spcPts val="2500"/>
              </a:spcBef>
              <a:buNone/>
            </a:pPr>
            <a:r>
              <a:rPr lang="ko-KR" altLang="en-US" sz="1400" b="1" dirty="0"/>
              <a:t>패션 트렌드 기획서 작성</a:t>
            </a:r>
          </a:p>
          <a:p>
            <a:pPr marL="0" lvl="1" indent="0">
              <a:buNone/>
            </a:pPr>
            <a:r>
              <a:rPr lang="ko-KR" altLang="en-US" sz="1400" dirty="0"/>
              <a:t>패션 트렌드를 기반으로 기획서를 작성하여 미래의 패션 방향을 제시하였습니다</a:t>
            </a:r>
            <a:r>
              <a:rPr lang="en-US" altLang="ko-KR" sz="1400" dirty="0"/>
              <a:t>.</a:t>
            </a:r>
          </a:p>
          <a:p>
            <a:pPr marL="0" indent="0">
              <a:spcBef>
                <a:spcPts val="2500"/>
              </a:spcBef>
              <a:buNone/>
            </a:pPr>
            <a:r>
              <a:rPr lang="ko-KR" altLang="en-US" sz="1400" b="1" dirty="0"/>
              <a:t>요구사항 정의서 및 화면 설계서</a:t>
            </a:r>
          </a:p>
          <a:p>
            <a:pPr marL="0" lvl="1" indent="0">
              <a:buNone/>
            </a:pPr>
            <a:r>
              <a:rPr lang="ko-KR" altLang="en-US" sz="1400" dirty="0"/>
              <a:t>요구사항 정의서와 화면 설계서를 작성하여 프로젝트의 디자인과 기능을 명확히 했습니다</a:t>
            </a:r>
            <a:r>
              <a:rPr lang="en-US" altLang="ko-KR" sz="1400" dirty="0"/>
              <a:t>.</a:t>
            </a:r>
            <a:endParaRPr lang="ko-KR" altLang="en-US" sz="1400" dirty="0"/>
          </a:p>
        </p:txBody>
      </p:sp>
    </p:spTree>
    <p:extLst>
      <p:ext uri="{BB962C8B-B14F-4D97-AF65-F5344CB8AC3E}">
        <p14:creationId xmlns:p14="http://schemas.microsoft.com/office/powerpoint/2010/main" val="35398897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제목 1">
            <a:extLst>
              <a:ext uri="{FF2B5EF4-FFF2-40B4-BE49-F238E27FC236}">
                <a16:creationId xmlns:a16="http://schemas.microsoft.com/office/drawing/2014/main" id="{E52C9A49-E3C1-6139-6C8E-2A592C40F9C6}"/>
              </a:ext>
            </a:extLst>
          </p:cNvPr>
          <p:cNvSpPr>
            <a:spLocks noGrp="1"/>
          </p:cNvSpPr>
          <p:nvPr>
            <p:ph type="title"/>
          </p:nvPr>
        </p:nvSpPr>
        <p:spPr>
          <a:xfrm>
            <a:off x="640080" y="914400"/>
            <a:ext cx="6291472" cy="1097280"/>
          </a:xfrm>
        </p:spPr>
        <p:txBody>
          <a:bodyPr vert="horz" lIns="91440" tIns="45720" rIns="91440" bIns="45720" rtlCol="0" anchor="t">
            <a:normAutofit/>
          </a:bodyPr>
          <a:lstStyle/>
          <a:p>
            <a:r>
              <a:rPr lang="ko-KR" altLang="en-US"/>
              <a:t>손현성</a:t>
            </a:r>
          </a:p>
        </p:txBody>
      </p:sp>
      <p:sp>
        <p:nvSpPr>
          <p:cNvPr id="4" name="내용 개체 틀 3">
            <a:extLst>
              <a:ext uri="{FF2B5EF4-FFF2-40B4-BE49-F238E27FC236}">
                <a16:creationId xmlns:a16="http://schemas.microsoft.com/office/drawing/2014/main" id="{2B18F632-0AED-1CC1-78D9-8094C6396FC3}"/>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80" y="2176036"/>
            <a:ext cx="6291472" cy="4123944"/>
          </a:xfrm>
        </p:spPr>
        <p:txBody>
          <a:bodyPr>
            <a:normAutofit/>
          </a:bodyPr>
          <a:lstStyle/>
          <a:p>
            <a:pPr marL="0" indent="0">
              <a:spcBef>
                <a:spcPts val="2500"/>
              </a:spcBef>
              <a:buNone/>
            </a:pPr>
            <a:r>
              <a:rPr lang="ko-KR" altLang="en-US" sz="1400" b="1"/>
              <a:t>마케팅 서비스 기획</a:t>
            </a:r>
          </a:p>
          <a:p>
            <a:pPr marL="0" lvl="1" indent="0">
              <a:buNone/>
            </a:pPr>
            <a:r>
              <a:rPr lang="ko-KR" altLang="en-US" sz="1400"/>
              <a:t>손현성 팀원은 마케팅 서비스 기획서 초안을 작성하여 프로젝트의 방향성을 수립하였습니다</a:t>
            </a:r>
            <a:r>
              <a:rPr lang="en-US" altLang="ko-KR" sz="1400"/>
              <a:t>.</a:t>
            </a:r>
          </a:p>
          <a:p>
            <a:pPr marL="0" indent="0">
              <a:spcBef>
                <a:spcPts val="2500"/>
              </a:spcBef>
              <a:buNone/>
            </a:pPr>
            <a:r>
              <a:rPr lang="ko-KR" altLang="en-US" sz="1400" b="1"/>
              <a:t>패션 트렌드 조사</a:t>
            </a:r>
          </a:p>
          <a:p>
            <a:pPr marL="0" lvl="1" indent="0">
              <a:buNone/>
            </a:pPr>
            <a:r>
              <a:rPr lang="ko-KR" altLang="en-US" sz="1400"/>
              <a:t>패션 트렌드 서비스 기획서를 초안 작성하고 시장 조사를 통해 패션 산업의 최신 동향을 분석하였습니다</a:t>
            </a:r>
            <a:r>
              <a:rPr lang="en-US" altLang="ko-KR" sz="1400"/>
              <a:t>.</a:t>
            </a:r>
          </a:p>
          <a:p>
            <a:pPr marL="0" indent="0">
              <a:spcBef>
                <a:spcPts val="2500"/>
              </a:spcBef>
              <a:buNone/>
            </a:pPr>
            <a:r>
              <a:rPr lang="ko-KR" altLang="en-US" sz="1400" b="1"/>
              <a:t>의료기기 </a:t>
            </a:r>
            <a:r>
              <a:rPr lang="en-US" altLang="ko-KR" sz="1400" b="1"/>
              <a:t>AI </a:t>
            </a:r>
            <a:r>
              <a:rPr lang="ko-KR" altLang="en-US" sz="1400" b="1"/>
              <a:t>서비스</a:t>
            </a:r>
          </a:p>
          <a:p>
            <a:pPr marL="0" lvl="1" indent="0">
              <a:buNone/>
            </a:pPr>
            <a:r>
              <a:rPr lang="ko-KR" altLang="en-US" sz="1400"/>
              <a:t>의료기기 </a:t>
            </a:r>
            <a:r>
              <a:rPr lang="en-US" altLang="ko-KR" sz="1400"/>
              <a:t>AI </a:t>
            </a:r>
            <a:r>
              <a:rPr lang="ko-KR" altLang="en-US" sz="1400"/>
              <a:t>서비스 시장 조사를 통해 의료 기기 분야의 인사이트를 제공하였습니다</a:t>
            </a:r>
            <a:r>
              <a:rPr lang="en-US" altLang="ko-KR" sz="1400"/>
              <a:t>.</a:t>
            </a:r>
            <a:endParaRPr lang="ko-KR" altLang="en-US" sz="1400"/>
          </a:p>
        </p:txBody>
      </p:sp>
      <p:pic>
        <p:nvPicPr>
          <p:cNvPr id="5" name="내용 개체 틀 4" descr="책상 위에 놓인 노트북, 스마트폰, 안경, 서류 등을 자른 사진">
            <a:extLst>
              <a:ext uri="{FF2B5EF4-FFF2-40B4-BE49-F238E27FC236}">
                <a16:creationId xmlns:a16="http://schemas.microsoft.com/office/drawing/2014/main" id="{1DACE9E3-BFDC-4501-BD87-2E87CEAE419D}"/>
              </a:ext>
            </a:extLst>
          </p:cNvPr>
          <p:cNvPicPr>
            <a:picLocks noGrp="1" noChangeAspect="1"/>
          </p:cNvPicPr>
          <p:nvPr>
            <p:ph sz="half" idx="1"/>
          </p:nvPr>
        </p:nvPicPr>
        <p:blipFill>
          <a:blip r:embed="rId3"/>
          <a:srcRect l="29727" r="15267"/>
          <a:stretch>
            <a:fillRect/>
          </a:stretch>
        </p:blipFill>
        <p:spPr>
          <a:xfrm>
            <a:off x="7776429" y="914400"/>
            <a:ext cx="4414591" cy="5357106"/>
          </a:xfrm>
          <a:prstGeom prst="rect">
            <a:avLst/>
          </a:prstGeom>
        </p:spPr>
      </p:pic>
      <p:cxnSp>
        <p:nvCxnSpPr>
          <p:cNvPr id="14" name="Straight Connector 13">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774468" y="6271515"/>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40428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312</TotalTime>
  <Words>1901</Words>
  <Application>Microsoft Office PowerPoint</Application>
  <PresentationFormat>와이드스크린</PresentationFormat>
  <Paragraphs>179</Paragraphs>
  <Slides>20</Slides>
  <Notes>18</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20</vt:i4>
      </vt:variant>
    </vt:vector>
  </HeadingPairs>
  <TitlesOfParts>
    <vt:vector size="26" baseType="lpstr">
      <vt:lpstr>Malgun Gothic</vt:lpstr>
      <vt:lpstr>Malgun Gothic</vt:lpstr>
      <vt:lpstr>Arial</vt:lpstr>
      <vt:lpstr>Bierstadt</vt:lpstr>
      <vt:lpstr>Grandview Display</vt:lpstr>
      <vt:lpstr>DashVTI</vt:lpstr>
      <vt:lpstr>팀_JJS 2주차 1차 주간스탠딩</vt:lpstr>
      <vt:lpstr>발표 주제</vt:lpstr>
      <vt:lpstr>금주 진행 목표 및 진행 상황</vt:lpstr>
      <vt:lpstr>프로젝트 주제 결정</vt:lpstr>
      <vt:lpstr>데이터 수집방법 및 사용기술 </vt:lpstr>
      <vt:lpstr>기획서 초안 작성</vt:lpstr>
      <vt:lpstr>금주 제출 문서 작성</vt:lpstr>
      <vt:lpstr>프로젝트 주제</vt:lpstr>
      <vt:lpstr>프로젝트 주제</vt:lpstr>
      <vt:lpstr>기술 아키텍처</vt:lpstr>
      <vt:lpstr>WBS, 요구사항 명세서, 기획서 초안, 화면 설계서 작성 완료</vt:lpstr>
      <vt:lpstr>PowerPoint 프레젠테이션</vt:lpstr>
      <vt:lpstr>주요기능 </vt:lpstr>
      <vt:lpstr>PowerPoint 프레젠테이션</vt:lpstr>
      <vt:lpstr>팀원별 진행 상황</vt:lpstr>
      <vt:lpstr>김도윤</vt:lpstr>
      <vt:lpstr>이용규</vt:lpstr>
      <vt:lpstr>허한결</vt:lpstr>
      <vt:lpstr>최문영</vt:lpstr>
      <vt:lpstr>손현성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ㅇㄷㄹ ㄴㅇㄹ</dc:creator>
  <cp:lastModifiedBy>ㅇㄷㄹ ㄴㅇㄹ</cp:lastModifiedBy>
  <cp:revision>9</cp:revision>
  <dcterms:created xsi:type="dcterms:W3CDTF">2025-07-07T00:07:10Z</dcterms:created>
  <dcterms:modified xsi:type="dcterms:W3CDTF">2025-07-21T02:26:06Z</dcterms:modified>
</cp:coreProperties>
</file>