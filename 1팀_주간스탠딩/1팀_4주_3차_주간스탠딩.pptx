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80" r:id="rId22"/>
    <p:sldId id="276" r:id="rId23"/>
    <p:sldId id="277" r:id="rId24"/>
    <p:sldId id="278" r:id="rId25"/>
    <p:sldId id="279" r:id="rId26"/>
  </p:sldIdLst>
  <p:sldSz cx="18288000" cy="10287000"/>
  <p:notesSz cx="6858000" cy="9144000"/>
  <p:embeddedFontLst>
    <p:embeddedFont>
      <p:font typeface="Pretendard Black" panose="020B0600000101010101" charset="-127"/>
      <p:bold r:id="rId28"/>
    </p:embeddedFont>
    <p:embeddedFont>
      <p:font typeface="Pretendard Medium" panose="020B0600000101010101" charset="-127"/>
      <p:regular r:id="rId29"/>
    </p:embeddedFont>
    <p:embeddedFont>
      <p:font typeface="Oswald SemiBold" panose="020F0502020204030204" pitchFamily="2" charset="0"/>
      <p:regular r:id="rId30"/>
      <p:bold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5471" autoAdjust="0"/>
  </p:normalViewPr>
  <p:slideViewPr>
    <p:cSldViewPr snapToGrid="0">
      <p:cViewPr varScale="1">
        <p:scale>
          <a:sx n="68" d="100"/>
          <a:sy n="68" d="100"/>
        </p:scale>
        <p:origin x="920" y="1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6f51b103cb_0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g36f51b103cb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70bec3b5c0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g370bec3b5c0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6f51b103cb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g36f51b103cb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6f51b103cb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g36f51b103cb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6f51b103cb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g36f51b103cb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6f51b103cb_0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g36f51b103cb_0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6f51b103cb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g36f51b103cb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6f51b103cb_0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g36f51b103cb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6f51b103cb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g36f51b103cb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6f51b10810_4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g36f51b10810_4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6f51b1081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g36f51b1081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6f51b10810_4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g36f51b10810_4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70bec3b5c0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59" name="Google Shape;359;g370bec3b5c0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6f51b103cb_0_1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g36f51b103cb_0_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6f51b10810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g36f51b10810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6f51b10810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g36f51b10810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6f51b10810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g36f51b10810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>
          <a:extLst>
            <a:ext uri="{FF2B5EF4-FFF2-40B4-BE49-F238E27FC236}">
              <a16:creationId xmlns:a16="http://schemas.microsoft.com/office/drawing/2014/main" id="{A5869A8D-E056-7378-C053-533B21291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6f51b10810_0_32:notes">
            <a:extLst>
              <a:ext uri="{FF2B5EF4-FFF2-40B4-BE49-F238E27FC236}">
                <a16:creationId xmlns:a16="http://schemas.microsoft.com/office/drawing/2014/main" id="{BA7BE421-B639-C742-4ADE-6B36FA47C5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g36f51b10810_0_32:notes">
            <a:extLst>
              <a:ext uri="{FF2B5EF4-FFF2-40B4-BE49-F238E27FC236}">
                <a16:creationId xmlns:a16="http://schemas.microsoft.com/office/drawing/2014/main" id="{4BC4D146-76A9-7881-84BB-79DD6C24A2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16884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6f51b103cb_0_1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" name="Google Shape;443;g36f51b103cb_0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2" name="Google Shape;45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3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3.png"/><Relationship Id="rId10" Type="http://schemas.openxmlformats.org/officeDocument/2006/relationships/image" Target="../media/image22.png"/><Relationship Id="rId4" Type="http://schemas.openxmlformats.org/officeDocument/2006/relationships/image" Target="../media/image4.png"/><Relationship Id="rId9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image" Target="../media/image59.png"/><Relationship Id="rId3" Type="http://schemas.openxmlformats.org/officeDocument/2006/relationships/image" Target="../media/image1.png"/><Relationship Id="rId7" Type="http://schemas.openxmlformats.org/officeDocument/2006/relationships/image" Target="../media/image53.png"/><Relationship Id="rId12" Type="http://schemas.openxmlformats.org/officeDocument/2006/relationships/image" Target="../media/image5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11" Type="http://schemas.openxmlformats.org/officeDocument/2006/relationships/image" Target="../media/image57.png"/><Relationship Id="rId5" Type="http://schemas.openxmlformats.org/officeDocument/2006/relationships/image" Target="../media/image3.png"/><Relationship Id="rId10" Type="http://schemas.openxmlformats.org/officeDocument/2006/relationships/image" Target="../media/image56.png"/><Relationship Id="rId4" Type="http://schemas.openxmlformats.org/officeDocument/2006/relationships/image" Target="../media/image4.png"/><Relationship Id="rId9" Type="http://schemas.openxmlformats.org/officeDocument/2006/relationships/image" Target="../media/image55.png"/><Relationship Id="rId14" Type="http://schemas.openxmlformats.org/officeDocument/2006/relationships/image" Target="../media/image6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F3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29800" y="2705100"/>
            <a:ext cx="8661400" cy="8877300"/>
          </a:xfrm>
          <a:prstGeom prst="rect">
            <a:avLst/>
          </a:prstGeom>
          <a:noFill/>
          <a:ln>
            <a:noFill/>
          </a:ln>
          <a:effectLst>
            <a:outerShdw blurRad="466322" dist="133161" dir="1800000">
              <a:srgbClr val="000000">
                <a:alpha val="9803"/>
              </a:srgbClr>
            </a:outerShdw>
          </a:effectLst>
        </p:spPr>
      </p:pic>
      <p:pic>
        <p:nvPicPr>
          <p:cNvPr id="85" name="Google Shape;85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42500" y="2717800"/>
            <a:ext cx="8661400" cy="8877300"/>
          </a:xfrm>
          <a:prstGeom prst="rect">
            <a:avLst/>
          </a:prstGeom>
          <a:noFill/>
          <a:ln>
            <a:noFill/>
          </a:ln>
          <a:effectLst>
            <a:outerShdw blurRad="466322" dist="199741" dir="12600000">
              <a:srgbClr val="FFFFFF">
                <a:alpha val="49803"/>
              </a:srgbClr>
            </a:outerShdw>
          </a:effectLst>
        </p:spPr>
      </p:pic>
      <p:pic>
        <p:nvPicPr>
          <p:cNvPr id="86" name="Google Shape;86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67800" y="1206500"/>
            <a:ext cx="2108200" cy="2159000"/>
          </a:xfrm>
          <a:prstGeom prst="rect">
            <a:avLst/>
          </a:prstGeom>
          <a:noFill/>
          <a:ln>
            <a:noFill/>
          </a:ln>
          <a:effectLst>
            <a:outerShdw blurRad="27558" dist="32371" dir="1800000">
              <a:srgbClr val="000000">
                <a:alpha val="9803"/>
              </a:srgbClr>
            </a:outerShdw>
          </a:effectLst>
        </p:spPr>
      </p:pic>
      <p:pic>
        <p:nvPicPr>
          <p:cNvPr id="87" name="Google Shape;87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67800" y="1206500"/>
            <a:ext cx="2108200" cy="2159000"/>
          </a:xfrm>
          <a:prstGeom prst="rect">
            <a:avLst/>
          </a:prstGeom>
          <a:noFill/>
          <a:ln>
            <a:noFill/>
          </a:ln>
          <a:effectLst>
            <a:outerShdw blurRad="27558" dist="48557" dir="12600000">
              <a:srgbClr val="FFFFFF">
                <a:alpha val="60000"/>
              </a:srgbClr>
            </a:outerShdw>
          </a:effectLst>
        </p:spPr>
      </p:pic>
      <p:pic>
        <p:nvPicPr>
          <p:cNvPr id="88" name="Google Shape;88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764000" y="762000"/>
            <a:ext cx="482600" cy="15113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1054100" y="3937000"/>
            <a:ext cx="10477500" cy="21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0" i="0" u="none" strike="noStrike" cap="none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Arial"/>
              </a:rPr>
              <a:t>1</a:t>
            </a:r>
            <a:r>
              <a:rPr lang="en-US" sz="7200" b="0" i="0" u="none" strike="noStrike" cap="none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팀</a:t>
            </a:r>
            <a:r>
              <a:rPr lang="en-US" sz="7200" b="0" i="0" u="none" strike="noStrike" cap="none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Arial"/>
              </a:rPr>
              <a:t>_JJS</a:t>
            </a:r>
            <a:br>
              <a:rPr lang="en-US" sz="7200" b="0" i="0" u="none" strike="noStrike" cap="none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Arial"/>
              </a:rPr>
            </a:br>
            <a:endParaRPr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marR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4</a:t>
            </a:r>
            <a:r>
              <a:rPr lang="en-US" sz="7200" b="0" i="0" u="none" strike="noStrike" cap="none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주차</a:t>
            </a:r>
            <a:r>
              <a:rPr lang="en-US" sz="7200" b="0" i="0" u="none" strike="noStrike" cap="none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Arial"/>
              </a:rPr>
              <a:t> 3</a:t>
            </a:r>
            <a:r>
              <a:rPr lang="ko-KR" altLang="en-US" sz="7200" b="0" i="0" u="none" strike="noStrike" cap="none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Arial"/>
              </a:rPr>
              <a:t>차 </a:t>
            </a:r>
            <a:r>
              <a:rPr lang="en-US" sz="7200" b="0" i="0" u="none" strike="noStrike" cap="none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주간</a:t>
            </a:r>
            <a:r>
              <a:rPr lang="en-US" sz="7200" b="0" i="0" u="none" strike="noStrike" cap="none" dirty="0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Arial"/>
              </a:rPr>
              <a:t> </a:t>
            </a:r>
            <a:r>
              <a:rPr lang="en-US" sz="7200" b="0" i="0" u="none" strike="noStrike" cap="none" dirty="0" err="1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스탠딩</a:t>
            </a:r>
            <a:endParaRPr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1054100" y="3384550"/>
            <a:ext cx="101727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 dirty="0">
                <a:solidFill>
                  <a:srgbClr val="11359A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Arial"/>
              </a:rPr>
              <a:t>SKN12</a:t>
            </a:r>
            <a:r>
              <a:rPr lang="en-US" sz="3000" b="0" i="0" u="none" strike="noStrike" cap="none" dirty="0">
                <a:solidFill>
                  <a:srgbClr val="11359A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기</a:t>
            </a:r>
            <a:r>
              <a:rPr lang="en-US" sz="3000" b="0" i="0" u="none" strike="noStrike" cap="none" dirty="0">
                <a:solidFill>
                  <a:srgbClr val="11359A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Arial"/>
              </a:rPr>
              <a:t> FIANL PROJECT</a:t>
            </a:r>
            <a:endParaRPr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F3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4"/>
          <p:cNvPicPr preferRelativeResize="0"/>
          <p:nvPr/>
        </p:nvPicPr>
        <p:blipFill rotWithShape="1">
          <a:blip r:embed="rId3">
            <a:alphaModFix amt="70000"/>
          </a:blip>
          <a:srcRect/>
          <a:stretch/>
        </p:blipFill>
        <p:spPr>
          <a:xfrm>
            <a:off x="9829800" y="2705100"/>
            <a:ext cx="8661400" cy="8877300"/>
          </a:xfrm>
          <a:prstGeom prst="rect">
            <a:avLst/>
          </a:prstGeom>
          <a:noFill/>
          <a:ln>
            <a:noFill/>
          </a:ln>
          <a:effectLst>
            <a:outerShdw blurRad="466322" dist="133161" dir="1800000">
              <a:srgbClr val="000000">
                <a:alpha val="9803"/>
              </a:srgbClr>
            </a:outerShdw>
          </a:effectLst>
        </p:spPr>
      </p:pic>
      <p:pic>
        <p:nvPicPr>
          <p:cNvPr id="96" name="Google Shape;96;p14"/>
          <p:cNvPicPr preferRelativeResize="0"/>
          <p:nvPr/>
        </p:nvPicPr>
        <p:blipFill rotWithShape="1">
          <a:blip r:embed="rId3">
            <a:alphaModFix amt="70000"/>
          </a:blip>
          <a:srcRect/>
          <a:stretch/>
        </p:blipFill>
        <p:spPr>
          <a:xfrm>
            <a:off x="9842500" y="2717800"/>
            <a:ext cx="8661400" cy="8877300"/>
          </a:xfrm>
          <a:prstGeom prst="rect">
            <a:avLst/>
          </a:prstGeom>
          <a:noFill/>
          <a:ln>
            <a:noFill/>
          </a:ln>
          <a:effectLst>
            <a:outerShdw blurRad="466322" dist="199741" dir="12600000">
              <a:srgbClr val="FFFFFF">
                <a:alpha val="49803"/>
              </a:srgbClr>
            </a:outerShdw>
          </a:effectLst>
        </p:spPr>
      </p:pic>
      <p:pic>
        <p:nvPicPr>
          <p:cNvPr id="97" name="Google Shape;97;p14"/>
          <p:cNvPicPr preferRelativeResize="0"/>
          <p:nvPr/>
        </p:nvPicPr>
        <p:blipFill rotWithShape="1">
          <a:blip r:embed="rId4">
            <a:alphaModFix amt="80000"/>
          </a:blip>
          <a:srcRect/>
          <a:stretch/>
        </p:blipFill>
        <p:spPr>
          <a:xfrm>
            <a:off x="1638300" y="1854200"/>
            <a:ext cx="2781300" cy="2844800"/>
          </a:xfrm>
          <a:prstGeom prst="rect">
            <a:avLst/>
          </a:prstGeom>
          <a:noFill/>
          <a:ln>
            <a:noFill/>
          </a:ln>
          <a:effectLst>
            <a:outerShdw blurRad="47986" dist="42716" dir="1800000">
              <a:srgbClr val="000000">
                <a:alpha val="9803"/>
              </a:srgbClr>
            </a:outerShdw>
          </a:effectLst>
        </p:spPr>
      </p:pic>
      <p:pic>
        <p:nvPicPr>
          <p:cNvPr id="98" name="Google Shape;98;p14"/>
          <p:cNvPicPr preferRelativeResize="0"/>
          <p:nvPr/>
        </p:nvPicPr>
        <p:blipFill rotWithShape="1">
          <a:blip r:embed="rId4">
            <a:alphaModFix amt="80000"/>
          </a:blip>
          <a:srcRect/>
          <a:stretch/>
        </p:blipFill>
        <p:spPr>
          <a:xfrm>
            <a:off x="1638300" y="1854200"/>
            <a:ext cx="2781300" cy="2844800"/>
          </a:xfrm>
          <a:prstGeom prst="rect">
            <a:avLst/>
          </a:prstGeom>
          <a:noFill/>
          <a:ln>
            <a:noFill/>
          </a:ln>
          <a:effectLst>
            <a:outerShdw blurRad="47986" dist="64074" dir="12600000">
              <a:srgbClr val="FFFFFF">
                <a:alpha val="60000"/>
              </a:srgbClr>
            </a:outerShdw>
          </a:effectLst>
        </p:spPr>
      </p:pic>
      <p:pic>
        <p:nvPicPr>
          <p:cNvPr id="99" name="Google Shape;99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5400000">
            <a:off x="1562100" y="8534400"/>
            <a:ext cx="482600" cy="151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764000" y="762000"/>
            <a:ext cx="482600" cy="151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/>
          <p:cNvPicPr preferRelativeResize="0"/>
          <p:nvPr/>
        </p:nvPicPr>
        <p:blipFill rotWithShape="1">
          <a:blip r:embed="rId6">
            <a:alphaModFix amt="20000"/>
          </a:blip>
          <a:srcRect/>
          <a:stretch/>
        </p:blipFill>
        <p:spPr>
          <a:xfrm rot="5400000">
            <a:off x="10388600" y="6235700"/>
            <a:ext cx="4191000" cy="1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/>
          <p:cNvPicPr preferRelativeResize="0"/>
          <p:nvPr/>
        </p:nvPicPr>
        <p:blipFill rotWithShape="1">
          <a:blip r:embed="rId6">
            <a:alphaModFix amt="20000"/>
          </a:blip>
          <a:srcRect/>
          <a:stretch/>
        </p:blipFill>
        <p:spPr>
          <a:xfrm rot="5400000">
            <a:off x="7048500" y="6235700"/>
            <a:ext cx="4191000" cy="1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/>
          <p:cNvPicPr preferRelativeResize="0"/>
          <p:nvPr/>
        </p:nvPicPr>
        <p:blipFill rotWithShape="1">
          <a:blip r:embed="rId6">
            <a:alphaModFix amt="20000"/>
          </a:blip>
          <a:srcRect/>
          <a:stretch/>
        </p:blipFill>
        <p:spPr>
          <a:xfrm rot="5400000">
            <a:off x="3708400" y="6235700"/>
            <a:ext cx="4191000" cy="12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12992100" y="6096000"/>
            <a:ext cx="22225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진행</a:t>
            </a:r>
            <a:r>
              <a:rPr lang="en-US" sz="2800" b="0" i="0" u="none" strike="noStrike" cap="none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Arial"/>
              </a:rPr>
              <a:t> </a:t>
            </a:r>
            <a:r>
              <a:rPr lang="en-US" sz="2800" b="0" i="0" u="none" strike="noStrike" cap="none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예정</a:t>
            </a:r>
            <a:r>
              <a:rPr lang="en-US" sz="2800" b="0" i="0" u="none" strike="noStrike" cap="none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Arial"/>
              </a:rPr>
              <a:t> </a:t>
            </a:r>
            <a:r>
              <a:rPr lang="en-US" sz="2800" b="0" i="0" u="none" strike="noStrike" cap="none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사항</a:t>
            </a:r>
            <a:endParaRPr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9652000" y="6096000"/>
            <a:ext cx="22225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서류</a:t>
            </a:r>
            <a:r>
              <a:rPr lang="en-US" sz="2800" b="0" i="0" u="none" strike="noStrike" cap="none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Arial"/>
              </a:rPr>
              <a:t> </a:t>
            </a:r>
            <a:r>
              <a:rPr lang="en-US" sz="2800" b="0" i="0" u="none" strike="noStrike" cap="none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작성</a:t>
            </a:r>
            <a:endParaRPr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6299200" y="6096000"/>
            <a:ext cx="22225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에이전트</a:t>
            </a:r>
            <a:r>
              <a:rPr lang="en-US" sz="2800" b="0" i="0" u="none" strike="noStrike" cap="none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Arial"/>
              </a:rPr>
              <a:t> </a:t>
            </a:r>
            <a:r>
              <a:rPr lang="en-US" sz="2800" b="0" i="0" u="none" strike="noStrike" cap="none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개발</a:t>
            </a:r>
            <a:endParaRPr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2959100" y="6083300"/>
            <a:ext cx="22225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데이터베이스</a:t>
            </a:r>
            <a:r>
              <a:rPr lang="en-US" sz="2800" b="0" i="0" u="none" strike="noStrike" cap="none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Arial"/>
              </a:rPr>
              <a:t> </a:t>
            </a:r>
            <a:r>
              <a:rPr lang="en-US" sz="2800" b="0" i="0" u="none" strike="noStrike" cap="none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구축</a:t>
            </a:r>
            <a:endParaRPr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12992100" y="3632200"/>
            <a:ext cx="2463800" cy="21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0" b="0" i="0" u="none" strike="noStrike" cap="none">
                <a:solidFill>
                  <a:srgbClr val="11359A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4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9652000" y="3632200"/>
            <a:ext cx="2463800" cy="21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0" b="0" i="0" u="none" strike="noStrike" cap="none">
                <a:solidFill>
                  <a:srgbClr val="11359A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3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6299200" y="3632200"/>
            <a:ext cx="2463800" cy="21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0" b="0" i="0" u="none" strike="noStrike" cap="none">
                <a:solidFill>
                  <a:srgbClr val="11359A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2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2959100" y="3632200"/>
            <a:ext cx="2463800" cy="21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0" b="0" i="0" u="none" strike="noStrike" cap="none">
                <a:solidFill>
                  <a:srgbClr val="11359A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1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3924300" y="914400"/>
            <a:ext cx="104394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0" i="0" u="none" strike="noStrike" cap="none" dirty="0" err="1">
                <a:solidFill>
                  <a:srgbClr val="11359A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  <a:sym typeface="Calibri"/>
              </a:rPr>
              <a:t>목차</a:t>
            </a:r>
            <a:endParaRPr dirty="0"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F3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5"/>
          <p:cNvPicPr preferRelativeResize="0"/>
          <p:nvPr/>
        </p:nvPicPr>
        <p:blipFill rotWithShape="1">
          <a:blip r:embed="rId3">
            <a:alphaModFix amt="70000"/>
          </a:blip>
          <a:srcRect/>
          <a:stretch/>
        </p:blipFill>
        <p:spPr>
          <a:xfrm>
            <a:off x="9829800" y="2705100"/>
            <a:ext cx="8661400" cy="8877299"/>
          </a:xfrm>
          <a:prstGeom prst="rect">
            <a:avLst/>
          </a:prstGeom>
          <a:noFill/>
          <a:ln>
            <a:noFill/>
          </a:ln>
          <a:effectLst>
            <a:outerShdw blurRad="466322" dist="133161" dir="1800000">
              <a:srgbClr val="000000">
                <a:alpha val="9800"/>
              </a:srgbClr>
            </a:outerShdw>
          </a:effectLst>
        </p:spPr>
      </p:pic>
      <p:pic>
        <p:nvPicPr>
          <p:cNvPr id="118" name="Google Shape;118;p15"/>
          <p:cNvPicPr preferRelativeResize="0"/>
          <p:nvPr/>
        </p:nvPicPr>
        <p:blipFill rotWithShape="1">
          <a:blip r:embed="rId3">
            <a:alphaModFix amt="70000"/>
          </a:blip>
          <a:srcRect/>
          <a:stretch/>
        </p:blipFill>
        <p:spPr>
          <a:xfrm>
            <a:off x="9842500" y="2717800"/>
            <a:ext cx="8661400" cy="8877299"/>
          </a:xfrm>
          <a:prstGeom prst="rect">
            <a:avLst/>
          </a:prstGeom>
          <a:noFill/>
          <a:ln>
            <a:noFill/>
          </a:ln>
          <a:effectLst>
            <a:outerShdw blurRad="466322" dist="199741" dir="12600000">
              <a:srgbClr val="FFFFFF">
                <a:alpha val="49800"/>
              </a:srgbClr>
            </a:outerShdw>
          </a:effectLst>
        </p:spPr>
      </p:pic>
      <p:pic>
        <p:nvPicPr>
          <p:cNvPr id="119" name="Google Shape;119;p15"/>
          <p:cNvPicPr preferRelativeResize="0"/>
          <p:nvPr/>
        </p:nvPicPr>
        <p:blipFill rotWithShape="1">
          <a:blip r:embed="rId4">
            <a:alphaModFix amt="80000"/>
          </a:blip>
          <a:srcRect/>
          <a:stretch/>
        </p:blipFill>
        <p:spPr>
          <a:xfrm>
            <a:off x="1638300" y="1854200"/>
            <a:ext cx="2781300" cy="2844800"/>
          </a:xfrm>
          <a:prstGeom prst="rect">
            <a:avLst/>
          </a:prstGeom>
          <a:noFill/>
          <a:ln>
            <a:noFill/>
          </a:ln>
          <a:effectLst>
            <a:outerShdw blurRad="47986" dist="42716" dir="1800000">
              <a:srgbClr val="000000">
                <a:alpha val="9800"/>
              </a:srgbClr>
            </a:outerShdw>
          </a:effectLst>
        </p:spPr>
      </p:pic>
      <p:pic>
        <p:nvPicPr>
          <p:cNvPr id="120" name="Google Shape;120;p15"/>
          <p:cNvPicPr preferRelativeResize="0"/>
          <p:nvPr/>
        </p:nvPicPr>
        <p:blipFill rotWithShape="1">
          <a:blip r:embed="rId4">
            <a:alphaModFix amt="80000"/>
          </a:blip>
          <a:srcRect/>
          <a:stretch/>
        </p:blipFill>
        <p:spPr>
          <a:xfrm>
            <a:off x="1638300" y="1854200"/>
            <a:ext cx="2781300" cy="2844800"/>
          </a:xfrm>
          <a:prstGeom prst="rect">
            <a:avLst/>
          </a:prstGeom>
          <a:noFill/>
          <a:ln>
            <a:noFill/>
          </a:ln>
          <a:effectLst>
            <a:outerShdw blurRad="47986" dist="64074" dir="12600000">
              <a:srgbClr val="FFFFFF">
                <a:alpha val="60000"/>
              </a:srgbClr>
            </a:outerShdw>
          </a:effectLst>
        </p:spPr>
      </p:pic>
      <p:pic>
        <p:nvPicPr>
          <p:cNvPr id="121" name="Google Shape;121;p1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5400000">
            <a:off x="1562100" y="8534400"/>
            <a:ext cx="482600" cy="151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764000" y="762000"/>
            <a:ext cx="482600" cy="151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417300" y="3009900"/>
            <a:ext cx="3530600" cy="594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378700" y="3009900"/>
            <a:ext cx="3517900" cy="594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340100" y="3009900"/>
            <a:ext cx="3530600" cy="594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458200" y="3886200"/>
            <a:ext cx="1384300" cy="138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5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406900" y="4267200"/>
            <a:ext cx="13843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5"/>
          <p:cNvSpPr txBox="1"/>
          <p:nvPr/>
        </p:nvSpPr>
        <p:spPr>
          <a:xfrm>
            <a:off x="11747500" y="6337300"/>
            <a:ext cx="2870100" cy="19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인사 및 실적 정보</a:t>
            </a:r>
            <a:endParaRPr sz="220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</p:txBody>
      </p:sp>
      <p:sp>
        <p:nvSpPr>
          <p:cNvPr id="129" name="Google Shape;129;p15"/>
          <p:cNvSpPr txBox="1"/>
          <p:nvPr/>
        </p:nvSpPr>
        <p:spPr>
          <a:xfrm>
            <a:off x="11736925" y="5664200"/>
            <a:ext cx="30312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11359A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테이블 데이터</a:t>
            </a:r>
            <a:endParaRPr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30" name="Google Shape;130;p15"/>
          <p:cNvSpPr txBox="1"/>
          <p:nvPr/>
        </p:nvSpPr>
        <p:spPr>
          <a:xfrm>
            <a:off x="7708900" y="6337300"/>
            <a:ext cx="2870100" cy="19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답변 생성 시 원본 문서 참조</a:t>
            </a:r>
            <a:endParaRPr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31" name="Google Shape;131;p15"/>
          <p:cNvSpPr txBox="1"/>
          <p:nvPr/>
        </p:nvSpPr>
        <p:spPr>
          <a:xfrm>
            <a:off x="7696100" y="5600700"/>
            <a:ext cx="28830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11359A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원본 문서</a:t>
            </a:r>
            <a:endParaRPr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32" name="Google Shape;132;p15"/>
          <p:cNvSpPr txBox="1"/>
          <p:nvPr/>
        </p:nvSpPr>
        <p:spPr>
          <a:xfrm>
            <a:off x="3756900" y="6337300"/>
            <a:ext cx="2883000" cy="19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문서 기반 검색</a:t>
            </a:r>
            <a:endParaRPr sz="220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</p:txBody>
      </p:sp>
      <p:sp>
        <p:nvSpPr>
          <p:cNvPr id="133" name="Google Shape;133;p15"/>
          <p:cNvSpPr txBox="1"/>
          <p:nvPr/>
        </p:nvSpPr>
        <p:spPr>
          <a:xfrm>
            <a:off x="3987800" y="5600700"/>
            <a:ext cx="22224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11359A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RAG </a:t>
            </a:r>
            <a:r>
              <a:rPr lang="en-US" sz="2800" dirty="0" err="1">
                <a:solidFill>
                  <a:srgbClr val="11359A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검색</a:t>
            </a:r>
            <a:endParaRPr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34" name="Google Shape;134;p15"/>
          <p:cNvSpPr txBox="1"/>
          <p:nvPr/>
        </p:nvSpPr>
        <p:spPr>
          <a:xfrm>
            <a:off x="4064000" y="1917700"/>
            <a:ext cx="10147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하이브리드</a:t>
            </a:r>
            <a:r>
              <a:rPr lang="en-US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DB </a:t>
            </a:r>
            <a:r>
              <a:rPr lang="en-US" sz="20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구상</a:t>
            </a:r>
            <a:endParaRPr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35" name="Google Shape;135;p15"/>
          <p:cNvSpPr txBox="1"/>
          <p:nvPr/>
        </p:nvSpPr>
        <p:spPr>
          <a:xfrm>
            <a:off x="3924300" y="914400"/>
            <a:ext cx="104394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6000" dirty="0" err="1">
                <a:solidFill>
                  <a:srgbClr val="11359A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데이터베이스</a:t>
            </a:r>
            <a:r>
              <a:rPr lang="en-US" sz="6000" dirty="0">
                <a:solidFill>
                  <a:srgbClr val="11359A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6000" dirty="0" err="1">
                <a:solidFill>
                  <a:srgbClr val="11359A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구축</a:t>
            </a:r>
            <a:endParaRPr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37" name="Google Shape;137;p15"/>
          <p:cNvSpPr txBox="1"/>
          <p:nvPr/>
        </p:nvSpPr>
        <p:spPr>
          <a:xfrm>
            <a:off x="1041400" y="755650"/>
            <a:ext cx="101601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11359A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Oswald SemiBold"/>
              </a:rPr>
              <a:t>1팀_JJS</a:t>
            </a:r>
            <a:endParaRPr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F3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6"/>
          <p:cNvPicPr preferRelativeResize="0"/>
          <p:nvPr/>
        </p:nvPicPr>
        <p:blipFill rotWithShape="1">
          <a:blip r:embed="rId3">
            <a:alphaModFix amt="70000"/>
          </a:blip>
          <a:srcRect/>
          <a:stretch/>
        </p:blipFill>
        <p:spPr>
          <a:xfrm>
            <a:off x="9829800" y="2705100"/>
            <a:ext cx="8661400" cy="8877299"/>
          </a:xfrm>
          <a:prstGeom prst="rect">
            <a:avLst/>
          </a:prstGeom>
          <a:noFill/>
          <a:ln>
            <a:noFill/>
          </a:ln>
          <a:effectLst>
            <a:outerShdw blurRad="466322" dist="133161" dir="1800000">
              <a:srgbClr val="000000">
                <a:alpha val="9800"/>
              </a:srgbClr>
            </a:outerShdw>
          </a:effectLst>
        </p:spPr>
      </p:pic>
      <p:pic>
        <p:nvPicPr>
          <p:cNvPr id="143" name="Google Shape;143;p16"/>
          <p:cNvPicPr preferRelativeResize="0"/>
          <p:nvPr/>
        </p:nvPicPr>
        <p:blipFill rotWithShape="1">
          <a:blip r:embed="rId3">
            <a:alphaModFix amt="70000"/>
          </a:blip>
          <a:srcRect/>
          <a:stretch/>
        </p:blipFill>
        <p:spPr>
          <a:xfrm>
            <a:off x="9842500" y="2717800"/>
            <a:ext cx="8661400" cy="8877299"/>
          </a:xfrm>
          <a:prstGeom prst="rect">
            <a:avLst/>
          </a:prstGeom>
          <a:noFill/>
          <a:ln>
            <a:noFill/>
          </a:ln>
          <a:effectLst>
            <a:outerShdw blurRad="466322" dist="199741" dir="12600000">
              <a:srgbClr val="FFFFFF">
                <a:alpha val="49800"/>
              </a:srgbClr>
            </a:outerShdw>
          </a:effectLst>
        </p:spPr>
      </p:pic>
      <p:pic>
        <p:nvPicPr>
          <p:cNvPr id="144" name="Google Shape;144;p16"/>
          <p:cNvPicPr preferRelativeResize="0"/>
          <p:nvPr/>
        </p:nvPicPr>
        <p:blipFill rotWithShape="1">
          <a:blip r:embed="rId4">
            <a:alphaModFix amt="80000"/>
          </a:blip>
          <a:srcRect/>
          <a:stretch/>
        </p:blipFill>
        <p:spPr>
          <a:xfrm>
            <a:off x="1638300" y="1854200"/>
            <a:ext cx="2781300" cy="2844800"/>
          </a:xfrm>
          <a:prstGeom prst="rect">
            <a:avLst/>
          </a:prstGeom>
          <a:noFill/>
          <a:ln>
            <a:noFill/>
          </a:ln>
          <a:effectLst>
            <a:outerShdw blurRad="47986" dist="42716" dir="1800000">
              <a:srgbClr val="000000">
                <a:alpha val="9800"/>
              </a:srgbClr>
            </a:outerShdw>
          </a:effectLst>
        </p:spPr>
      </p:pic>
      <p:pic>
        <p:nvPicPr>
          <p:cNvPr id="145" name="Google Shape;145;p16"/>
          <p:cNvPicPr preferRelativeResize="0"/>
          <p:nvPr/>
        </p:nvPicPr>
        <p:blipFill rotWithShape="1">
          <a:blip r:embed="rId4">
            <a:alphaModFix amt="80000"/>
          </a:blip>
          <a:srcRect/>
          <a:stretch/>
        </p:blipFill>
        <p:spPr>
          <a:xfrm>
            <a:off x="1638300" y="1854200"/>
            <a:ext cx="2781300" cy="2844800"/>
          </a:xfrm>
          <a:prstGeom prst="rect">
            <a:avLst/>
          </a:prstGeom>
          <a:noFill/>
          <a:ln>
            <a:noFill/>
          </a:ln>
          <a:effectLst>
            <a:outerShdw blurRad="47986" dist="64074" dir="12600000">
              <a:srgbClr val="FFFFFF">
                <a:alpha val="60000"/>
              </a:srgbClr>
            </a:outerShdw>
          </a:effectLst>
        </p:spPr>
      </p:pic>
      <p:pic>
        <p:nvPicPr>
          <p:cNvPr id="146" name="Google Shape;146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5400000">
            <a:off x="1562100" y="8534400"/>
            <a:ext cx="482600" cy="151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764000" y="762000"/>
            <a:ext cx="482600" cy="151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417300" y="3009900"/>
            <a:ext cx="3530600" cy="594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378700" y="3009900"/>
            <a:ext cx="3517900" cy="594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340100" y="3009900"/>
            <a:ext cx="3530600" cy="594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458200" y="3886200"/>
            <a:ext cx="1384300" cy="138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6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406900" y="4267200"/>
            <a:ext cx="13843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6"/>
          <p:cNvSpPr txBox="1"/>
          <p:nvPr/>
        </p:nvSpPr>
        <p:spPr>
          <a:xfrm>
            <a:off x="11747500" y="6337300"/>
            <a:ext cx="2870100" cy="19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정형 DB</a:t>
            </a:r>
            <a:endParaRPr sz="220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  <a:p>
            <a:pPr marL="0" marR="0" lvl="0" indent="0" algn="ctr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테이블 데이터,</a:t>
            </a:r>
            <a:endParaRPr sz="220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  <a:p>
            <a:pPr marL="0" marR="0" lvl="0" indent="0" algn="ctr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원본 문서 메타 데이터 저장</a:t>
            </a:r>
            <a:endParaRPr sz="220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</p:txBody>
      </p:sp>
      <p:sp>
        <p:nvSpPr>
          <p:cNvPr id="154" name="Google Shape;154;p16"/>
          <p:cNvSpPr txBox="1"/>
          <p:nvPr/>
        </p:nvSpPr>
        <p:spPr>
          <a:xfrm>
            <a:off x="12141300" y="5664200"/>
            <a:ext cx="22224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 err="1">
                <a:solidFill>
                  <a:srgbClr val="11359A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postgreSQL</a:t>
            </a:r>
            <a:endParaRPr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55" name="Google Shape;155;p16"/>
          <p:cNvSpPr txBox="1"/>
          <p:nvPr/>
        </p:nvSpPr>
        <p:spPr>
          <a:xfrm>
            <a:off x="7708900" y="6337300"/>
            <a:ext cx="2870100" cy="19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비정형 DB</a:t>
            </a:r>
            <a:endParaRPr sz="220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  <a:p>
            <a:pPr marL="0" marR="0" lvl="0" indent="0" algn="ctr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원본 문서 저장</a:t>
            </a:r>
            <a:endParaRPr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56" name="Google Shape;156;p16"/>
          <p:cNvSpPr txBox="1"/>
          <p:nvPr/>
        </p:nvSpPr>
        <p:spPr>
          <a:xfrm>
            <a:off x="8026400" y="5600700"/>
            <a:ext cx="22224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11359A"/>
                </a:solidFill>
              </a:rPr>
              <a:t>S3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3756900" y="6337300"/>
            <a:ext cx="2883000" cy="19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벡터 DB</a:t>
            </a:r>
            <a:endParaRPr sz="220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  <a:p>
            <a:pPr marL="0" marR="0" lvl="0" indent="0" algn="ctr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유사도 + 키워드 검색</a:t>
            </a:r>
            <a:endParaRPr sz="220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</p:txBody>
      </p:sp>
      <p:sp>
        <p:nvSpPr>
          <p:cNvPr id="158" name="Google Shape;158;p16"/>
          <p:cNvSpPr txBox="1"/>
          <p:nvPr/>
        </p:nvSpPr>
        <p:spPr>
          <a:xfrm>
            <a:off x="3987800" y="5600700"/>
            <a:ext cx="22224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11359A"/>
                </a:solidFill>
              </a:rPr>
              <a:t>Open Search</a:t>
            </a:r>
            <a:endParaRPr dirty="0"/>
          </a:p>
        </p:txBody>
      </p:sp>
      <p:sp>
        <p:nvSpPr>
          <p:cNvPr id="161" name="Google Shape;161;p16"/>
          <p:cNvSpPr txBox="1"/>
          <p:nvPr/>
        </p:nvSpPr>
        <p:spPr>
          <a:xfrm>
            <a:off x="17106900" y="9512300"/>
            <a:ext cx="444600" cy="2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162" name="Google Shape;162;p1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866425" y="3415625"/>
            <a:ext cx="2465150" cy="2465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286762" y="3552849"/>
            <a:ext cx="1714500" cy="20510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6"/>
          <p:cNvPicPr preferRelativeResize="0"/>
          <p:nvPr/>
        </p:nvPicPr>
        <p:blipFill rotWithShape="1">
          <a:blip r:embed="rId11">
            <a:alphaModFix/>
          </a:blip>
          <a:srcRect b="27651"/>
          <a:stretch/>
        </p:blipFill>
        <p:spPr>
          <a:xfrm>
            <a:off x="11785650" y="3351400"/>
            <a:ext cx="2781300" cy="2249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6"/>
          <p:cNvSpPr txBox="1"/>
          <p:nvPr/>
        </p:nvSpPr>
        <p:spPr>
          <a:xfrm>
            <a:off x="1054100" y="749300"/>
            <a:ext cx="101601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11359A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Oswald SemiBold"/>
              </a:rPr>
              <a:t>1팀_JJS</a:t>
            </a:r>
            <a:endParaRPr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3" name="Google Shape;159;p16">
            <a:extLst>
              <a:ext uri="{FF2B5EF4-FFF2-40B4-BE49-F238E27FC236}">
                <a16:creationId xmlns:a16="http://schemas.microsoft.com/office/drawing/2014/main" id="{738CF66E-DE83-D53B-32D6-D3891E6D9B4C}"/>
              </a:ext>
            </a:extLst>
          </p:cNvPr>
          <p:cNvSpPr txBox="1"/>
          <p:nvPr/>
        </p:nvSpPr>
        <p:spPr>
          <a:xfrm>
            <a:off x="4031326" y="2141526"/>
            <a:ext cx="10147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하이브리드</a:t>
            </a:r>
            <a:r>
              <a:rPr lang="en-US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DB </a:t>
            </a:r>
            <a:r>
              <a:rPr lang="en-US" sz="20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구상</a:t>
            </a:r>
            <a:endParaRPr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4" name="Google Shape;160;p16">
            <a:extLst>
              <a:ext uri="{FF2B5EF4-FFF2-40B4-BE49-F238E27FC236}">
                <a16:creationId xmlns:a16="http://schemas.microsoft.com/office/drawing/2014/main" id="{3C51E4FD-B6B0-FC42-87B8-E2D6E4D9B9C6}"/>
              </a:ext>
            </a:extLst>
          </p:cNvPr>
          <p:cNvSpPr txBox="1"/>
          <p:nvPr/>
        </p:nvSpPr>
        <p:spPr>
          <a:xfrm>
            <a:off x="3866425" y="984250"/>
            <a:ext cx="104394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6000" dirty="0" err="1">
                <a:solidFill>
                  <a:srgbClr val="11359A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데이터베이스</a:t>
            </a:r>
            <a:r>
              <a:rPr lang="en-US" sz="6000" dirty="0">
                <a:solidFill>
                  <a:srgbClr val="11359A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6000" dirty="0" err="1">
                <a:solidFill>
                  <a:srgbClr val="11359A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구축</a:t>
            </a:r>
            <a:endParaRPr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5" name="Google Shape;162;p16">
            <a:extLst>
              <a:ext uri="{FF2B5EF4-FFF2-40B4-BE49-F238E27FC236}">
                <a16:creationId xmlns:a16="http://schemas.microsoft.com/office/drawing/2014/main" id="{04107639-881F-147F-7A79-DBEFDE4E3322}"/>
              </a:ext>
            </a:extLst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872825" y="3415625"/>
            <a:ext cx="2465150" cy="246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F3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17"/>
          <p:cNvPicPr preferRelativeResize="0"/>
          <p:nvPr/>
        </p:nvPicPr>
        <p:blipFill rotWithShape="1">
          <a:blip r:embed="rId3">
            <a:alphaModFix amt="70000"/>
          </a:blip>
          <a:srcRect/>
          <a:stretch/>
        </p:blipFill>
        <p:spPr>
          <a:xfrm>
            <a:off x="9829800" y="2705100"/>
            <a:ext cx="8661400" cy="8877299"/>
          </a:xfrm>
          <a:prstGeom prst="rect">
            <a:avLst/>
          </a:prstGeom>
          <a:noFill/>
          <a:ln>
            <a:noFill/>
          </a:ln>
          <a:effectLst>
            <a:outerShdw blurRad="466322" dist="133161" dir="1800000">
              <a:srgbClr val="000000">
                <a:alpha val="9800"/>
              </a:srgbClr>
            </a:outerShdw>
          </a:effectLst>
        </p:spPr>
      </p:pic>
      <p:pic>
        <p:nvPicPr>
          <p:cNvPr id="171" name="Google Shape;171;p17"/>
          <p:cNvPicPr preferRelativeResize="0"/>
          <p:nvPr/>
        </p:nvPicPr>
        <p:blipFill rotWithShape="1">
          <a:blip r:embed="rId3">
            <a:alphaModFix amt="70000"/>
          </a:blip>
          <a:srcRect/>
          <a:stretch/>
        </p:blipFill>
        <p:spPr>
          <a:xfrm>
            <a:off x="9842500" y="2717800"/>
            <a:ext cx="8661400" cy="8877299"/>
          </a:xfrm>
          <a:prstGeom prst="rect">
            <a:avLst/>
          </a:prstGeom>
          <a:noFill/>
          <a:ln>
            <a:noFill/>
          </a:ln>
          <a:effectLst>
            <a:outerShdw blurRad="466322" dist="199741" dir="12600000">
              <a:srgbClr val="FFFFFF">
                <a:alpha val="49800"/>
              </a:srgbClr>
            </a:outerShdw>
          </a:effectLst>
        </p:spPr>
      </p:pic>
      <p:pic>
        <p:nvPicPr>
          <p:cNvPr id="172" name="Google Shape;172;p17"/>
          <p:cNvPicPr preferRelativeResize="0"/>
          <p:nvPr/>
        </p:nvPicPr>
        <p:blipFill rotWithShape="1">
          <a:blip r:embed="rId4">
            <a:alphaModFix amt="80000"/>
          </a:blip>
          <a:srcRect/>
          <a:stretch/>
        </p:blipFill>
        <p:spPr>
          <a:xfrm>
            <a:off x="1638300" y="1854200"/>
            <a:ext cx="2781300" cy="2844800"/>
          </a:xfrm>
          <a:prstGeom prst="rect">
            <a:avLst/>
          </a:prstGeom>
          <a:noFill/>
          <a:ln>
            <a:noFill/>
          </a:ln>
          <a:effectLst>
            <a:outerShdw blurRad="47986" dist="42716" dir="1800000">
              <a:srgbClr val="000000">
                <a:alpha val="9800"/>
              </a:srgbClr>
            </a:outerShdw>
          </a:effectLst>
        </p:spPr>
      </p:pic>
      <p:pic>
        <p:nvPicPr>
          <p:cNvPr id="173" name="Google Shape;173;p17"/>
          <p:cNvPicPr preferRelativeResize="0"/>
          <p:nvPr/>
        </p:nvPicPr>
        <p:blipFill rotWithShape="1">
          <a:blip r:embed="rId4">
            <a:alphaModFix amt="80000"/>
          </a:blip>
          <a:srcRect/>
          <a:stretch/>
        </p:blipFill>
        <p:spPr>
          <a:xfrm>
            <a:off x="1638300" y="1854200"/>
            <a:ext cx="2781300" cy="2844800"/>
          </a:xfrm>
          <a:prstGeom prst="rect">
            <a:avLst/>
          </a:prstGeom>
          <a:noFill/>
          <a:ln>
            <a:noFill/>
          </a:ln>
          <a:effectLst>
            <a:outerShdw blurRad="47986" dist="64074" dir="12600000">
              <a:srgbClr val="FFFFFF">
                <a:alpha val="60000"/>
              </a:srgbClr>
            </a:outerShdw>
          </a:effectLst>
        </p:spPr>
      </p:pic>
      <p:pic>
        <p:nvPicPr>
          <p:cNvPr id="174" name="Google Shape;174;p1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5400000">
            <a:off x="1562100" y="8534400"/>
            <a:ext cx="482600" cy="151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764000" y="762000"/>
            <a:ext cx="482600" cy="151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7"/>
          <p:cNvSpPr txBox="1"/>
          <p:nvPr/>
        </p:nvSpPr>
        <p:spPr>
          <a:xfrm>
            <a:off x="4064000" y="1917700"/>
            <a:ext cx="10147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문서 종류</a:t>
            </a:r>
            <a:endParaRPr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77" name="Google Shape;177;p17"/>
          <p:cNvSpPr txBox="1"/>
          <p:nvPr/>
        </p:nvSpPr>
        <p:spPr>
          <a:xfrm>
            <a:off x="3924300" y="914400"/>
            <a:ext cx="104394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6000" dirty="0" err="1">
                <a:solidFill>
                  <a:srgbClr val="11359A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데이터베이스</a:t>
            </a:r>
            <a:r>
              <a:rPr lang="en-US" sz="6000" dirty="0">
                <a:solidFill>
                  <a:srgbClr val="11359A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6000" dirty="0" err="1">
                <a:solidFill>
                  <a:srgbClr val="11359A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구축</a:t>
            </a:r>
            <a:endParaRPr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179" name="Google Shape;179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82825" y="2874312"/>
            <a:ext cx="14922348" cy="5560737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7"/>
          <p:cNvSpPr txBox="1"/>
          <p:nvPr/>
        </p:nvSpPr>
        <p:spPr>
          <a:xfrm>
            <a:off x="1054100" y="749300"/>
            <a:ext cx="101601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11359A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Oswald SemiBold"/>
              </a:rPr>
              <a:t>1팀_JJS</a:t>
            </a:r>
            <a:endParaRPr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81" name="Google Shape;181;p17"/>
          <p:cNvSpPr/>
          <p:nvPr/>
        </p:nvSpPr>
        <p:spPr>
          <a:xfrm>
            <a:off x="1638300" y="2965175"/>
            <a:ext cx="7629900" cy="53790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7"/>
          <p:cNvSpPr/>
          <p:nvPr/>
        </p:nvSpPr>
        <p:spPr>
          <a:xfrm>
            <a:off x="9312725" y="3009900"/>
            <a:ext cx="7292400" cy="53790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F3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18"/>
          <p:cNvPicPr preferRelativeResize="0"/>
          <p:nvPr/>
        </p:nvPicPr>
        <p:blipFill rotWithShape="1">
          <a:blip r:embed="rId3">
            <a:alphaModFix amt="70000"/>
          </a:blip>
          <a:srcRect/>
          <a:stretch/>
        </p:blipFill>
        <p:spPr>
          <a:xfrm>
            <a:off x="9829800" y="2705100"/>
            <a:ext cx="8661400" cy="8877299"/>
          </a:xfrm>
          <a:prstGeom prst="rect">
            <a:avLst/>
          </a:prstGeom>
          <a:noFill/>
          <a:ln>
            <a:noFill/>
          </a:ln>
          <a:effectLst>
            <a:outerShdw blurRad="466322" dist="133161" dir="1800000">
              <a:srgbClr val="000000">
                <a:alpha val="9800"/>
              </a:srgbClr>
            </a:outerShdw>
          </a:effectLst>
        </p:spPr>
      </p:pic>
      <p:pic>
        <p:nvPicPr>
          <p:cNvPr id="188" name="Google Shape;188;p18"/>
          <p:cNvPicPr preferRelativeResize="0"/>
          <p:nvPr/>
        </p:nvPicPr>
        <p:blipFill rotWithShape="1">
          <a:blip r:embed="rId3">
            <a:alphaModFix amt="70000"/>
          </a:blip>
          <a:srcRect/>
          <a:stretch/>
        </p:blipFill>
        <p:spPr>
          <a:xfrm>
            <a:off x="9842500" y="2717800"/>
            <a:ext cx="8661400" cy="8877299"/>
          </a:xfrm>
          <a:prstGeom prst="rect">
            <a:avLst/>
          </a:prstGeom>
          <a:noFill/>
          <a:ln>
            <a:noFill/>
          </a:ln>
          <a:effectLst>
            <a:outerShdw blurRad="466322" dist="199741" dir="12600000">
              <a:srgbClr val="FFFFFF">
                <a:alpha val="49800"/>
              </a:srgbClr>
            </a:outerShdw>
          </a:effectLst>
        </p:spPr>
      </p:pic>
      <p:pic>
        <p:nvPicPr>
          <p:cNvPr id="189" name="Google Shape;189;p18"/>
          <p:cNvPicPr preferRelativeResize="0"/>
          <p:nvPr/>
        </p:nvPicPr>
        <p:blipFill rotWithShape="1">
          <a:blip r:embed="rId4">
            <a:alphaModFix amt="80000"/>
          </a:blip>
          <a:srcRect/>
          <a:stretch/>
        </p:blipFill>
        <p:spPr>
          <a:xfrm>
            <a:off x="1638300" y="1854200"/>
            <a:ext cx="2781300" cy="2844800"/>
          </a:xfrm>
          <a:prstGeom prst="rect">
            <a:avLst/>
          </a:prstGeom>
          <a:noFill/>
          <a:ln>
            <a:noFill/>
          </a:ln>
          <a:effectLst>
            <a:outerShdw blurRad="47986" dist="42716" dir="1800000">
              <a:srgbClr val="000000">
                <a:alpha val="9800"/>
              </a:srgbClr>
            </a:outerShdw>
          </a:effectLst>
        </p:spPr>
      </p:pic>
      <p:pic>
        <p:nvPicPr>
          <p:cNvPr id="191" name="Google Shape;191;p1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5400000">
            <a:off x="1562100" y="8534400"/>
            <a:ext cx="482600" cy="151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764000" y="762000"/>
            <a:ext cx="482600" cy="151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8"/>
          <p:cNvSpPr txBox="1"/>
          <p:nvPr/>
        </p:nvSpPr>
        <p:spPr>
          <a:xfrm>
            <a:off x="4064000" y="1917700"/>
            <a:ext cx="10147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텍스트 문서 업로드</a:t>
            </a:r>
            <a:endParaRPr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94" name="Google Shape;194;p18"/>
          <p:cNvSpPr txBox="1"/>
          <p:nvPr/>
        </p:nvSpPr>
        <p:spPr>
          <a:xfrm>
            <a:off x="3924300" y="914400"/>
            <a:ext cx="104394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6000">
                <a:solidFill>
                  <a:srgbClr val="11359A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데이터베이스 구축</a:t>
            </a:r>
            <a:endParaRPr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00" name="Google Shape;200;p18"/>
          <p:cNvSpPr txBox="1"/>
          <p:nvPr/>
        </p:nvSpPr>
        <p:spPr>
          <a:xfrm>
            <a:off x="1054100" y="749300"/>
            <a:ext cx="101601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11359A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Oswald SemiBold"/>
              </a:rPr>
              <a:t>1팀_JJS</a:t>
            </a:r>
            <a:endParaRPr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1DD8F4D-9B73-3805-9E95-41FBDB832F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7285" y="2286000"/>
            <a:ext cx="17090572" cy="63620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F3"/>
        </a:solidFill>
        <a:effectLst/>
      </p:bgPr>
    </p:bg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19"/>
          <p:cNvPicPr preferRelativeResize="0"/>
          <p:nvPr/>
        </p:nvPicPr>
        <p:blipFill rotWithShape="1">
          <a:blip r:embed="rId3">
            <a:alphaModFix amt="70000"/>
          </a:blip>
          <a:srcRect/>
          <a:stretch/>
        </p:blipFill>
        <p:spPr>
          <a:xfrm>
            <a:off x="9829800" y="2705100"/>
            <a:ext cx="8661400" cy="8877299"/>
          </a:xfrm>
          <a:prstGeom prst="rect">
            <a:avLst/>
          </a:prstGeom>
          <a:noFill/>
          <a:ln>
            <a:noFill/>
          </a:ln>
          <a:effectLst>
            <a:outerShdw blurRad="466322" dist="133161" dir="1800000">
              <a:srgbClr val="000000">
                <a:alpha val="9800"/>
              </a:srgbClr>
            </a:outerShdw>
          </a:effectLst>
        </p:spPr>
      </p:pic>
      <p:pic>
        <p:nvPicPr>
          <p:cNvPr id="206" name="Google Shape;206;p19"/>
          <p:cNvPicPr preferRelativeResize="0"/>
          <p:nvPr/>
        </p:nvPicPr>
        <p:blipFill rotWithShape="1">
          <a:blip r:embed="rId3">
            <a:alphaModFix amt="70000"/>
          </a:blip>
          <a:srcRect/>
          <a:stretch/>
        </p:blipFill>
        <p:spPr>
          <a:xfrm>
            <a:off x="9842500" y="2717800"/>
            <a:ext cx="8661400" cy="8877299"/>
          </a:xfrm>
          <a:prstGeom prst="rect">
            <a:avLst/>
          </a:prstGeom>
          <a:noFill/>
          <a:ln>
            <a:noFill/>
          </a:ln>
          <a:effectLst>
            <a:outerShdw blurRad="466322" dist="199741" dir="12600000">
              <a:srgbClr val="FFFFFF">
                <a:alpha val="49800"/>
              </a:srgbClr>
            </a:outerShdw>
          </a:effectLst>
        </p:spPr>
      </p:pic>
      <p:pic>
        <p:nvPicPr>
          <p:cNvPr id="207" name="Google Shape;207;p19"/>
          <p:cNvPicPr preferRelativeResize="0"/>
          <p:nvPr/>
        </p:nvPicPr>
        <p:blipFill rotWithShape="1">
          <a:blip r:embed="rId4">
            <a:alphaModFix amt="80000"/>
          </a:blip>
          <a:srcRect/>
          <a:stretch/>
        </p:blipFill>
        <p:spPr>
          <a:xfrm>
            <a:off x="1638300" y="1854200"/>
            <a:ext cx="2781300" cy="2844800"/>
          </a:xfrm>
          <a:prstGeom prst="rect">
            <a:avLst/>
          </a:prstGeom>
          <a:noFill/>
          <a:ln>
            <a:noFill/>
          </a:ln>
          <a:effectLst>
            <a:outerShdw blurRad="47986" dist="42716" dir="1800000">
              <a:srgbClr val="000000">
                <a:alpha val="9800"/>
              </a:srgbClr>
            </a:outerShdw>
          </a:effectLst>
        </p:spPr>
      </p:pic>
      <p:pic>
        <p:nvPicPr>
          <p:cNvPr id="208" name="Google Shape;208;p19"/>
          <p:cNvPicPr preferRelativeResize="0"/>
          <p:nvPr/>
        </p:nvPicPr>
        <p:blipFill rotWithShape="1">
          <a:blip r:embed="rId4">
            <a:alphaModFix amt="80000"/>
          </a:blip>
          <a:srcRect/>
          <a:stretch/>
        </p:blipFill>
        <p:spPr>
          <a:xfrm>
            <a:off x="1638300" y="1854200"/>
            <a:ext cx="2781300" cy="2844800"/>
          </a:xfrm>
          <a:prstGeom prst="rect">
            <a:avLst/>
          </a:prstGeom>
          <a:noFill/>
          <a:ln>
            <a:noFill/>
          </a:ln>
          <a:effectLst>
            <a:outerShdw blurRad="47986" dist="64074" dir="12600000">
              <a:srgbClr val="FFFFFF">
                <a:alpha val="60000"/>
              </a:srgbClr>
            </a:outerShdw>
          </a:effectLst>
        </p:spPr>
      </p:pic>
      <p:pic>
        <p:nvPicPr>
          <p:cNvPr id="209" name="Google Shape;209;p1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5400000">
            <a:off x="1562100" y="8534400"/>
            <a:ext cx="482600" cy="151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1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764000" y="762000"/>
            <a:ext cx="482600" cy="15113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9"/>
          <p:cNvSpPr txBox="1"/>
          <p:nvPr/>
        </p:nvSpPr>
        <p:spPr>
          <a:xfrm>
            <a:off x="4064000" y="1917700"/>
            <a:ext cx="10147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업로드 및 검색 흐름</a:t>
            </a:r>
            <a:endParaRPr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12" name="Google Shape;212;p19"/>
          <p:cNvSpPr txBox="1"/>
          <p:nvPr/>
        </p:nvSpPr>
        <p:spPr>
          <a:xfrm>
            <a:off x="3924300" y="914400"/>
            <a:ext cx="104394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6000">
                <a:solidFill>
                  <a:srgbClr val="11359A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데이터베이스 구축</a:t>
            </a:r>
            <a:endParaRPr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13" name="Google Shape;213;p19"/>
          <p:cNvSpPr txBox="1"/>
          <p:nvPr/>
        </p:nvSpPr>
        <p:spPr>
          <a:xfrm>
            <a:off x="17106900" y="9512300"/>
            <a:ext cx="444600" cy="2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pic>
        <p:nvPicPr>
          <p:cNvPr id="214" name="Google Shape;214;p19" title="문서검색흐름도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47163" y="2964720"/>
            <a:ext cx="16393677" cy="5843468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9"/>
          <p:cNvSpPr/>
          <p:nvPr/>
        </p:nvSpPr>
        <p:spPr>
          <a:xfrm>
            <a:off x="2926775" y="3009900"/>
            <a:ext cx="14319900" cy="39261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6" name="Google Shape;216;p19"/>
          <p:cNvCxnSpPr/>
          <p:nvPr/>
        </p:nvCxnSpPr>
        <p:spPr>
          <a:xfrm rot="10800000" flipH="1">
            <a:off x="4572000" y="4966100"/>
            <a:ext cx="1536900" cy="11172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7" name="Google Shape;217;p19"/>
          <p:cNvCxnSpPr/>
          <p:nvPr/>
        </p:nvCxnSpPr>
        <p:spPr>
          <a:xfrm>
            <a:off x="7444025" y="4824175"/>
            <a:ext cx="1515000" cy="4173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8" name="Google Shape;218;p19"/>
          <p:cNvSpPr txBox="1"/>
          <p:nvPr/>
        </p:nvSpPr>
        <p:spPr>
          <a:xfrm>
            <a:off x="1054100" y="749300"/>
            <a:ext cx="101601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11359A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Oswald SemiBold"/>
              </a:rPr>
              <a:t>1팀_JJS</a:t>
            </a:r>
            <a:endParaRPr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F3"/>
        </a:solidFill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0"/>
          <p:cNvPicPr preferRelativeResize="0"/>
          <p:nvPr/>
        </p:nvPicPr>
        <p:blipFill rotWithShape="1">
          <a:blip r:embed="rId3">
            <a:alphaModFix amt="70000"/>
          </a:blip>
          <a:srcRect/>
          <a:stretch/>
        </p:blipFill>
        <p:spPr>
          <a:xfrm>
            <a:off x="9829800" y="2705100"/>
            <a:ext cx="8661400" cy="8877299"/>
          </a:xfrm>
          <a:prstGeom prst="rect">
            <a:avLst/>
          </a:prstGeom>
          <a:noFill/>
          <a:ln>
            <a:noFill/>
          </a:ln>
          <a:effectLst>
            <a:outerShdw blurRad="466322" dist="133161" dir="1800000">
              <a:srgbClr val="000000">
                <a:alpha val="9800"/>
              </a:srgbClr>
            </a:outerShdw>
          </a:effectLst>
        </p:spPr>
      </p:pic>
      <p:pic>
        <p:nvPicPr>
          <p:cNvPr id="224" name="Google Shape;224;p20"/>
          <p:cNvPicPr preferRelativeResize="0"/>
          <p:nvPr/>
        </p:nvPicPr>
        <p:blipFill rotWithShape="1">
          <a:blip r:embed="rId3">
            <a:alphaModFix amt="70000"/>
          </a:blip>
          <a:srcRect/>
          <a:stretch/>
        </p:blipFill>
        <p:spPr>
          <a:xfrm>
            <a:off x="9829800" y="2705100"/>
            <a:ext cx="8661400" cy="8877299"/>
          </a:xfrm>
          <a:prstGeom prst="rect">
            <a:avLst/>
          </a:prstGeom>
          <a:noFill/>
          <a:ln>
            <a:noFill/>
          </a:ln>
          <a:effectLst>
            <a:outerShdw blurRad="466322" dist="199741" dir="12600000">
              <a:srgbClr val="FFFFFF">
                <a:alpha val="49800"/>
              </a:srgbClr>
            </a:outerShdw>
          </a:effectLst>
        </p:spPr>
      </p:pic>
      <p:pic>
        <p:nvPicPr>
          <p:cNvPr id="225" name="Google Shape;225;p20"/>
          <p:cNvPicPr preferRelativeResize="0"/>
          <p:nvPr/>
        </p:nvPicPr>
        <p:blipFill rotWithShape="1">
          <a:blip r:embed="rId4">
            <a:alphaModFix amt="80000"/>
          </a:blip>
          <a:srcRect/>
          <a:stretch/>
        </p:blipFill>
        <p:spPr>
          <a:xfrm>
            <a:off x="1638300" y="1854200"/>
            <a:ext cx="2781300" cy="2844800"/>
          </a:xfrm>
          <a:prstGeom prst="rect">
            <a:avLst/>
          </a:prstGeom>
          <a:noFill/>
          <a:ln>
            <a:noFill/>
          </a:ln>
          <a:effectLst>
            <a:outerShdw blurRad="47986" dist="42716" dir="1800000">
              <a:srgbClr val="000000">
                <a:alpha val="9800"/>
              </a:srgbClr>
            </a:outerShdw>
          </a:effectLst>
        </p:spPr>
      </p:pic>
      <p:pic>
        <p:nvPicPr>
          <p:cNvPr id="226" name="Google Shape;226;p20"/>
          <p:cNvPicPr preferRelativeResize="0"/>
          <p:nvPr/>
        </p:nvPicPr>
        <p:blipFill rotWithShape="1">
          <a:blip r:embed="rId4">
            <a:alphaModFix amt="80000"/>
          </a:blip>
          <a:srcRect/>
          <a:stretch/>
        </p:blipFill>
        <p:spPr>
          <a:xfrm>
            <a:off x="1638300" y="1854200"/>
            <a:ext cx="2781300" cy="2844800"/>
          </a:xfrm>
          <a:prstGeom prst="rect">
            <a:avLst/>
          </a:prstGeom>
          <a:noFill/>
          <a:ln>
            <a:noFill/>
          </a:ln>
          <a:effectLst>
            <a:outerShdw blurRad="47986" dist="64074" dir="12600000">
              <a:srgbClr val="FFFFFF">
                <a:alpha val="60000"/>
              </a:srgbClr>
            </a:outerShdw>
          </a:effectLst>
        </p:spPr>
      </p:pic>
      <p:pic>
        <p:nvPicPr>
          <p:cNvPr id="227" name="Google Shape;227;p2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5400000">
            <a:off x="1562100" y="8534400"/>
            <a:ext cx="482600" cy="151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764000" y="762000"/>
            <a:ext cx="482600" cy="15113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0"/>
          <p:cNvSpPr txBox="1"/>
          <p:nvPr/>
        </p:nvSpPr>
        <p:spPr>
          <a:xfrm>
            <a:off x="4064000" y="1917700"/>
            <a:ext cx="10147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업로드 및 검색 흐름</a:t>
            </a:r>
            <a:endParaRPr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30" name="Google Shape;230;p20"/>
          <p:cNvSpPr txBox="1"/>
          <p:nvPr/>
        </p:nvSpPr>
        <p:spPr>
          <a:xfrm>
            <a:off x="3924300" y="914400"/>
            <a:ext cx="104394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6000">
                <a:solidFill>
                  <a:srgbClr val="11359A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데이터베이스 구축</a:t>
            </a:r>
            <a:endParaRPr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232" name="Google Shape;232;p20" title="문서검색흐름도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47163" y="2964720"/>
            <a:ext cx="16393677" cy="5843468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0"/>
          <p:cNvSpPr/>
          <p:nvPr/>
        </p:nvSpPr>
        <p:spPr>
          <a:xfrm>
            <a:off x="2385575" y="6520300"/>
            <a:ext cx="13010400" cy="22851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4" name="Google Shape;234;p20"/>
          <p:cNvCxnSpPr/>
          <p:nvPr/>
        </p:nvCxnSpPr>
        <p:spPr>
          <a:xfrm rot="10800000" flipH="1">
            <a:off x="4831800" y="7563700"/>
            <a:ext cx="1039200" cy="390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35" name="Google Shape;235;p20"/>
          <p:cNvSpPr txBox="1"/>
          <p:nvPr/>
        </p:nvSpPr>
        <p:spPr>
          <a:xfrm>
            <a:off x="1054100" y="749300"/>
            <a:ext cx="101601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11359A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Oswald SemiBold"/>
              </a:rPr>
              <a:t>1팀_JJS</a:t>
            </a:r>
            <a:endParaRPr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F3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21"/>
          <p:cNvPicPr preferRelativeResize="0"/>
          <p:nvPr/>
        </p:nvPicPr>
        <p:blipFill rotWithShape="1">
          <a:blip r:embed="rId3">
            <a:alphaModFix amt="70000"/>
          </a:blip>
          <a:srcRect/>
          <a:stretch/>
        </p:blipFill>
        <p:spPr>
          <a:xfrm>
            <a:off x="9829800" y="2705100"/>
            <a:ext cx="8661400" cy="8877299"/>
          </a:xfrm>
          <a:prstGeom prst="rect">
            <a:avLst/>
          </a:prstGeom>
          <a:noFill/>
          <a:ln>
            <a:noFill/>
          </a:ln>
          <a:effectLst>
            <a:outerShdw blurRad="466322" dist="133161" dir="1800000">
              <a:srgbClr val="000000">
                <a:alpha val="9800"/>
              </a:srgbClr>
            </a:outerShdw>
          </a:effectLst>
        </p:spPr>
      </p:pic>
      <p:pic>
        <p:nvPicPr>
          <p:cNvPr id="241" name="Google Shape;241;p21"/>
          <p:cNvPicPr preferRelativeResize="0"/>
          <p:nvPr/>
        </p:nvPicPr>
        <p:blipFill rotWithShape="1">
          <a:blip r:embed="rId4">
            <a:alphaModFix amt="80000"/>
          </a:blip>
          <a:srcRect/>
          <a:stretch/>
        </p:blipFill>
        <p:spPr>
          <a:xfrm>
            <a:off x="1638300" y="1854200"/>
            <a:ext cx="2781300" cy="2844800"/>
          </a:xfrm>
          <a:prstGeom prst="rect">
            <a:avLst/>
          </a:prstGeom>
          <a:noFill/>
          <a:ln>
            <a:noFill/>
          </a:ln>
          <a:effectLst>
            <a:outerShdw blurRad="47986" dist="42716" dir="1800000">
              <a:srgbClr val="000000">
                <a:alpha val="9800"/>
              </a:srgbClr>
            </a:outerShdw>
          </a:effectLst>
        </p:spPr>
      </p:pic>
      <p:pic>
        <p:nvPicPr>
          <p:cNvPr id="242" name="Google Shape;242;p21"/>
          <p:cNvPicPr preferRelativeResize="0"/>
          <p:nvPr/>
        </p:nvPicPr>
        <p:blipFill rotWithShape="1">
          <a:blip r:embed="rId4">
            <a:alphaModFix amt="80000"/>
          </a:blip>
          <a:srcRect/>
          <a:stretch/>
        </p:blipFill>
        <p:spPr>
          <a:xfrm>
            <a:off x="1638300" y="1854200"/>
            <a:ext cx="2781300" cy="2844800"/>
          </a:xfrm>
          <a:prstGeom prst="rect">
            <a:avLst/>
          </a:prstGeom>
          <a:noFill/>
          <a:ln>
            <a:noFill/>
          </a:ln>
          <a:effectLst>
            <a:outerShdw blurRad="47986" dist="64074" dir="12600000">
              <a:srgbClr val="FFFFFF">
                <a:alpha val="60000"/>
              </a:srgbClr>
            </a:outerShdw>
          </a:effectLst>
        </p:spPr>
      </p:pic>
      <p:pic>
        <p:nvPicPr>
          <p:cNvPr id="243" name="Google Shape;243;p2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5400000">
            <a:off x="1562100" y="8534400"/>
            <a:ext cx="482600" cy="151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764000" y="762000"/>
            <a:ext cx="482600" cy="15113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1"/>
          <p:cNvSpPr txBox="1"/>
          <p:nvPr/>
        </p:nvSpPr>
        <p:spPr>
          <a:xfrm>
            <a:off x="4064000" y="1917700"/>
            <a:ext cx="10147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postgreSQL &amp; </a:t>
            </a:r>
            <a:r>
              <a:rPr lang="en-US" sz="20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Open Search</a:t>
            </a:r>
            <a:endParaRPr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46" name="Google Shape;246;p21"/>
          <p:cNvSpPr txBox="1"/>
          <p:nvPr/>
        </p:nvSpPr>
        <p:spPr>
          <a:xfrm>
            <a:off x="3924300" y="914400"/>
            <a:ext cx="104394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6000">
                <a:solidFill>
                  <a:srgbClr val="11359A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데이터베이스 구축</a:t>
            </a:r>
            <a:endParaRPr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47" name="Google Shape;247;p21"/>
          <p:cNvSpPr txBox="1"/>
          <p:nvPr/>
        </p:nvSpPr>
        <p:spPr>
          <a:xfrm>
            <a:off x="17106900" y="9512300"/>
            <a:ext cx="444600" cy="2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pic>
        <p:nvPicPr>
          <p:cNvPr id="248" name="Google Shape;248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1425" y="2617350"/>
            <a:ext cx="14521600" cy="7669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1" title="스크린샷 2025-07-21 073415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622875" y="2273300"/>
            <a:ext cx="14186553" cy="7518399"/>
          </a:xfrm>
          <a:prstGeom prst="rect">
            <a:avLst/>
          </a:prstGeom>
          <a:noFill/>
          <a:ln>
            <a:noFill/>
          </a:ln>
          <a:effectLst>
            <a:outerShdw blurRad="466322" dist="199741" dir="12600000">
              <a:srgbClr val="FFFFFF">
                <a:alpha val="49800"/>
              </a:srgbClr>
            </a:outerShdw>
          </a:effectLst>
        </p:spPr>
      </p:pic>
      <p:sp>
        <p:nvSpPr>
          <p:cNvPr id="250" name="Google Shape;250;p21"/>
          <p:cNvSpPr txBox="1"/>
          <p:nvPr/>
        </p:nvSpPr>
        <p:spPr>
          <a:xfrm>
            <a:off x="1054100" y="749300"/>
            <a:ext cx="101601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11359A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Oswald SemiBold"/>
              </a:rPr>
              <a:t>1팀_JJS</a:t>
            </a:r>
            <a:endParaRPr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F3"/>
        </a:solidFill>
        <a:effectLst/>
      </p:bgPr>
    </p:bg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Google Shape;255;p22"/>
          <p:cNvPicPr preferRelativeResize="0"/>
          <p:nvPr/>
        </p:nvPicPr>
        <p:blipFill rotWithShape="1">
          <a:blip r:embed="rId3">
            <a:alphaModFix amt="70000"/>
          </a:blip>
          <a:srcRect/>
          <a:stretch/>
        </p:blipFill>
        <p:spPr>
          <a:xfrm>
            <a:off x="9829800" y="2705100"/>
            <a:ext cx="8661400" cy="8877299"/>
          </a:xfrm>
          <a:prstGeom prst="rect">
            <a:avLst/>
          </a:prstGeom>
          <a:noFill/>
          <a:ln>
            <a:noFill/>
          </a:ln>
          <a:effectLst>
            <a:outerShdw blurRad="466322" dist="133161" dir="1800000">
              <a:srgbClr val="000000">
                <a:alpha val="9800"/>
              </a:srgbClr>
            </a:outerShdw>
          </a:effectLst>
        </p:spPr>
      </p:pic>
      <p:pic>
        <p:nvPicPr>
          <p:cNvPr id="256" name="Google Shape;256;p22"/>
          <p:cNvPicPr preferRelativeResize="0"/>
          <p:nvPr/>
        </p:nvPicPr>
        <p:blipFill rotWithShape="1">
          <a:blip r:embed="rId4">
            <a:alphaModFix amt="80000"/>
          </a:blip>
          <a:srcRect/>
          <a:stretch/>
        </p:blipFill>
        <p:spPr>
          <a:xfrm>
            <a:off x="1638300" y="1854200"/>
            <a:ext cx="2781300" cy="2844800"/>
          </a:xfrm>
          <a:prstGeom prst="rect">
            <a:avLst/>
          </a:prstGeom>
          <a:noFill/>
          <a:ln>
            <a:noFill/>
          </a:ln>
          <a:effectLst>
            <a:outerShdw blurRad="47986" dist="42716" dir="1800000">
              <a:srgbClr val="000000">
                <a:alpha val="9800"/>
              </a:srgbClr>
            </a:outerShdw>
          </a:effectLst>
        </p:spPr>
      </p:pic>
      <p:pic>
        <p:nvPicPr>
          <p:cNvPr id="257" name="Google Shape;257;p22"/>
          <p:cNvPicPr preferRelativeResize="0"/>
          <p:nvPr/>
        </p:nvPicPr>
        <p:blipFill rotWithShape="1">
          <a:blip r:embed="rId4">
            <a:alphaModFix amt="80000"/>
          </a:blip>
          <a:srcRect/>
          <a:stretch/>
        </p:blipFill>
        <p:spPr>
          <a:xfrm>
            <a:off x="1638300" y="1854200"/>
            <a:ext cx="2781300" cy="2844800"/>
          </a:xfrm>
          <a:prstGeom prst="rect">
            <a:avLst/>
          </a:prstGeom>
          <a:noFill/>
          <a:ln>
            <a:noFill/>
          </a:ln>
          <a:effectLst>
            <a:outerShdw blurRad="47986" dist="64074" dir="12600000">
              <a:srgbClr val="FFFFFF">
                <a:alpha val="60000"/>
              </a:srgbClr>
            </a:outerShdw>
          </a:effectLst>
        </p:spPr>
      </p:pic>
      <p:pic>
        <p:nvPicPr>
          <p:cNvPr id="258" name="Google Shape;258;p2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5400000">
            <a:off x="1562100" y="8534400"/>
            <a:ext cx="482600" cy="151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764000" y="762000"/>
            <a:ext cx="482600" cy="15113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2"/>
          <p:cNvSpPr txBox="1"/>
          <p:nvPr/>
        </p:nvSpPr>
        <p:spPr>
          <a:xfrm>
            <a:off x="4064000" y="1917700"/>
            <a:ext cx="10147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자연어 검색 테스트</a:t>
            </a:r>
            <a:endParaRPr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61" name="Google Shape;261;p22"/>
          <p:cNvSpPr txBox="1"/>
          <p:nvPr/>
        </p:nvSpPr>
        <p:spPr>
          <a:xfrm>
            <a:off x="3924300" y="914400"/>
            <a:ext cx="104394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6000">
                <a:solidFill>
                  <a:srgbClr val="11359A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데이터베이스 구축</a:t>
            </a:r>
            <a:endParaRPr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62" name="Google Shape;262;p22"/>
          <p:cNvSpPr txBox="1"/>
          <p:nvPr/>
        </p:nvSpPr>
        <p:spPr>
          <a:xfrm>
            <a:off x="17106900" y="9512300"/>
            <a:ext cx="444600" cy="2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pic>
        <p:nvPicPr>
          <p:cNvPr id="263" name="Google Shape;263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88338" y="2273300"/>
            <a:ext cx="15098520" cy="8013701"/>
          </a:xfrm>
          <a:prstGeom prst="rect">
            <a:avLst/>
          </a:prstGeom>
          <a:noFill/>
          <a:ln>
            <a:noFill/>
          </a:ln>
          <a:effectLst>
            <a:outerShdw blurRad="466322" dist="133161" dir="1800000">
              <a:srgbClr val="000000">
                <a:alpha val="9800"/>
              </a:srgbClr>
            </a:outerShdw>
          </a:effectLst>
        </p:spPr>
      </p:pic>
      <p:sp>
        <p:nvSpPr>
          <p:cNvPr id="264" name="Google Shape;264;p22"/>
          <p:cNvSpPr/>
          <p:nvPr/>
        </p:nvSpPr>
        <p:spPr>
          <a:xfrm>
            <a:off x="2255700" y="3429000"/>
            <a:ext cx="3030600" cy="49572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2"/>
          <p:cNvSpPr/>
          <p:nvPr/>
        </p:nvSpPr>
        <p:spPr>
          <a:xfrm>
            <a:off x="5547025" y="7823500"/>
            <a:ext cx="10439400" cy="22953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2"/>
          <p:cNvSpPr/>
          <p:nvPr/>
        </p:nvSpPr>
        <p:spPr>
          <a:xfrm>
            <a:off x="5547025" y="5103575"/>
            <a:ext cx="3267900" cy="8436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2"/>
          <p:cNvSpPr txBox="1"/>
          <p:nvPr/>
        </p:nvSpPr>
        <p:spPr>
          <a:xfrm>
            <a:off x="1054100" y="749300"/>
            <a:ext cx="101601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11359A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Oswald SemiBold"/>
              </a:rPr>
              <a:t>1팀_JJS</a:t>
            </a:r>
            <a:endParaRPr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F3"/>
        </a:solidFill>
        <a:effectLst/>
      </p:bgPr>
    </p:bg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72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764000" y="762000"/>
            <a:ext cx="482600" cy="15113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3"/>
          <p:cNvSpPr txBox="1"/>
          <p:nvPr/>
        </p:nvSpPr>
        <p:spPr>
          <a:xfrm>
            <a:off x="4064000" y="1917700"/>
            <a:ext cx="10147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하이브리드 서치 기술 연구</a:t>
            </a:r>
            <a:endParaRPr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74" name="Google Shape;274;p23"/>
          <p:cNvSpPr txBox="1"/>
          <p:nvPr/>
        </p:nvSpPr>
        <p:spPr>
          <a:xfrm>
            <a:off x="3924300" y="914400"/>
            <a:ext cx="104394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6000">
                <a:solidFill>
                  <a:srgbClr val="11359A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데이터베이스 구축</a:t>
            </a:r>
            <a:endParaRPr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75" name="Google Shape;275;p23"/>
          <p:cNvSpPr txBox="1"/>
          <p:nvPr/>
        </p:nvSpPr>
        <p:spPr>
          <a:xfrm>
            <a:off x="17106900" y="9512300"/>
            <a:ext cx="444600" cy="2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Arial"/>
              </a:rPr>
              <a:t>03</a:t>
            </a:r>
            <a:endParaRPr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76" name="Google Shape;276;p23"/>
          <p:cNvSpPr txBox="1"/>
          <p:nvPr/>
        </p:nvSpPr>
        <p:spPr>
          <a:xfrm>
            <a:off x="881500" y="2642750"/>
            <a:ext cx="14611500" cy="50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8300" algn="just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문서 검색 시 </a:t>
            </a:r>
            <a:r>
              <a:rPr lang="en-US" sz="2200" b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키워드 검색(BM 25)</a:t>
            </a:r>
            <a:r>
              <a:rPr lang="en-US" sz="220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과 </a:t>
            </a:r>
            <a:r>
              <a:rPr lang="en-US" sz="2200" b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벡터 유사도 기반(코사인 유사도) 검색</a:t>
            </a:r>
            <a:r>
              <a:rPr lang="en-US" sz="220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을 결합한 하이브리드 서치 방식으로 문서를 효율적으로 찾고자 함.</a:t>
            </a:r>
            <a:endParaRPr sz="220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endParaRPr sz="220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457200" lvl="0" indent="-368300" algn="just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 b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각 검색 방식에서 반환된 문서의 스코어를 정규화하고, 가중치를 부여한 뒤, 결과를 통합 정렬하는 로직을 별도로 설계</a:t>
            </a:r>
            <a:r>
              <a:rPr lang="en-US" sz="220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함.</a:t>
            </a:r>
            <a:endParaRPr sz="220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endParaRPr sz="220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457200" lvl="0" indent="-368300" algn="just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OpenSearch는 하이브리드 검색 기능과 관련 쿼리 문법을 </a:t>
            </a:r>
            <a:r>
              <a:rPr lang="en-US" sz="2200" b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기본적으로 제공</a:t>
            </a:r>
            <a:r>
              <a:rPr lang="en-US" sz="220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하고 있어 복잡한 구현 없이도 강력한 검색 시스템을 구성할 수 있음.</a:t>
            </a:r>
            <a:endParaRPr sz="220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endParaRPr sz="220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457200" lvl="0" indent="-368300" algn="just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OpenSearch에서 제공하는 하이브리드 서치 방식과 정규화 및 가중치 계산 기능을 사용함.</a:t>
            </a:r>
            <a:endParaRPr sz="220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77" name="Google Shape;277;p23"/>
          <p:cNvSpPr txBox="1"/>
          <p:nvPr/>
        </p:nvSpPr>
        <p:spPr>
          <a:xfrm>
            <a:off x="1054100" y="749300"/>
            <a:ext cx="101601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11359A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Oswald SemiBold"/>
              </a:rPr>
              <a:t>1팀_JJS</a:t>
            </a:r>
            <a:endParaRPr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78" name="Google Shape;278;p23"/>
          <p:cNvSpPr/>
          <p:nvPr/>
        </p:nvSpPr>
        <p:spPr>
          <a:xfrm>
            <a:off x="631900" y="4932572"/>
            <a:ext cx="14861100" cy="26073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</p:txBody>
      </p:sp>
      <p:sp>
        <p:nvSpPr>
          <p:cNvPr id="279" name="Google Shape;279;p23"/>
          <p:cNvSpPr/>
          <p:nvPr/>
        </p:nvSpPr>
        <p:spPr>
          <a:xfrm>
            <a:off x="642650" y="2363350"/>
            <a:ext cx="14861100" cy="26073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F3"/>
        </a:solidFill>
        <a:effectLst/>
      </p:bgPr>
    </p:bg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Google Shape;284;p24"/>
          <p:cNvPicPr preferRelativeResize="0"/>
          <p:nvPr/>
        </p:nvPicPr>
        <p:blipFill rotWithShape="1">
          <a:blip r:embed="rId3">
            <a:alphaModFix amt="70000"/>
          </a:blip>
          <a:srcRect/>
          <a:stretch/>
        </p:blipFill>
        <p:spPr>
          <a:xfrm>
            <a:off x="9829800" y="2705100"/>
            <a:ext cx="8661400" cy="8877299"/>
          </a:xfrm>
          <a:prstGeom prst="rect">
            <a:avLst/>
          </a:prstGeom>
          <a:noFill/>
          <a:ln>
            <a:noFill/>
          </a:ln>
          <a:effectLst>
            <a:outerShdw blurRad="466322" dist="133161" dir="1800000">
              <a:srgbClr val="000000">
                <a:alpha val="9800"/>
              </a:srgbClr>
            </a:outerShdw>
          </a:effectLst>
        </p:spPr>
      </p:pic>
      <p:pic>
        <p:nvPicPr>
          <p:cNvPr id="285" name="Google Shape;285;p24"/>
          <p:cNvPicPr preferRelativeResize="0"/>
          <p:nvPr/>
        </p:nvPicPr>
        <p:blipFill rotWithShape="1">
          <a:blip r:embed="rId4">
            <a:alphaModFix amt="80000"/>
          </a:blip>
          <a:srcRect/>
          <a:stretch/>
        </p:blipFill>
        <p:spPr>
          <a:xfrm>
            <a:off x="1638300" y="1854200"/>
            <a:ext cx="2781300" cy="2844800"/>
          </a:xfrm>
          <a:prstGeom prst="rect">
            <a:avLst/>
          </a:prstGeom>
          <a:noFill/>
          <a:ln>
            <a:noFill/>
          </a:ln>
          <a:effectLst>
            <a:outerShdw blurRad="47986" dist="42716" dir="1800000">
              <a:srgbClr val="000000">
                <a:alpha val="9800"/>
              </a:srgbClr>
            </a:outerShdw>
          </a:effectLst>
        </p:spPr>
      </p:pic>
      <p:pic>
        <p:nvPicPr>
          <p:cNvPr id="286" name="Google Shape;286;p24"/>
          <p:cNvPicPr preferRelativeResize="0"/>
          <p:nvPr/>
        </p:nvPicPr>
        <p:blipFill rotWithShape="1">
          <a:blip r:embed="rId4">
            <a:alphaModFix amt="80000"/>
          </a:blip>
          <a:srcRect/>
          <a:stretch/>
        </p:blipFill>
        <p:spPr>
          <a:xfrm>
            <a:off x="1638300" y="1854200"/>
            <a:ext cx="2781300" cy="2844800"/>
          </a:xfrm>
          <a:prstGeom prst="rect">
            <a:avLst/>
          </a:prstGeom>
          <a:noFill/>
          <a:ln>
            <a:noFill/>
          </a:ln>
          <a:effectLst>
            <a:outerShdw blurRad="47986" dist="64074" dir="12600000">
              <a:srgbClr val="FFFFFF">
                <a:alpha val="60000"/>
              </a:srgbClr>
            </a:outerShdw>
          </a:effectLst>
        </p:spPr>
      </p:pic>
      <p:pic>
        <p:nvPicPr>
          <p:cNvPr id="287" name="Google Shape;287;p2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5400000">
            <a:off x="1562100" y="8534400"/>
            <a:ext cx="482600" cy="151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764000" y="762000"/>
            <a:ext cx="482600" cy="15113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4"/>
          <p:cNvSpPr txBox="1"/>
          <p:nvPr/>
        </p:nvSpPr>
        <p:spPr>
          <a:xfrm>
            <a:off x="4064000" y="1917700"/>
            <a:ext cx="10147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하이브리드 서치 기술 연구</a:t>
            </a:r>
            <a:endParaRPr sz="200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</p:txBody>
      </p:sp>
      <p:sp>
        <p:nvSpPr>
          <p:cNvPr id="290" name="Google Shape;290;p24"/>
          <p:cNvSpPr txBox="1"/>
          <p:nvPr/>
        </p:nvSpPr>
        <p:spPr>
          <a:xfrm>
            <a:off x="3924300" y="914400"/>
            <a:ext cx="104394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6000">
                <a:solidFill>
                  <a:srgbClr val="11359A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데이터베이스 구축</a:t>
            </a:r>
            <a:endParaRPr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91" name="Google Shape;291;p24"/>
          <p:cNvSpPr txBox="1"/>
          <p:nvPr/>
        </p:nvSpPr>
        <p:spPr>
          <a:xfrm>
            <a:off x="17106900" y="9512300"/>
            <a:ext cx="444600" cy="2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pic>
        <p:nvPicPr>
          <p:cNvPr id="292" name="Google Shape;292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2500" y="6996977"/>
            <a:ext cx="6604400" cy="264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2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2500" y="4262452"/>
            <a:ext cx="6539484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2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42500" y="5734850"/>
            <a:ext cx="6667674" cy="10344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2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535225" y="2521114"/>
            <a:ext cx="5781675" cy="5244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2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2197475" y="5003789"/>
            <a:ext cx="5781676" cy="5153226"/>
          </a:xfrm>
          <a:prstGeom prst="rect">
            <a:avLst/>
          </a:prstGeom>
          <a:noFill/>
          <a:ln>
            <a:noFill/>
          </a:ln>
          <a:effectLst>
            <a:outerShdw blurRad="466322" dist="199741" dir="12600000">
              <a:srgbClr val="FFFFFF">
                <a:alpha val="49800"/>
              </a:srgbClr>
            </a:outerShdw>
          </a:effectLst>
        </p:spPr>
      </p:pic>
      <p:sp>
        <p:nvSpPr>
          <p:cNvPr id="297" name="Google Shape;297;p24"/>
          <p:cNvSpPr txBox="1"/>
          <p:nvPr/>
        </p:nvSpPr>
        <p:spPr>
          <a:xfrm>
            <a:off x="1054100" y="749300"/>
            <a:ext cx="101601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11359A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Oswald SemiBold"/>
              </a:rPr>
              <a:t>1팀_JJS</a:t>
            </a:r>
            <a:endParaRPr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F3"/>
        </a:solidFill>
        <a:effectLst/>
      </p:bgPr>
    </p:bg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" name="Google Shape;302;p25"/>
          <p:cNvPicPr preferRelativeResize="0"/>
          <p:nvPr/>
        </p:nvPicPr>
        <p:blipFill rotWithShape="1">
          <a:blip r:embed="rId3">
            <a:alphaModFix amt="70000"/>
          </a:blip>
          <a:srcRect/>
          <a:stretch/>
        </p:blipFill>
        <p:spPr>
          <a:xfrm>
            <a:off x="10412936" y="1295400"/>
            <a:ext cx="7852794" cy="8877299"/>
          </a:xfrm>
          <a:prstGeom prst="rect">
            <a:avLst/>
          </a:prstGeom>
          <a:noFill/>
          <a:ln>
            <a:noFill/>
          </a:ln>
          <a:effectLst>
            <a:outerShdw blurRad="466322" dist="133161" dir="1800000">
              <a:srgbClr val="000000">
                <a:alpha val="9800"/>
              </a:srgbClr>
            </a:outerShdw>
          </a:effectLst>
        </p:spPr>
      </p:pic>
      <p:pic>
        <p:nvPicPr>
          <p:cNvPr id="303" name="Google Shape;303;p25"/>
          <p:cNvPicPr preferRelativeResize="0"/>
          <p:nvPr/>
        </p:nvPicPr>
        <p:blipFill rotWithShape="1">
          <a:blip r:embed="rId3">
            <a:alphaModFix amt="70000"/>
          </a:blip>
          <a:srcRect/>
          <a:stretch/>
        </p:blipFill>
        <p:spPr>
          <a:xfrm>
            <a:off x="10412936" y="1295400"/>
            <a:ext cx="7852794" cy="8877299"/>
          </a:xfrm>
          <a:prstGeom prst="rect">
            <a:avLst/>
          </a:prstGeom>
          <a:noFill/>
          <a:ln>
            <a:noFill/>
          </a:ln>
          <a:effectLst>
            <a:outerShdw blurRad="466322" dist="199741" dir="12600000">
              <a:srgbClr val="FFFFFF">
                <a:alpha val="49800"/>
              </a:srgbClr>
            </a:outerShdw>
          </a:effectLst>
        </p:spPr>
      </p:pic>
      <p:sp>
        <p:nvSpPr>
          <p:cNvPr id="304" name="Google Shape;304;p25"/>
          <p:cNvSpPr txBox="1"/>
          <p:nvPr/>
        </p:nvSpPr>
        <p:spPr>
          <a:xfrm>
            <a:off x="1054100" y="749300"/>
            <a:ext cx="101600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305" name="Google Shape;305;p25"/>
          <p:cNvSpPr txBox="1"/>
          <p:nvPr/>
        </p:nvSpPr>
        <p:spPr>
          <a:xfrm>
            <a:off x="3924300" y="838200"/>
            <a:ext cx="104394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11359A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에이전트 개발        </a:t>
            </a:r>
            <a:endParaRPr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307" name="Google Shape;307;p25"/>
          <p:cNvSpPr txBox="1"/>
          <p:nvPr/>
        </p:nvSpPr>
        <p:spPr>
          <a:xfrm>
            <a:off x="1054100" y="673100"/>
            <a:ext cx="101601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11359A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Oswald SemiBold"/>
              </a:rPr>
              <a:t>1팀_JJS</a:t>
            </a:r>
            <a:endParaRPr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308" name="Google Shape;308;p25"/>
          <p:cNvSpPr txBox="1"/>
          <p:nvPr/>
        </p:nvSpPr>
        <p:spPr>
          <a:xfrm>
            <a:off x="10937393" y="7750426"/>
            <a:ext cx="7350600" cy="7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71" dirty="0" err="1">
                <a:solidFill>
                  <a:srgbClr val="9E9E9E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Emloyee_Agent</a:t>
            </a:r>
            <a:endParaRPr sz="1519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marR="0" lvl="0" indent="0" algn="l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71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개인실적</a:t>
            </a:r>
            <a:r>
              <a:rPr lang="en-US" sz="217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및 </a:t>
            </a:r>
            <a:r>
              <a:rPr lang="en-US" sz="2171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인사자료</a:t>
            </a:r>
            <a:r>
              <a:rPr lang="en-US" sz="217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171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검색</a:t>
            </a:r>
            <a:r>
              <a:rPr lang="en-US" sz="217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및 </a:t>
            </a:r>
            <a:r>
              <a:rPr lang="en-US" sz="2171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실적분석레포트를</a:t>
            </a:r>
            <a:r>
              <a:rPr lang="en-US" sz="217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171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통한</a:t>
            </a:r>
            <a:endParaRPr lang="en-US" sz="2171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marR="0" lvl="0" indent="0" algn="l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71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활동</a:t>
            </a:r>
            <a:r>
              <a:rPr lang="en-US" sz="217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171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방향성</a:t>
            </a:r>
            <a:r>
              <a:rPr lang="en-US" sz="217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2171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제시</a:t>
            </a:r>
            <a:endParaRPr sz="1519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309" name="Google Shape;309;p25"/>
          <p:cNvGrpSpPr/>
          <p:nvPr/>
        </p:nvGrpSpPr>
        <p:grpSpPr>
          <a:xfrm>
            <a:off x="9908987" y="7681483"/>
            <a:ext cx="887539" cy="978976"/>
            <a:chOff x="4377590" y="7681483"/>
            <a:chExt cx="978976" cy="978976"/>
          </a:xfrm>
        </p:grpSpPr>
        <p:pic>
          <p:nvPicPr>
            <p:cNvPr id="310" name="Google Shape;310;p25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377590" y="7681483"/>
              <a:ext cx="978976" cy="9789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1" name="Google Shape;311;p25"/>
            <p:cNvSpPr txBox="1"/>
            <p:nvPr/>
          </p:nvSpPr>
          <p:spPr>
            <a:xfrm>
              <a:off x="4501685" y="7860732"/>
              <a:ext cx="772258" cy="5791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328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solidFill>
                    <a:srgbClr val="9E9E9E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Employee</a:t>
              </a:r>
              <a:endParaRPr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</p:grpSp>
      <p:sp>
        <p:nvSpPr>
          <p:cNvPr id="312" name="Google Shape;312;p25"/>
          <p:cNvSpPr txBox="1"/>
          <p:nvPr/>
        </p:nvSpPr>
        <p:spPr>
          <a:xfrm>
            <a:off x="10924892" y="6426740"/>
            <a:ext cx="7350600" cy="7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171" dirty="0" err="1">
                <a:solidFill>
                  <a:srgbClr val="6B7CCD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DB_Agent</a:t>
            </a:r>
            <a:endParaRPr sz="1519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lvl="0" indent="0" algn="l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17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내부규정</a:t>
            </a:r>
            <a:r>
              <a:rPr lang="en-US" sz="217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및 </a:t>
            </a:r>
            <a:r>
              <a:rPr lang="en-US" sz="217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각종</a:t>
            </a:r>
            <a:r>
              <a:rPr lang="en-US" sz="217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217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회사에</a:t>
            </a:r>
            <a:r>
              <a:rPr lang="en-US" sz="217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217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관련된</a:t>
            </a:r>
            <a:r>
              <a:rPr lang="en-US" sz="217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217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정보와</a:t>
            </a:r>
            <a:r>
              <a:rPr lang="en-US" sz="217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217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규정에</a:t>
            </a:r>
            <a:r>
              <a:rPr lang="en-US" sz="217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217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대한DB</a:t>
            </a:r>
            <a:r>
              <a:rPr lang="en-US" sz="217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217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검색</a:t>
            </a:r>
            <a:r>
              <a:rPr lang="en-US" sz="217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 </a:t>
            </a:r>
            <a:endParaRPr sz="1519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marR="0" lvl="0" indent="0" algn="l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71" dirty="0">
              <a:solidFill>
                <a:srgbClr val="595959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313" name="Google Shape;313;p25"/>
          <p:cNvGrpSpPr/>
          <p:nvPr/>
        </p:nvGrpSpPr>
        <p:grpSpPr>
          <a:xfrm>
            <a:off x="9908988" y="6357798"/>
            <a:ext cx="887539" cy="978976"/>
            <a:chOff x="4350013" y="6357798"/>
            <a:chExt cx="978976" cy="978976"/>
          </a:xfrm>
        </p:grpSpPr>
        <p:pic>
          <p:nvPicPr>
            <p:cNvPr id="314" name="Google Shape;314;p25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350013" y="6357798"/>
              <a:ext cx="978976" cy="9789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5" name="Google Shape;315;p25"/>
            <p:cNvSpPr txBox="1"/>
            <p:nvPr/>
          </p:nvSpPr>
          <p:spPr>
            <a:xfrm>
              <a:off x="4453385" y="6537047"/>
              <a:ext cx="772200" cy="57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lnSpc>
                  <a:spcPct val="1328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en-US" sz="1302">
                  <a:solidFill>
                    <a:srgbClr val="6B7CCD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DB</a:t>
              </a:r>
              <a:endParaRPr sz="1302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</p:grpSp>
      <p:sp>
        <p:nvSpPr>
          <p:cNvPr id="316" name="Google Shape;316;p25"/>
          <p:cNvSpPr txBox="1"/>
          <p:nvPr/>
        </p:nvSpPr>
        <p:spPr>
          <a:xfrm>
            <a:off x="10937393" y="3779369"/>
            <a:ext cx="7350600" cy="7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171" dirty="0" err="1">
                <a:solidFill>
                  <a:srgbClr val="9FA9D8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Docs_Agent</a:t>
            </a:r>
            <a:endParaRPr sz="1519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lvl="0" indent="0" algn="l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17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각종</a:t>
            </a:r>
            <a:r>
              <a:rPr lang="en-US" sz="217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217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보고서</a:t>
            </a:r>
            <a:r>
              <a:rPr lang="en-US" sz="217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및 </a:t>
            </a:r>
            <a:r>
              <a:rPr lang="en-US" sz="217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제품설명회</a:t>
            </a:r>
            <a:r>
              <a:rPr lang="en-US" sz="217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217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등의</a:t>
            </a:r>
            <a:r>
              <a:rPr lang="en-US" sz="217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217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양식을</a:t>
            </a:r>
            <a:r>
              <a:rPr lang="en-US" sz="217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217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자동</a:t>
            </a:r>
            <a:r>
              <a:rPr lang="en-US" sz="217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217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생성</a:t>
            </a:r>
            <a:r>
              <a:rPr lang="en-US" sz="217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및</a:t>
            </a:r>
          </a:p>
          <a:p>
            <a:pPr marL="0" lvl="0" indent="0" algn="l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17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규정위반여부</a:t>
            </a:r>
            <a:r>
              <a:rPr lang="en-US" sz="2171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2171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검색</a:t>
            </a:r>
            <a:endParaRPr sz="1519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marR="0" lvl="0" indent="0" algn="l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71" dirty="0">
              <a:solidFill>
                <a:srgbClr val="6B7CCD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317" name="Google Shape;317;p25"/>
          <p:cNvGrpSpPr/>
          <p:nvPr/>
        </p:nvGrpSpPr>
        <p:grpSpPr>
          <a:xfrm>
            <a:off x="9908987" y="3710427"/>
            <a:ext cx="887539" cy="978976"/>
            <a:chOff x="4377590" y="3710427"/>
            <a:chExt cx="978976" cy="978976"/>
          </a:xfrm>
        </p:grpSpPr>
        <p:pic>
          <p:nvPicPr>
            <p:cNvPr id="318" name="Google Shape;318;p25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377590" y="3710427"/>
              <a:ext cx="978976" cy="9789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9" name="Google Shape;319;p25"/>
            <p:cNvSpPr txBox="1"/>
            <p:nvPr/>
          </p:nvSpPr>
          <p:spPr>
            <a:xfrm>
              <a:off x="4501685" y="3889676"/>
              <a:ext cx="772258" cy="5791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328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2">
                  <a:solidFill>
                    <a:srgbClr val="6B7CCD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DOCS</a:t>
              </a:r>
              <a:endParaRPr sz="1302">
                <a:solidFill>
                  <a:srgbClr val="6B7CCD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</p:grpSp>
      <p:sp>
        <p:nvSpPr>
          <p:cNvPr id="320" name="Google Shape;320;p25"/>
          <p:cNvSpPr txBox="1"/>
          <p:nvPr/>
        </p:nvSpPr>
        <p:spPr>
          <a:xfrm>
            <a:off x="10937393" y="2455684"/>
            <a:ext cx="7350600" cy="7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71" dirty="0">
                <a:solidFill>
                  <a:srgbClr val="11359A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Router              </a:t>
            </a:r>
            <a:endParaRPr sz="1519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marR="0" lvl="0" indent="0" algn="l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71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사용자질의가</a:t>
            </a:r>
            <a:r>
              <a:rPr lang="en-US" sz="217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2171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들어오면</a:t>
            </a:r>
            <a:r>
              <a:rPr lang="en-US" sz="217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4개의 </a:t>
            </a:r>
            <a:r>
              <a:rPr lang="en-US" sz="2171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에이전트로</a:t>
            </a:r>
            <a:r>
              <a:rPr lang="en-US" sz="217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2171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분류</a:t>
            </a:r>
            <a:br>
              <a:rPr lang="en-US" sz="217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</a:br>
            <a:r>
              <a:rPr lang="en-US" sz="2171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사용자의</a:t>
            </a:r>
            <a:r>
              <a:rPr lang="en-US" sz="217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2171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질문이</a:t>
            </a:r>
            <a:r>
              <a:rPr lang="en-US" sz="217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4개의 </a:t>
            </a:r>
            <a:r>
              <a:rPr lang="en-US" sz="2171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에이전트와</a:t>
            </a:r>
            <a:r>
              <a:rPr lang="en-US" sz="217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2171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무관하면</a:t>
            </a:r>
            <a:r>
              <a:rPr lang="en-US" sz="217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2171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사용자가</a:t>
            </a:r>
            <a:r>
              <a:rPr lang="en-US" sz="217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2171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직업</a:t>
            </a:r>
            <a:r>
              <a:rPr lang="en-US" sz="217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2171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선택</a:t>
            </a:r>
            <a:endParaRPr sz="1519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321" name="Google Shape;321;p25"/>
          <p:cNvGrpSpPr/>
          <p:nvPr/>
        </p:nvGrpSpPr>
        <p:grpSpPr>
          <a:xfrm>
            <a:off x="9908987" y="2372953"/>
            <a:ext cx="887539" cy="978976"/>
            <a:chOff x="4377590" y="2372953"/>
            <a:chExt cx="978976" cy="978976"/>
          </a:xfrm>
        </p:grpSpPr>
        <p:pic>
          <p:nvPicPr>
            <p:cNvPr id="322" name="Google Shape;322;p25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377590" y="2372953"/>
              <a:ext cx="978976" cy="9789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3" name="Google Shape;323;p25"/>
            <p:cNvSpPr txBox="1"/>
            <p:nvPr/>
          </p:nvSpPr>
          <p:spPr>
            <a:xfrm>
              <a:off x="4487897" y="2556256"/>
              <a:ext cx="772200" cy="57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328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2">
                  <a:solidFill>
                    <a:srgbClr val="11359A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라우터</a:t>
              </a:r>
              <a:endParaRPr sz="1302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</p:grpSp>
      <p:sp>
        <p:nvSpPr>
          <p:cNvPr id="324" name="Google Shape;324;p25"/>
          <p:cNvSpPr txBox="1"/>
          <p:nvPr/>
        </p:nvSpPr>
        <p:spPr>
          <a:xfrm>
            <a:off x="10937393" y="5103055"/>
            <a:ext cx="7350600" cy="7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171">
                <a:solidFill>
                  <a:srgbClr val="59595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Client_Agent</a:t>
            </a:r>
            <a:endParaRPr sz="1519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lvl="0" indent="0" algn="l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17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고객의 데이터를 분석해서 등급 분류 및 활동방향 리포트작성</a:t>
            </a:r>
            <a:endParaRPr sz="1519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marR="0" lvl="0" indent="0" algn="l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71">
              <a:solidFill>
                <a:srgbClr val="9FA9D8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325" name="Google Shape;325;p25"/>
          <p:cNvGrpSpPr/>
          <p:nvPr/>
        </p:nvGrpSpPr>
        <p:grpSpPr>
          <a:xfrm>
            <a:off x="9908990" y="5123737"/>
            <a:ext cx="887539" cy="978976"/>
            <a:chOff x="4315542" y="5123737"/>
            <a:chExt cx="978976" cy="978976"/>
          </a:xfrm>
        </p:grpSpPr>
        <p:pic>
          <p:nvPicPr>
            <p:cNvPr id="326" name="Google Shape;326;p25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4315542" y="5123737"/>
              <a:ext cx="978976" cy="9789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7" name="Google Shape;327;p25"/>
            <p:cNvSpPr txBox="1"/>
            <p:nvPr/>
          </p:nvSpPr>
          <p:spPr>
            <a:xfrm>
              <a:off x="4418901" y="5309880"/>
              <a:ext cx="772258" cy="5791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328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2">
                  <a:solidFill>
                    <a:srgbClr val="9FA9D8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Client</a:t>
              </a:r>
              <a:endParaRPr sz="1302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</p:grpSp>
      <p:pic>
        <p:nvPicPr>
          <p:cNvPr id="328" name="Google Shape;328;p25" title="스크린샷 2025-07-21 094816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0" y="2971800"/>
            <a:ext cx="9768100" cy="53252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F3"/>
        </a:solidFill>
        <a:effectLst/>
      </p:bgPr>
    </p:bg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3" name="Google Shape;333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3350" y="2441800"/>
            <a:ext cx="901700" cy="901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26"/>
          <p:cNvSpPr txBox="1"/>
          <p:nvPr/>
        </p:nvSpPr>
        <p:spPr>
          <a:xfrm>
            <a:off x="1054100" y="749300"/>
            <a:ext cx="101601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335" name="Google Shape;335;p26"/>
          <p:cNvSpPr txBox="1"/>
          <p:nvPr/>
        </p:nvSpPr>
        <p:spPr>
          <a:xfrm>
            <a:off x="1779350" y="2505300"/>
            <a:ext cx="7467600" cy="127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solidFill>
                  <a:srgbClr val="11359A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Router</a:t>
            </a:r>
            <a:endParaRPr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lvl="0" indent="0" algn="l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사용자질의가 들어오면 4개의 에이전트로 분류.</a:t>
            </a:r>
            <a:br>
              <a:rPr lang="en-US" sz="200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</a:br>
            <a:r>
              <a:rPr lang="en-US" sz="200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사용자의 질문이 4개의 에이전트와 무관하면 사용자가 직업 선택.</a:t>
            </a:r>
            <a:endParaRPr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marR="0" lvl="0" indent="0" algn="l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rgbClr val="6B7CCD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336" name="Google Shape;336;p26"/>
          <p:cNvSpPr txBox="1"/>
          <p:nvPr/>
        </p:nvSpPr>
        <p:spPr>
          <a:xfrm>
            <a:off x="858550" y="2625950"/>
            <a:ext cx="711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FA9D8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DOCS</a:t>
            </a:r>
            <a:endParaRPr sz="120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337" name="Google Shape;337;p26"/>
          <p:cNvSpPr txBox="1"/>
          <p:nvPr/>
        </p:nvSpPr>
        <p:spPr>
          <a:xfrm>
            <a:off x="3924300" y="914400"/>
            <a:ext cx="104394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11359A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에이전트 개발</a:t>
            </a:r>
            <a:endParaRPr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338" name="Google Shape;338;p26"/>
          <p:cNvSpPr txBox="1"/>
          <p:nvPr/>
        </p:nvSpPr>
        <p:spPr>
          <a:xfrm>
            <a:off x="17106900" y="9512300"/>
            <a:ext cx="444600" cy="2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/>
          </a:p>
        </p:txBody>
      </p:sp>
      <p:sp>
        <p:nvSpPr>
          <p:cNvPr id="339" name="Google Shape;339;p26"/>
          <p:cNvSpPr txBox="1"/>
          <p:nvPr/>
        </p:nvSpPr>
        <p:spPr>
          <a:xfrm>
            <a:off x="1054100" y="749300"/>
            <a:ext cx="101601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11359A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Oswald SemiBold"/>
              </a:rPr>
              <a:t>1팀_JJS</a:t>
            </a:r>
            <a:endParaRPr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340" name="Google Shape;340;p26"/>
          <p:cNvSpPr txBox="1"/>
          <p:nvPr/>
        </p:nvSpPr>
        <p:spPr>
          <a:xfrm>
            <a:off x="1054100" y="3779700"/>
            <a:ext cx="2134200" cy="6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현재 아키텍처 : </a:t>
            </a:r>
            <a:endParaRPr sz="320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</p:txBody>
      </p:sp>
      <p:pic>
        <p:nvPicPr>
          <p:cNvPr id="341" name="Google Shape;341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542250" y="3619975"/>
            <a:ext cx="7301925" cy="455834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5075" y="8359950"/>
            <a:ext cx="17399101" cy="1469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5075" y="4245150"/>
            <a:ext cx="9892275" cy="393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F3"/>
        </a:solidFill>
        <a:effectLst/>
      </p:bgPr>
    </p:bg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" name="Google Shape;348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725" y="1480400"/>
            <a:ext cx="901700" cy="901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27"/>
          <p:cNvSpPr txBox="1"/>
          <p:nvPr/>
        </p:nvSpPr>
        <p:spPr>
          <a:xfrm>
            <a:off x="1054100" y="749300"/>
            <a:ext cx="101601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350" name="Google Shape;350;p27"/>
          <p:cNvSpPr txBox="1"/>
          <p:nvPr/>
        </p:nvSpPr>
        <p:spPr>
          <a:xfrm>
            <a:off x="1176725" y="1543900"/>
            <a:ext cx="7467600" cy="127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6B7CCD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Docs_Agent</a:t>
            </a:r>
            <a:endParaRPr b="1">
              <a:solidFill>
                <a:srgbClr val="6B7CCD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marR="0" lvl="0" indent="0" algn="l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각종 보고서 및 제품설명회 등의 양식을 </a:t>
            </a:r>
            <a:r>
              <a:rPr lang="en-US" sz="2000" b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자동 생성</a:t>
            </a:r>
            <a:r>
              <a:rPr lang="en-US" sz="20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및 </a:t>
            </a:r>
            <a:r>
              <a:rPr lang="en-US" sz="2000" b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규정위반여부 검색</a:t>
            </a:r>
            <a:endParaRPr sz="2000" b="1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  <a:p>
            <a:pPr marL="0" marR="0" lvl="0" indent="0" algn="l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구현 상태 : 문서 양식 분류, 보고서 내용 초안 작성 </a:t>
            </a:r>
            <a:endParaRPr sz="200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  <a:p>
            <a:pPr marL="0" marR="0" lvl="0" indent="0" algn="l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추가할 기능 : 규정 확인 툴, DB연동, 문서 형태 출력</a:t>
            </a:r>
            <a:endParaRPr sz="200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  <a:p>
            <a:pPr marL="0" marR="0" lvl="0" indent="0" algn="l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</p:txBody>
      </p:sp>
      <p:sp>
        <p:nvSpPr>
          <p:cNvPr id="351" name="Google Shape;351;p27"/>
          <p:cNvSpPr txBox="1"/>
          <p:nvPr/>
        </p:nvSpPr>
        <p:spPr>
          <a:xfrm>
            <a:off x="255925" y="1664550"/>
            <a:ext cx="711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FA9D8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DOCS</a:t>
            </a:r>
            <a:endParaRPr sz="120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352" name="Google Shape;352;p27"/>
          <p:cNvSpPr txBox="1"/>
          <p:nvPr/>
        </p:nvSpPr>
        <p:spPr>
          <a:xfrm>
            <a:off x="3827100" y="330200"/>
            <a:ext cx="104394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6000">
                <a:solidFill>
                  <a:srgbClr val="11359A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에이전트 개발</a:t>
            </a:r>
            <a:endParaRPr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354" name="Google Shape;354;p27"/>
          <p:cNvSpPr txBox="1"/>
          <p:nvPr/>
        </p:nvSpPr>
        <p:spPr>
          <a:xfrm>
            <a:off x="451500" y="330200"/>
            <a:ext cx="101601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11359A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Oswald SemiBold"/>
              </a:rPr>
              <a:t>1팀_JJS</a:t>
            </a:r>
            <a:endParaRPr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355" name="Google Shape;355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89300" y="2965200"/>
            <a:ext cx="13979510" cy="655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27"/>
          <p:cNvSpPr txBox="1"/>
          <p:nvPr/>
        </p:nvSpPr>
        <p:spPr>
          <a:xfrm>
            <a:off x="451500" y="2965200"/>
            <a:ext cx="2134200" cy="6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현재 아키텍처 : </a:t>
            </a:r>
            <a:endParaRPr sz="320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F3"/>
        </a:solidFill>
        <a:effectLst/>
      </p:bgPr>
    </p:bg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1" name="Google Shape;361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725" y="1480400"/>
            <a:ext cx="901700" cy="901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28"/>
          <p:cNvSpPr txBox="1"/>
          <p:nvPr/>
        </p:nvSpPr>
        <p:spPr>
          <a:xfrm>
            <a:off x="1054100" y="749300"/>
            <a:ext cx="101601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363" name="Google Shape;363;p28"/>
          <p:cNvSpPr txBox="1"/>
          <p:nvPr/>
        </p:nvSpPr>
        <p:spPr>
          <a:xfrm>
            <a:off x="1176725" y="1543900"/>
            <a:ext cx="7467600" cy="127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6B7CCD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Docs_Agent</a:t>
            </a:r>
            <a:endParaRPr b="1">
              <a:solidFill>
                <a:srgbClr val="6B7CCD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marR="0" lvl="0" indent="0" algn="l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각종 보고서 및 제품설명회 등의 양식을 자동 생성 및 규정위반여부 검색</a:t>
            </a:r>
            <a:endParaRPr sz="200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  <a:p>
            <a:pPr marL="0" marR="0" lvl="0" indent="0" algn="l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구현 상태 : 문서 양식 분류, 보고서 내용 초안 작성 </a:t>
            </a:r>
            <a:endParaRPr sz="200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  <a:p>
            <a:pPr marL="0" marR="0" lvl="0" indent="0" algn="l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추가할 기능 : 규정 확인 툴, DB연동, 문서 형태 출력</a:t>
            </a:r>
            <a:endParaRPr sz="200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  <a:p>
            <a:pPr marL="0" marR="0" lvl="0" indent="0" algn="l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</p:txBody>
      </p:sp>
      <p:sp>
        <p:nvSpPr>
          <p:cNvPr id="364" name="Google Shape;364;p28"/>
          <p:cNvSpPr txBox="1"/>
          <p:nvPr/>
        </p:nvSpPr>
        <p:spPr>
          <a:xfrm>
            <a:off x="255925" y="1664550"/>
            <a:ext cx="711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FA9D8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DOCS</a:t>
            </a:r>
            <a:endParaRPr sz="120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365" name="Google Shape;365;p28"/>
          <p:cNvSpPr txBox="1"/>
          <p:nvPr/>
        </p:nvSpPr>
        <p:spPr>
          <a:xfrm>
            <a:off x="3827100" y="330200"/>
            <a:ext cx="104394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6000">
                <a:solidFill>
                  <a:srgbClr val="11359A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에이전트 개발</a:t>
            </a:r>
            <a:endParaRPr sz="6000">
              <a:solidFill>
                <a:srgbClr val="11359A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367" name="Google Shape;367;p28"/>
          <p:cNvSpPr txBox="1"/>
          <p:nvPr/>
        </p:nvSpPr>
        <p:spPr>
          <a:xfrm>
            <a:off x="451500" y="330200"/>
            <a:ext cx="101601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11359A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Oswald SemiBold"/>
              </a:rPr>
              <a:t>1팀_JJS</a:t>
            </a:r>
            <a:endParaRPr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368" name="Google Shape;368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3050" y="2965200"/>
            <a:ext cx="6325275" cy="168097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842064" y="2965201"/>
            <a:ext cx="5425085" cy="494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949777" y="8100450"/>
            <a:ext cx="14359897" cy="90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2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83050" y="4793075"/>
            <a:ext cx="6537675" cy="148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F3"/>
        </a:solidFill>
        <a:effectLst/>
      </p:bgPr>
    </p:bg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Google Shape;376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725" y="1480400"/>
            <a:ext cx="901700" cy="901700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29"/>
          <p:cNvSpPr txBox="1"/>
          <p:nvPr/>
        </p:nvSpPr>
        <p:spPr>
          <a:xfrm>
            <a:off x="1054100" y="749300"/>
            <a:ext cx="101601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378" name="Google Shape;378;p29"/>
          <p:cNvSpPr txBox="1"/>
          <p:nvPr/>
        </p:nvSpPr>
        <p:spPr>
          <a:xfrm>
            <a:off x="1176725" y="1543900"/>
            <a:ext cx="7467600" cy="127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6B7CCD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Docs_Agent</a:t>
            </a:r>
            <a:endParaRPr b="1">
              <a:solidFill>
                <a:srgbClr val="6B7CCD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marR="0" lvl="0" indent="0" algn="l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각종 보고서 및 제품설명회 등의 양식을 자동 생성 및 규정위반여부 검색</a:t>
            </a:r>
            <a:endParaRPr sz="200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  <a:p>
            <a:pPr marL="0" marR="0" lvl="0" indent="0" algn="l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구현 상태 : 문서 양식 분류, 보고서 내용 초안 작성 </a:t>
            </a:r>
            <a:endParaRPr sz="200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  <a:p>
            <a:pPr marL="0" marR="0" lvl="0" indent="0" algn="l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추가할 기능 : 규정 확인 툴, DB연동, 문서 형태 출력</a:t>
            </a:r>
            <a:endParaRPr sz="200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  <a:p>
            <a:pPr marL="0" marR="0" lvl="0" indent="0" algn="l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</p:txBody>
      </p:sp>
      <p:sp>
        <p:nvSpPr>
          <p:cNvPr id="379" name="Google Shape;379;p29"/>
          <p:cNvSpPr txBox="1"/>
          <p:nvPr/>
        </p:nvSpPr>
        <p:spPr>
          <a:xfrm>
            <a:off x="255925" y="1664550"/>
            <a:ext cx="711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FA9D8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DOCS</a:t>
            </a:r>
            <a:endParaRPr sz="120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380" name="Google Shape;380;p29"/>
          <p:cNvSpPr txBox="1"/>
          <p:nvPr/>
        </p:nvSpPr>
        <p:spPr>
          <a:xfrm>
            <a:off x="3827100" y="330200"/>
            <a:ext cx="104394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6000">
                <a:solidFill>
                  <a:srgbClr val="11359A"/>
                </a:solidFill>
              </a:rPr>
              <a:t>에이전트 개발</a:t>
            </a:r>
            <a:endParaRPr sz="6000">
              <a:solidFill>
                <a:srgbClr val="11359A"/>
              </a:solidFill>
            </a:endParaRPr>
          </a:p>
        </p:txBody>
      </p:sp>
      <p:sp>
        <p:nvSpPr>
          <p:cNvPr id="382" name="Google Shape;382;p29"/>
          <p:cNvSpPr txBox="1"/>
          <p:nvPr/>
        </p:nvSpPr>
        <p:spPr>
          <a:xfrm>
            <a:off x="451500" y="330200"/>
            <a:ext cx="101601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11359A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Oswald SemiBold"/>
              </a:rPr>
              <a:t>1팀_JJS</a:t>
            </a:r>
            <a:endParaRPr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383" name="Google Shape;383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5918" y="3554339"/>
            <a:ext cx="16701752" cy="478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F3"/>
        </a:solidFill>
        <a:effectLst/>
      </p:bgPr>
    </p:bg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8" name="Google Shape;388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3350" y="2441800"/>
            <a:ext cx="901700" cy="901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30"/>
          <p:cNvSpPr txBox="1"/>
          <p:nvPr/>
        </p:nvSpPr>
        <p:spPr>
          <a:xfrm>
            <a:off x="1054100" y="749300"/>
            <a:ext cx="101601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390" name="Google Shape;390;p30"/>
          <p:cNvSpPr txBox="1"/>
          <p:nvPr/>
        </p:nvSpPr>
        <p:spPr>
          <a:xfrm>
            <a:off x="1779350" y="2505300"/>
            <a:ext cx="7467600" cy="127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solidFill>
                  <a:srgbClr val="59595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Client_Agent</a:t>
            </a:r>
            <a:endParaRPr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lvl="0" indent="0" algn="l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고객의 데이터를 분석해서 등급 분류 및 활동방향 리포트작성</a:t>
            </a:r>
            <a:endParaRPr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marR="0" lvl="0" indent="0" algn="l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11359A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391" name="Google Shape;391;p30"/>
          <p:cNvSpPr txBox="1"/>
          <p:nvPr/>
        </p:nvSpPr>
        <p:spPr>
          <a:xfrm>
            <a:off x="858550" y="2625950"/>
            <a:ext cx="711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FA9D8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DOCS</a:t>
            </a:r>
            <a:endParaRPr sz="120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392" name="Google Shape;392;p30"/>
          <p:cNvSpPr txBox="1"/>
          <p:nvPr/>
        </p:nvSpPr>
        <p:spPr>
          <a:xfrm>
            <a:off x="3924300" y="914400"/>
            <a:ext cx="104394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6000">
                <a:solidFill>
                  <a:srgbClr val="11359A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에이전트 개발</a:t>
            </a:r>
            <a:endParaRPr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393" name="Google Shape;393;p30"/>
          <p:cNvSpPr txBox="1"/>
          <p:nvPr/>
        </p:nvSpPr>
        <p:spPr>
          <a:xfrm>
            <a:off x="17106900" y="9512300"/>
            <a:ext cx="444600" cy="2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94" name="Google Shape;394;p30"/>
          <p:cNvSpPr txBox="1"/>
          <p:nvPr/>
        </p:nvSpPr>
        <p:spPr>
          <a:xfrm>
            <a:off x="1054100" y="749300"/>
            <a:ext cx="101601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11359A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Oswald SemiBold"/>
              </a:rPr>
              <a:t>1팀_JJS</a:t>
            </a:r>
            <a:endParaRPr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395" name="Google Shape;395;p30"/>
          <p:cNvSpPr txBox="1"/>
          <p:nvPr/>
        </p:nvSpPr>
        <p:spPr>
          <a:xfrm>
            <a:off x="1054100" y="3779700"/>
            <a:ext cx="15285600" cy="6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현재</a:t>
            </a:r>
            <a:r>
              <a:rPr lang="en-US" sz="20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아키텍처</a:t>
            </a:r>
            <a:r>
              <a:rPr lang="en-US" sz="20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:  </a:t>
            </a:r>
            <a:r>
              <a:rPr lang="en-US" sz="20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거래처의</a:t>
            </a:r>
            <a:r>
              <a:rPr lang="en-US" sz="20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등급을</a:t>
            </a:r>
            <a:r>
              <a:rPr lang="en-US" sz="20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기준에</a:t>
            </a:r>
            <a:r>
              <a:rPr lang="en-US" sz="20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의거하여</a:t>
            </a:r>
            <a:r>
              <a:rPr lang="en-US" sz="20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분류하고</a:t>
            </a:r>
            <a:r>
              <a:rPr lang="en-US" sz="20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분석하여</a:t>
            </a:r>
            <a:r>
              <a:rPr lang="en-US" sz="20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영업전략</a:t>
            </a:r>
            <a:r>
              <a:rPr lang="en-US" sz="20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, </a:t>
            </a:r>
            <a:r>
              <a:rPr lang="en-US" sz="20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성장배경에</a:t>
            </a:r>
            <a:r>
              <a:rPr lang="en-US" sz="20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관한</a:t>
            </a:r>
            <a:r>
              <a:rPr lang="en-US" sz="20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레포트를</a:t>
            </a:r>
            <a:r>
              <a:rPr lang="en-US" sz="2000" dirty="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작성</a:t>
            </a:r>
            <a:endParaRPr sz="3200" dirty="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</p:txBody>
      </p:sp>
      <p:pic>
        <p:nvPicPr>
          <p:cNvPr id="396" name="Google Shape;396;p30" title="스크린샷 2025-07-21 08541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54100" y="4842000"/>
            <a:ext cx="15285474" cy="4670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4475" y="4303800"/>
            <a:ext cx="4762500" cy="194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394250" y="4391700"/>
            <a:ext cx="6635023" cy="209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F3"/>
        </a:solidFill>
        <a:effectLst/>
      </p:bgPr>
    </p:bg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3" name="Google Shape;403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3350" y="2441800"/>
            <a:ext cx="901700" cy="901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1"/>
          <p:cNvSpPr txBox="1"/>
          <p:nvPr/>
        </p:nvSpPr>
        <p:spPr>
          <a:xfrm>
            <a:off x="1054100" y="749300"/>
            <a:ext cx="101601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405" name="Google Shape;405;p31"/>
          <p:cNvSpPr txBox="1"/>
          <p:nvPr/>
        </p:nvSpPr>
        <p:spPr>
          <a:xfrm>
            <a:off x="1779350" y="2505300"/>
            <a:ext cx="7467600" cy="127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solidFill>
                  <a:srgbClr val="6B7CCD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DB_Agent</a:t>
            </a:r>
            <a:endParaRPr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lvl="0" indent="0" algn="l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내부규정 및 각종 회사에 관련된 정보와 규정에 대한DB 검색</a:t>
            </a:r>
            <a:r>
              <a:rPr lang="en-US" sz="200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 </a:t>
            </a:r>
            <a:endParaRPr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marR="0" lvl="0" indent="0" algn="l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595959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406" name="Google Shape;406;p31"/>
          <p:cNvSpPr txBox="1"/>
          <p:nvPr/>
        </p:nvSpPr>
        <p:spPr>
          <a:xfrm>
            <a:off x="858550" y="2625950"/>
            <a:ext cx="711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FA9D8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DOCS</a:t>
            </a:r>
            <a:endParaRPr sz="120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407" name="Google Shape;407;p31"/>
          <p:cNvSpPr txBox="1"/>
          <p:nvPr/>
        </p:nvSpPr>
        <p:spPr>
          <a:xfrm>
            <a:off x="3924300" y="914400"/>
            <a:ext cx="104394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6000">
                <a:solidFill>
                  <a:srgbClr val="11359A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에이전트 개발</a:t>
            </a:r>
            <a:endParaRPr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409" name="Google Shape;409;p31"/>
          <p:cNvSpPr txBox="1"/>
          <p:nvPr/>
        </p:nvSpPr>
        <p:spPr>
          <a:xfrm>
            <a:off x="1054100" y="749300"/>
            <a:ext cx="101601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11359A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Oswald SemiBold"/>
              </a:rPr>
              <a:t>1팀_JJS</a:t>
            </a:r>
            <a:endParaRPr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410" name="Google Shape;410;p31"/>
          <p:cNvSpPr txBox="1"/>
          <p:nvPr/>
        </p:nvSpPr>
        <p:spPr>
          <a:xfrm>
            <a:off x="1054100" y="3779700"/>
            <a:ext cx="2134200" cy="6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현재 아키텍처 : </a:t>
            </a:r>
            <a:endParaRPr sz="320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</p:txBody>
      </p:sp>
      <p:pic>
        <p:nvPicPr>
          <p:cNvPr id="411" name="Google Shape;411;p31" title="스크린샷 2025-07-21 09010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915668"/>
            <a:ext cx="18288000" cy="2455664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31" title="imag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200" y="6523725"/>
            <a:ext cx="6746625" cy="3563075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31"/>
          <p:cNvSpPr txBox="1"/>
          <p:nvPr/>
        </p:nvSpPr>
        <p:spPr>
          <a:xfrm>
            <a:off x="7644000" y="6659700"/>
            <a:ext cx="9462900" cy="15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사용자의 질문에 대해 문서 기반으로 적절한 응답을 생성하는 검색 기반 QA 프로세스입니다. 먼저 질문에서 핵심 키워드를 추출한 후, 벡터 및 키워드 기반 하이브리드 검색을 수행하고, 검색된 문서를 관련도 순으로 재정렬합니다. 이후 상위 문서를 요약 및 정리하여 최종 응답을 사용자에게 제공합니다</a:t>
            </a:r>
            <a:endParaRPr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F3"/>
        </a:solidFill>
        <a:effectLst/>
      </p:bgPr>
    </p:bg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8" name="Google Shape;418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3350" y="2441800"/>
            <a:ext cx="901700" cy="90170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32"/>
          <p:cNvSpPr txBox="1"/>
          <p:nvPr/>
        </p:nvSpPr>
        <p:spPr>
          <a:xfrm>
            <a:off x="1054100" y="749300"/>
            <a:ext cx="101601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420" name="Google Shape;420;p32"/>
          <p:cNvSpPr txBox="1"/>
          <p:nvPr/>
        </p:nvSpPr>
        <p:spPr>
          <a:xfrm>
            <a:off x="1779350" y="2505300"/>
            <a:ext cx="7467600" cy="127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solidFill>
                  <a:srgbClr val="9E9E9E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Emloyee_Agent</a:t>
            </a:r>
            <a:endParaRPr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lvl="0" indent="0" algn="l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개인실적 및 인사자료 검색 및 실적분석레포트를 통한 활동 방향성 제시</a:t>
            </a:r>
            <a:endParaRPr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marR="0" lvl="0" indent="0" algn="l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11359A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421" name="Google Shape;421;p32"/>
          <p:cNvSpPr txBox="1"/>
          <p:nvPr/>
        </p:nvSpPr>
        <p:spPr>
          <a:xfrm>
            <a:off x="858550" y="2625950"/>
            <a:ext cx="711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FA9D8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DOCS</a:t>
            </a:r>
            <a:endParaRPr sz="120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422" name="Google Shape;422;p32"/>
          <p:cNvSpPr txBox="1"/>
          <p:nvPr/>
        </p:nvSpPr>
        <p:spPr>
          <a:xfrm>
            <a:off x="3759425" y="660000"/>
            <a:ext cx="104394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6000">
                <a:solidFill>
                  <a:srgbClr val="11359A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에이전트 개발</a:t>
            </a:r>
            <a:endParaRPr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424" name="Google Shape;424;p32"/>
          <p:cNvSpPr txBox="1"/>
          <p:nvPr/>
        </p:nvSpPr>
        <p:spPr>
          <a:xfrm>
            <a:off x="1054100" y="749300"/>
            <a:ext cx="101601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11359A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Oswald SemiBold"/>
              </a:rPr>
              <a:t>1팀_JJS</a:t>
            </a:r>
            <a:endParaRPr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425" name="Google Shape;425;p32"/>
          <p:cNvSpPr txBox="1"/>
          <p:nvPr/>
        </p:nvSpPr>
        <p:spPr>
          <a:xfrm>
            <a:off x="1054100" y="3779700"/>
            <a:ext cx="2134200" cy="6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현재 아키텍처 : </a:t>
            </a:r>
            <a:endParaRPr sz="3200">
              <a:solidFill>
                <a:schemeClr val="dk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</p:txBody>
      </p:sp>
      <p:pic>
        <p:nvPicPr>
          <p:cNvPr id="426" name="Google Shape;426;p32" title="스크린샷 2025-07-21 09125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4558200"/>
            <a:ext cx="17983201" cy="42148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F3"/>
        </a:solidFill>
        <a:effectLst/>
      </p:bgPr>
    </p:bg>
    <p:spTree>
      <p:nvGrpSpPr>
        <p:cNvPr id="1" name="Shape 417">
          <a:extLst>
            <a:ext uri="{FF2B5EF4-FFF2-40B4-BE49-F238E27FC236}">
              <a16:creationId xmlns:a16="http://schemas.microsoft.com/office/drawing/2014/main" id="{392DF3E2-8720-ECAD-4261-EED8FAB64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32">
            <a:extLst>
              <a:ext uri="{FF2B5EF4-FFF2-40B4-BE49-F238E27FC236}">
                <a16:creationId xmlns:a16="http://schemas.microsoft.com/office/drawing/2014/main" id="{71828406-3AD8-452A-B8D7-3C6DCD69A511}"/>
              </a:ext>
            </a:extLst>
          </p:cNvPr>
          <p:cNvSpPr txBox="1"/>
          <p:nvPr/>
        </p:nvSpPr>
        <p:spPr>
          <a:xfrm>
            <a:off x="1054100" y="749300"/>
            <a:ext cx="101601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422" name="Google Shape;422;p32">
            <a:extLst>
              <a:ext uri="{FF2B5EF4-FFF2-40B4-BE49-F238E27FC236}">
                <a16:creationId xmlns:a16="http://schemas.microsoft.com/office/drawing/2014/main" id="{EDDE4C10-4B49-12ED-41BB-A9016B6A2AA1}"/>
              </a:ext>
            </a:extLst>
          </p:cNvPr>
          <p:cNvSpPr txBox="1"/>
          <p:nvPr/>
        </p:nvSpPr>
        <p:spPr>
          <a:xfrm>
            <a:off x="3759425" y="660000"/>
            <a:ext cx="104394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6000">
                <a:solidFill>
                  <a:srgbClr val="11359A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에이전트 개발</a:t>
            </a:r>
            <a:endParaRPr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424" name="Google Shape;424;p32">
            <a:extLst>
              <a:ext uri="{FF2B5EF4-FFF2-40B4-BE49-F238E27FC236}">
                <a16:creationId xmlns:a16="http://schemas.microsoft.com/office/drawing/2014/main" id="{F42FF095-403A-2DEF-2C78-DDB996EEBA1A}"/>
              </a:ext>
            </a:extLst>
          </p:cNvPr>
          <p:cNvSpPr txBox="1"/>
          <p:nvPr/>
        </p:nvSpPr>
        <p:spPr>
          <a:xfrm>
            <a:off x="1054100" y="749300"/>
            <a:ext cx="101601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11359A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Oswald SemiBold"/>
              </a:rPr>
              <a:t>1팀_JJS</a:t>
            </a:r>
            <a:endParaRPr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3" name="그림 2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CA75A3B-DBDA-1FB3-7839-073D5E5E50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0999" y="2580617"/>
            <a:ext cx="7516274" cy="6315956"/>
          </a:xfrm>
          <a:prstGeom prst="rect">
            <a:avLst/>
          </a:prstGeom>
        </p:spPr>
      </p:pic>
      <p:pic>
        <p:nvPicPr>
          <p:cNvPr id="5" name="그림 4" descr="텍스트, 폰트, 편지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CFBBCC3-AB71-71DF-224E-8BEDE6B646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5068" y="1816100"/>
            <a:ext cx="5858263" cy="7937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5239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F3"/>
        </a:solidFill>
        <a:effectLst/>
      </p:bgPr>
    </p:bg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33"/>
          <p:cNvSpPr txBox="1"/>
          <p:nvPr/>
        </p:nvSpPr>
        <p:spPr>
          <a:xfrm>
            <a:off x="4132725" y="171050"/>
            <a:ext cx="104394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11359A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             서류 작성</a:t>
            </a:r>
            <a:endParaRPr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434" name="Google Shape;434;p33"/>
          <p:cNvSpPr txBox="1"/>
          <p:nvPr/>
        </p:nvSpPr>
        <p:spPr>
          <a:xfrm>
            <a:off x="2444600" y="1237850"/>
            <a:ext cx="15335400" cy="78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pic>
        <p:nvPicPr>
          <p:cNvPr id="435" name="Google Shape;43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7000" y="1435525"/>
            <a:ext cx="3544225" cy="4600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01375" y="1457548"/>
            <a:ext cx="3696628" cy="46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411450" y="1457550"/>
            <a:ext cx="3696625" cy="4758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3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26050" y="5327350"/>
            <a:ext cx="3845127" cy="4600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3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258625" y="5803600"/>
            <a:ext cx="3199549" cy="3072250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33"/>
          <p:cNvSpPr txBox="1"/>
          <p:nvPr/>
        </p:nvSpPr>
        <p:spPr>
          <a:xfrm>
            <a:off x="1054100" y="749300"/>
            <a:ext cx="101601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11359A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Oswald SemiBold"/>
              </a:rPr>
              <a:t>1팀_JJS</a:t>
            </a:r>
            <a:endParaRPr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F3"/>
        </a:solidFill>
        <a:effectLst/>
      </p:bgPr>
    </p:bg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34"/>
          <p:cNvSpPr txBox="1"/>
          <p:nvPr/>
        </p:nvSpPr>
        <p:spPr>
          <a:xfrm>
            <a:off x="4132725" y="171050"/>
            <a:ext cx="104394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11359A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             서류 작성</a:t>
            </a:r>
            <a:endParaRPr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446" name="Google Shape;446;p34"/>
          <p:cNvSpPr txBox="1"/>
          <p:nvPr/>
        </p:nvSpPr>
        <p:spPr>
          <a:xfrm>
            <a:off x="17106900" y="9512300"/>
            <a:ext cx="444600" cy="2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447" name="Google Shape;447;p34"/>
          <p:cNvSpPr txBox="1"/>
          <p:nvPr/>
        </p:nvSpPr>
        <p:spPr>
          <a:xfrm>
            <a:off x="2444600" y="1237850"/>
            <a:ext cx="15335400" cy="78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48" name="Google Shape;448;p34"/>
          <p:cNvSpPr txBox="1"/>
          <p:nvPr/>
        </p:nvSpPr>
        <p:spPr>
          <a:xfrm>
            <a:off x="1054100" y="749300"/>
            <a:ext cx="101601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11359A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Oswald SemiBold"/>
              </a:rPr>
              <a:t>1팀_JJS</a:t>
            </a:r>
            <a:endParaRPr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449" name="Google Shape;449;p34" title="시스템_아키텍처_JJ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3804" y="1587025"/>
            <a:ext cx="14540390" cy="7802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F3"/>
        </a:solidFill>
        <a:effectLst/>
      </p:bgPr>
    </p:bg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4" name="Google Shape;454;p35"/>
          <p:cNvPicPr preferRelativeResize="0"/>
          <p:nvPr/>
        </p:nvPicPr>
        <p:blipFill rotWithShape="1">
          <a:blip r:embed="rId3">
            <a:alphaModFix amt="70000"/>
          </a:blip>
          <a:srcRect/>
          <a:stretch/>
        </p:blipFill>
        <p:spPr>
          <a:xfrm>
            <a:off x="9829800" y="2641600"/>
            <a:ext cx="8661400" cy="8877300"/>
          </a:xfrm>
          <a:prstGeom prst="rect">
            <a:avLst/>
          </a:prstGeom>
          <a:noFill/>
          <a:ln>
            <a:noFill/>
          </a:ln>
          <a:effectLst>
            <a:outerShdw blurRad="466322" dist="133161" dir="1800000">
              <a:srgbClr val="000000">
                <a:alpha val="9803"/>
              </a:srgbClr>
            </a:outerShdw>
          </a:effectLst>
        </p:spPr>
      </p:pic>
      <p:pic>
        <p:nvPicPr>
          <p:cNvPr id="455" name="Google Shape;455;p35"/>
          <p:cNvPicPr preferRelativeResize="0"/>
          <p:nvPr/>
        </p:nvPicPr>
        <p:blipFill rotWithShape="1">
          <a:blip r:embed="rId3">
            <a:alphaModFix amt="70000"/>
          </a:blip>
          <a:srcRect/>
          <a:stretch/>
        </p:blipFill>
        <p:spPr>
          <a:xfrm>
            <a:off x="9842500" y="2641600"/>
            <a:ext cx="8661400" cy="8877300"/>
          </a:xfrm>
          <a:prstGeom prst="rect">
            <a:avLst/>
          </a:prstGeom>
          <a:noFill/>
          <a:ln>
            <a:noFill/>
          </a:ln>
          <a:effectLst>
            <a:outerShdw blurRad="466322" dist="199741" dir="12600000">
              <a:srgbClr val="FFFFFF">
                <a:alpha val="49803"/>
              </a:srgbClr>
            </a:outerShdw>
          </a:effectLst>
        </p:spPr>
      </p:pic>
      <p:pic>
        <p:nvPicPr>
          <p:cNvPr id="456" name="Google Shape;456;p35"/>
          <p:cNvPicPr preferRelativeResize="0"/>
          <p:nvPr/>
        </p:nvPicPr>
        <p:blipFill rotWithShape="1">
          <a:blip r:embed="rId4">
            <a:alphaModFix amt="80000"/>
          </a:blip>
          <a:srcRect/>
          <a:stretch/>
        </p:blipFill>
        <p:spPr>
          <a:xfrm>
            <a:off x="1638300" y="1854200"/>
            <a:ext cx="2781300" cy="2844800"/>
          </a:xfrm>
          <a:prstGeom prst="rect">
            <a:avLst/>
          </a:prstGeom>
          <a:noFill/>
          <a:ln>
            <a:noFill/>
          </a:ln>
          <a:effectLst>
            <a:outerShdw blurRad="47986" dist="42716" dir="1800000">
              <a:srgbClr val="000000">
                <a:alpha val="9803"/>
              </a:srgbClr>
            </a:outerShdw>
          </a:effectLst>
        </p:spPr>
      </p:pic>
      <p:pic>
        <p:nvPicPr>
          <p:cNvPr id="457" name="Google Shape;457;p35"/>
          <p:cNvPicPr preferRelativeResize="0"/>
          <p:nvPr/>
        </p:nvPicPr>
        <p:blipFill rotWithShape="1">
          <a:blip r:embed="rId4">
            <a:alphaModFix amt="80000"/>
          </a:blip>
          <a:srcRect/>
          <a:stretch/>
        </p:blipFill>
        <p:spPr>
          <a:xfrm>
            <a:off x="1638300" y="1854200"/>
            <a:ext cx="2781300" cy="2844800"/>
          </a:xfrm>
          <a:prstGeom prst="rect">
            <a:avLst/>
          </a:prstGeom>
          <a:noFill/>
          <a:ln>
            <a:noFill/>
          </a:ln>
          <a:effectLst>
            <a:outerShdw blurRad="47986" dist="64074" dir="12600000">
              <a:srgbClr val="FFFFFF">
                <a:alpha val="60000"/>
              </a:srgbClr>
            </a:outerShdw>
          </a:effectLst>
        </p:spPr>
      </p:pic>
      <p:pic>
        <p:nvPicPr>
          <p:cNvPr id="458" name="Google Shape;458;p3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764000" y="762000"/>
            <a:ext cx="482600" cy="151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3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252200" y="6032500"/>
            <a:ext cx="42672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0" name="Google Shape;460;p3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010400" y="6032500"/>
            <a:ext cx="42672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1" name="Google Shape;461;p35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768600" y="6032500"/>
            <a:ext cx="42672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2" name="Google Shape;462;p35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 rot="10800000">
            <a:off x="12204700" y="3302000"/>
            <a:ext cx="2374900" cy="237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35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2484100" y="3581400"/>
            <a:ext cx="1816100" cy="180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p35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 rot="10800000">
            <a:off x="7950200" y="3302000"/>
            <a:ext cx="2374900" cy="237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5" name="Google Shape;465;p35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255000" y="3606800"/>
            <a:ext cx="1765300" cy="177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" name="Google Shape;466;p35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 rot="10800000">
            <a:off x="3708400" y="3302000"/>
            <a:ext cx="2374900" cy="237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7" name="Google Shape;467;p35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4013200" y="3594100"/>
            <a:ext cx="1778000" cy="177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35"/>
          <p:cNvSpPr txBox="1"/>
          <p:nvPr/>
        </p:nvSpPr>
        <p:spPr>
          <a:xfrm>
            <a:off x="11874500" y="7594600"/>
            <a:ext cx="30353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AWS 배포</a:t>
            </a:r>
            <a:endParaRPr sz="200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  <a:p>
            <a:pPr marL="0" marR="0" lvl="0" indent="0" algn="ctr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웹 페이지 설계 및 구현</a:t>
            </a:r>
            <a:endParaRPr sz="200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  <a:p>
            <a:pPr marL="0" marR="0" lvl="0" indent="0" algn="ctr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기능 고도화</a:t>
            </a:r>
            <a:endParaRPr sz="200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</p:txBody>
      </p:sp>
      <p:sp>
        <p:nvSpPr>
          <p:cNvPr id="469" name="Google Shape;469;p35"/>
          <p:cNvSpPr txBox="1"/>
          <p:nvPr/>
        </p:nvSpPr>
        <p:spPr>
          <a:xfrm>
            <a:off x="7632700" y="7594600"/>
            <a:ext cx="30353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백&amp;프론트 연결</a:t>
            </a:r>
            <a:endParaRPr sz="200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  <a:p>
            <a:pPr marL="0" marR="0" lvl="0" indent="0" algn="ctr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에이전트 통합</a:t>
            </a:r>
            <a:endParaRPr sz="200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  <a:p>
            <a:pPr marL="0" marR="0" lvl="0" indent="0" algn="ctr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챗봇 구현</a:t>
            </a:r>
            <a:endParaRPr sz="200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</p:txBody>
      </p:sp>
      <p:sp>
        <p:nvSpPr>
          <p:cNvPr id="470" name="Google Shape;470;p35"/>
          <p:cNvSpPr txBox="1"/>
          <p:nvPr/>
        </p:nvSpPr>
        <p:spPr>
          <a:xfrm>
            <a:off x="3378200" y="7594600"/>
            <a:ext cx="30353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데이터베이스 구축</a:t>
            </a:r>
            <a:endParaRPr sz="200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  <a:p>
            <a:pPr marL="0" marR="0" lvl="0" indent="0" algn="ctr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에이전트 </a:t>
            </a:r>
            <a:r>
              <a:rPr lang="en-US" sz="2000">
                <a:solidFill>
                  <a:schemeClr val="dk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연구 및 발</a:t>
            </a:r>
            <a:endParaRPr sz="200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  <a:p>
            <a:pPr marL="0" marR="0" lvl="0" indent="0" algn="ctr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산출물 작성</a:t>
            </a:r>
            <a:endParaRPr sz="200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Calibri"/>
            </a:endParaRPr>
          </a:p>
        </p:txBody>
      </p:sp>
      <p:sp>
        <p:nvSpPr>
          <p:cNvPr id="471" name="Google Shape;471;p35"/>
          <p:cNvSpPr txBox="1"/>
          <p:nvPr/>
        </p:nvSpPr>
        <p:spPr>
          <a:xfrm>
            <a:off x="12280900" y="7048500"/>
            <a:ext cx="2222500" cy="4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11359A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FUTURE</a:t>
            </a:r>
            <a:endParaRPr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472" name="Google Shape;472;p35"/>
          <p:cNvSpPr txBox="1"/>
          <p:nvPr/>
        </p:nvSpPr>
        <p:spPr>
          <a:xfrm>
            <a:off x="8039100" y="7048500"/>
            <a:ext cx="2222500" cy="4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6B7CCD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NOW</a:t>
            </a:r>
            <a:endParaRPr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473" name="Google Shape;473;p35"/>
          <p:cNvSpPr txBox="1"/>
          <p:nvPr/>
        </p:nvSpPr>
        <p:spPr>
          <a:xfrm>
            <a:off x="3784600" y="7048500"/>
            <a:ext cx="2222500" cy="4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9FA9D8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PAST</a:t>
            </a:r>
            <a:endParaRPr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474" name="Google Shape;474;p35"/>
          <p:cNvSpPr txBox="1"/>
          <p:nvPr/>
        </p:nvSpPr>
        <p:spPr>
          <a:xfrm>
            <a:off x="12280900" y="6108700"/>
            <a:ext cx="22225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5주차</a:t>
            </a:r>
            <a:endParaRPr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475" name="Google Shape;475;p35"/>
          <p:cNvSpPr txBox="1"/>
          <p:nvPr/>
        </p:nvSpPr>
        <p:spPr>
          <a:xfrm>
            <a:off x="8026400" y="6108700"/>
            <a:ext cx="22225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4주차</a:t>
            </a:r>
            <a:endParaRPr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476" name="Google Shape;476;p35"/>
          <p:cNvSpPr txBox="1"/>
          <p:nvPr/>
        </p:nvSpPr>
        <p:spPr>
          <a:xfrm>
            <a:off x="3784600" y="6108700"/>
            <a:ext cx="22225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3주차</a:t>
            </a:r>
            <a:endParaRPr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477" name="Google Shape;477;p35"/>
          <p:cNvSpPr txBox="1"/>
          <p:nvPr/>
        </p:nvSpPr>
        <p:spPr>
          <a:xfrm>
            <a:off x="4064000" y="1917700"/>
            <a:ext cx="10147300" cy="3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진행 예정 사항</a:t>
            </a:r>
            <a:endParaRPr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478" name="Google Shape;478;p35"/>
          <p:cNvSpPr txBox="1"/>
          <p:nvPr/>
        </p:nvSpPr>
        <p:spPr>
          <a:xfrm>
            <a:off x="3924300" y="914400"/>
            <a:ext cx="104394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0" i="0" u="none" strike="noStrike" cap="none">
                <a:solidFill>
                  <a:srgbClr val="11359A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Arial"/>
              </a:rPr>
              <a:t>ROADMAP</a:t>
            </a:r>
            <a:endParaRPr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480" name="Google Shape;480;p35"/>
          <p:cNvSpPr txBox="1"/>
          <p:nvPr/>
        </p:nvSpPr>
        <p:spPr>
          <a:xfrm>
            <a:off x="1054100" y="749300"/>
            <a:ext cx="101601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11359A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Oswald SemiBold"/>
              </a:rPr>
              <a:t>1팀_JJS</a:t>
            </a:r>
            <a:endParaRPr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F3"/>
        </a:solidFill>
        <a:effectLst/>
      </p:bgPr>
    </p:bg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5" name="Google Shape;485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29800" y="2705100"/>
            <a:ext cx="8661400" cy="8877300"/>
          </a:xfrm>
          <a:prstGeom prst="rect">
            <a:avLst/>
          </a:prstGeom>
          <a:noFill/>
          <a:ln>
            <a:noFill/>
          </a:ln>
          <a:effectLst>
            <a:outerShdw blurRad="466322" dist="133161" dir="1800000">
              <a:srgbClr val="000000">
                <a:alpha val="9803"/>
              </a:srgbClr>
            </a:outerShdw>
          </a:effectLst>
        </p:spPr>
      </p:pic>
      <p:pic>
        <p:nvPicPr>
          <p:cNvPr id="486" name="Google Shape;486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42500" y="2717800"/>
            <a:ext cx="8661400" cy="8877300"/>
          </a:xfrm>
          <a:prstGeom prst="rect">
            <a:avLst/>
          </a:prstGeom>
          <a:noFill/>
          <a:ln>
            <a:noFill/>
          </a:ln>
          <a:effectLst>
            <a:outerShdw blurRad="466322" dist="199741" dir="12600000">
              <a:srgbClr val="FFFFFF">
                <a:alpha val="49803"/>
              </a:srgbClr>
            </a:outerShdw>
          </a:effectLst>
        </p:spPr>
      </p:pic>
      <p:pic>
        <p:nvPicPr>
          <p:cNvPr id="487" name="Google Shape;487;p3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38300" y="1854200"/>
            <a:ext cx="2781300" cy="2844800"/>
          </a:xfrm>
          <a:prstGeom prst="rect">
            <a:avLst/>
          </a:prstGeom>
          <a:noFill/>
          <a:ln>
            <a:noFill/>
          </a:ln>
          <a:effectLst>
            <a:outerShdw blurRad="47986" dist="42716" dir="1800000">
              <a:srgbClr val="000000">
                <a:alpha val="9803"/>
              </a:srgbClr>
            </a:outerShdw>
          </a:effectLst>
        </p:spPr>
      </p:pic>
      <p:pic>
        <p:nvPicPr>
          <p:cNvPr id="488" name="Google Shape;488;p3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38300" y="1854200"/>
            <a:ext cx="2781300" cy="2844800"/>
          </a:xfrm>
          <a:prstGeom prst="rect">
            <a:avLst/>
          </a:prstGeom>
          <a:noFill/>
          <a:ln>
            <a:noFill/>
          </a:ln>
          <a:effectLst>
            <a:outerShdw blurRad="47986" dist="64074" dir="12600000">
              <a:srgbClr val="FFFFFF">
                <a:alpha val="60000"/>
              </a:srgbClr>
            </a:outerShdw>
          </a:effectLst>
        </p:spPr>
      </p:pic>
      <p:pic>
        <p:nvPicPr>
          <p:cNvPr id="489" name="Google Shape;489;p3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5400000">
            <a:off x="1562100" y="8534400"/>
            <a:ext cx="482600" cy="151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0" name="Google Shape;490;p3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764000" y="762000"/>
            <a:ext cx="482600" cy="1511300"/>
          </a:xfrm>
          <a:prstGeom prst="rect">
            <a:avLst/>
          </a:prstGeom>
          <a:noFill/>
          <a:ln>
            <a:noFill/>
          </a:ln>
        </p:spPr>
      </p:pic>
      <p:sp>
        <p:nvSpPr>
          <p:cNvPr id="491" name="Google Shape;491;p36"/>
          <p:cNvSpPr txBox="1"/>
          <p:nvPr/>
        </p:nvSpPr>
        <p:spPr>
          <a:xfrm>
            <a:off x="3568700" y="3937000"/>
            <a:ext cx="11150700" cy="26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0" b="0" i="0" u="none" strike="noStrike" cap="none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Calibri"/>
              </a:rPr>
              <a:t>감사합니다</a:t>
            </a:r>
            <a:endParaRPr sz="1300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492" name="Google Shape;492;p36"/>
          <p:cNvSpPr txBox="1"/>
          <p:nvPr/>
        </p:nvSpPr>
        <p:spPr>
          <a:xfrm>
            <a:off x="4064000" y="3632200"/>
            <a:ext cx="10172700" cy="4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rgbClr val="11359A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Arial"/>
              </a:rPr>
              <a:t>T</a:t>
            </a:r>
            <a:r>
              <a:rPr lang="en-US" sz="2600" b="0" i="0" u="none" strike="noStrike" cap="none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Arial"/>
              </a:rPr>
              <a:t>HANKS</a:t>
            </a:r>
            <a:r>
              <a:rPr lang="en-US" sz="2600" b="0" i="0" u="none" strike="noStrike" cap="none">
                <a:solidFill>
                  <a:srgbClr val="11359A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Arial"/>
              </a:rPr>
              <a:t> F</a:t>
            </a:r>
            <a:r>
              <a:rPr lang="en-US" sz="2600" b="0" i="0" u="none" strike="noStrike" cap="none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Arial"/>
              </a:rPr>
              <a:t>OR</a:t>
            </a:r>
            <a:r>
              <a:rPr lang="en-US" sz="2600" b="0" i="0" u="none" strike="noStrike" cap="none">
                <a:solidFill>
                  <a:srgbClr val="11359A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Arial"/>
              </a:rPr>
              <a:t> W</a:t>
            </a:r>
            <a:r>
              <a:rPr lang="en-US" sz="2600" b="0" i="0" u="none" strike="noStrike" cap="none">
                <a:solidFill>
                  <a:srgbClr val="0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Arial"/>
              </a:rPr>
              <a:t>ATCHING</a:t>
            </a:r>
            <a:endParaRPr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689</Words>
  <Application>Microsoft Office PowerPoint</Application>
  <PresentationFormat>사용자 지정</PresentationFormat>
  <Paragraphs>164</Paragraphs>
  <Slides>25</Slides>
  <Notes>25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1" baseType="lpstr">
      <vt:lpstr>Calibri</vt:lpstr>
      <vt:lpstr>Pretendard Medium</vt:lpstr>
      <vt:lpstr>Oswald SemiBold</vt:lpstr>
      <vt:lpstr>Pretendard Black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ㅇㄷㄹ ㄴㅇㄹ</cp:lastModifiedBy>
  <cp:revision>3</cp:revision>
  <dcterms:modified xsi:type="dcterms:W3CDTF">2025-07-21T02:25:42Z</dcterms:modified>
</cp:coreProperties>
</file>