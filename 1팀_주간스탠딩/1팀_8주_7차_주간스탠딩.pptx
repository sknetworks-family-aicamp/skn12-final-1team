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10287000" cx="18288000"/>
  <p:notesSz cx="6858000" cy="9144000"/>
  <p:embeddedFontLst>
    <p:embeddedFont>
      <p:font typeface="Oswald SemiBold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hLvf/3qARId2pbe7jzG5M2b4iQ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OswaldSemiBold-bold.fntdata"/><Relationship Id="rId10" Type="http://schemas.openxmlformats.org/officeDocument/2006/relationships/slide" Target="slides/slide5.xml"/><Relationship Id="rId21" Type="http://schemas.openxmlformats.org/officeDocument/2006/relationships/font" Target="fonts/OswaldSemiBold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64728c710a_4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g364728c710a_4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64728c710a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g364728c710a_4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64728c710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g364728c710a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64728c71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g364728c710a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64728c710a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g364728c710a_2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64728c710a_2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g364728c710a_2_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64728c710a_2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g364728c710a_2_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64728c710a_2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g364728c710a_2_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64728c710a_2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g364728c710a_2_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2" name="Google Shape;262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9" name="Google Shape;279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5.png"/><Relationship Id="rId6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5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5.png"/><Relationship Id="rId6" Type="http://schemas.openxmlformats.org/officeDocument/2006/relationships/image" Target="../media/image12.png"/><Relationship Id="rId7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5.png"/><Relationship Id="rId6" Type="http://schemas.openxmlformats.org/officeDocument/2006/relationships/image" Target="../media/image10.png"/><Relationship Id="rId7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5.png"/><Relationship Id="rId6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5.png"/><Relationship Id="rId6" Type="http://schemas.openxmlformats.org/officeDocument/2006/relationships/image" Target="../media/image20.png"/><Relationship Id="rId7" Type="http://schemas.openxmlformats.org/officeDocument/2006/relationships/image" Target="../media/image29.png"/><Relationship Id="rId8" Type="http://schemas.openxmlformats.org/officeDocument/2006/relationships/image" Target="../media/image3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5.png"/><Relationship Id="rId6" Type="http://schemas.openxmlformats.org/officeDocument/2006/relationships/image" Target="../media/image28.png"/><Relationship Id="rId7" Type="http://schemas.openxmlformats.org/officeDocument/2006/relationships/image" Target="../media/image30.png"/><Relationship Id="rId8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5.png"/><Relationship Id="rId6" Type="http://schemas.openxmlformats.org/officeDocument/2006/relationships/image" Target="../media/image31.png"/><Relationship Id="rId7" Type="http://schemas.openxmlformats.org/officeDocument/2006/relationships/image" Target="../media/image25.png"/><Relationship Id="rId8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33.png"/><Relationship Id="rId5" Type="http://schemas.openxmlformats.org/officeDocument/2006/relationships/image" Target="../media/image1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3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67800" y="1206500"/>
            <a:ext cx="2108200" cy="2159000"/>
          </a:xfrm>
          <a:prstGeom prst="rect">
            <a:avLst/>
          </a:prstGeom>
          <a:noFill/>
          <a:ln>
            <a:noFill/>
          </a:ln>
          <a:effectLst>
            <a:outerShdw blurRad="27558" dir="1800000" dist="32371">
              <a:srgbClr val="000000">
                <a:alpha val="9019"/>
              </a:srgbClr>
            </a:outerShdw>
          </a:effectLst>
        </p:spPr>
      </p:pic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67800" y="1206500"/>
            <a:ext cx="2108200" cy="2159000"/>
          </a:xfrm>
          <a:prstGeom prst="rect">
            <a:avLst/>
          </a:prstGeom>
          <a:noFill/>
          <a:ln>
            <a:noFill/>
          </a:ln>
          <a:effectLst>
            <a:outerShdw blurRad="27558" dir="12600000" dist="48557">
              <a:srgbClr val="FFFFFF">
                <a:alpha val="60000"/>
              </a:srgbClr>
            </a:outerShdw>
          </a:effectLst>
        </p:spPr>
      </p:pic>
      <p:pic>
        <p:nvPicPr>
          <p:cNvPr id="86" name="Google Shape;8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29800" y="2705100"/>
            <a:ext cx="8661400" cy="8877300"/>
          </a:xfrm>
          <a:prstGeom prst="rect">
            <a:avLst/>
          </a:prstGeom>
          <a:noFill/>
          <a:ln>
            <a:noFill/>
          </a:ln>
          <a:effectLst>
            <a:outerShdw blurRad="466322" dir="1800000" dist="133161">
              <a:srgbClr val="000000">
                <a:alpha val="9019"/>
              </a:srgbClr>
            </a:outerShdw>
          </a:effectLst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42500" y="2717800"/>
            <a:ext cx="8661400" cy="8877300"/>
          </a:xfrm>
          <a:prstGeom prst="rect">
            <a:avLst/>
          </a:prstGeom>
          <a:noFill/>
          <a:ln>
            <a:noFill/>
          </a:ln>
          <a:effectLst>
            <a:outerShdw blurRad="466322" dir="12600000" dist="199741">
              <a:srgbClr val="FFFFFF">
                <a:alpha val="49019"/>
              </a:srgbClr>
            </a:outerShdw>
          </a:effectLst>
        </p:spPr>
      </p:pic>
      <p:pic>
        <p:nvPicPr>
          <p:cNvPr id="88" name="Google Shape;8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64000" y="762000"/>
            <a:ext cx="482600" cy="15113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1054100" y="3384550"/>
            <a:ext cx="101727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1359A"/>
                </a:solidFill>
                <a:latin typeface="Arial"/>
                <a:ea typeface="Arial"/>
                <a:cs typeface="Arial"/>
                <a:sym typeface="Arial"/>
              </a:rPr>
              <a:t>SKN12</a:t>
            </a:r>
            <a:r>
              <a:rPr b="0" i="0" lang="en-US" sz="3000" u="none" cap="none" strike="noStrike">
                <a:solidFill>
                  <a:srgbClr val="11359A"/>
                </a:solidFill>
                <a:latin typeface="Calibri"/>
                <a:ea typeface="Calibri"/>
                <a:cs typeface="Calibri"/>
                <a:sym typeface="Calibri"/>
              </a:rPr>
              <a:t>기</a:t>
            </a:r>
            <a:r>
              <a:rPr b="0" i="0" lang="en-US" sz="3000" u="none" cap="none" strike="noStrike">
                <a:solidFill>
                  <a:srgbClr val="11359A"/>
                </a:solidFill>
                <a:latin typeface="Arial"/>
                <a:ea typeface="Arial"/>
                <a:cs typeface="Arial"/>
                <a:sym typeface="Arial"/>
              </a:rPr>
              <a:t> FIANL PROJECT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52100" y="556564"/>
            <a:ext cx="11135900" cy="934943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1054100" y="3937000"/>
            <a:ext cx="10477500" cy="21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chemeClr val="dk1"/>
                </a:solidFill>
              </a:rPr>
              <a:t>1</a:t>
            </a:r>
            <a:r>
              <a:rPr b="1" i="0" lang="en-US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팀</a:t>
            </a:r>
            <a:r>
              <a:rPr b="1" i="0" lang="en-US" sz="7200" u="none" cap="none" strike="noStrike">
                <a:solidFill>
                  <a:schemeClr val="dk1"/>
                </a:solidFill>
              </a:rPr>
              <a:t>_JJS</a:t>
            </a:r>
            <a:br>
              <a:rPr b="1" i="0" lang="en-US" sz="7200" u="none" cap="none" strike="noStrike">
                <a:solidFill>
                  <a:schemeClr val="dk1"/>
                </a:solidFill>
              </a:rPr>
            </a:br>
            <a:endParaRPr b="1" i="0" sz="14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8주차_7차_주간</a:t>
            </a:r>
            <a:r>
              <a:rPr b="1" i="0" lang="en-US" sz="7200" u="none" cap="none" strike="noStrike">
                <a:solidFill>
                  <a:schemeClr val="lt1"/>
                </a:solidFill>
              </a:rPr>
              <a:t> </a:t>
            </a:r>
            <a:r>
              <a:rPr b="1" i="0" lang="en-US" sz="7200" u="none" cap="none" strike="noStrike">
                <a:latin typeface="Calibri"/>
                <a:ea typeface="Calibri"/>
                <a:cs typeface="Calibri"/>
                <a:sym typeface="Calibri"/>
              </a:rPr>
              <a:t>스탠딩</a:t>
            </a:r>
            <a:endParaRPr b="1" i="0" sz="720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3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9829800" y="2705100"/>
            <a:ext cx="8661400" cy="8877300"/>
          </a:xfrm>
          <a:prstGeom prst="rect">
            <a:avLst/>
          </a:prstGeom>
          <a:noFill/>
          <a:ln>
            <a:noFill/>
          </a:ln>
          <a:effectLst>
            <a:outerShdw blurRad="466322" dir="1800000" dist="133161">
              <a:srgbClr val="000000">
                <a:alpha val="9019"/>
              </a:srgbClr>
            </a:outerShdw>
          </a:effectLst>
        </p:spPr>
      </p:pic>
      <p:pic>
        <p:nvPicPr>
          <p:cNvPr id="97" name="Google Shape;97;p2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9842500" y="2717800"/>
            <a:ext cx="8661400" cy="8877300"/>
          </a:xfrm>
          <a:prstGeom prst="rect">
            <a:avLst/>
          </a:prstGeom>
          <a:noFill/>
          <a:ln>
            <a:noFill/>
          </a:ln>
          <a:effectLst>
            <a:outerShdw blurRad="466322" dir="12600000" dist="199741">
              <a:srgbClr val="FFFFFF">
                <a:alpha val="49019"/>
              </a:srgbClr>
            </a:outerShdw>
          </a:effectLst>
        </p:spPr>
      </p:pic>
      <p:pic>
        <p:nvPicPr>
          <p:cNvPr id="98" name="Google Shape;98;p2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r="1800000" dist="42716">
              <a:srgbClr val="000000">
                <a:alpha val="9019"/>
              </a:srgbClr>
            </a:outerShdw>
          </a:effectLst>
        </p:spPr>
      </p:pic>
      <p:pic>
        <p:nvPicPr>
          <p:cNvPr id="99" name="Google Shape;99;p2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r="12600000" dist="64074">
              <a:srgbClr val="FFFFFF">
                <a:alpha val="60000"/>
              </a:srgbClr>
            </a:outerShdw>
          </a:effectLst>
        </p:spPr>
      </p:pic>
      <p:pic>
        <p:nvPicPr>
          <p:cNvPr id="100" name="Google Shape;10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1562100" y="8534400"/>
            <a:ext cx="4826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64000" y="762000"/>
            <a:ext cx="4826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"/>
          <p:cNvPicPr preferRelativeResize="0"/>
          <p:nvPr/>
        </p:nvPicPr>
        <p:blipFill rotWithShape="1">
          <a:blip r:embed="rId6">
            <a:alphaModFix amt="20000"/>
          </a:blip>
          <a:srcRect b="0" l="0" r="0" t="0"/>
          <a:stretch/>
        </p:blipFill>
        <p:spPr>
          <a:xfrm rot="5400000">
            <a:off x="10388600" y="6235700"/>
            <a:ext cx="41910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"/>
          <p:cNvPicPr preferRelativeResize="0"/>
          <p:nvPr/>
        </p:nvPicPr>
        <p:blipFill rotWithShape="1">
          <a:blip r:embed="rId6">
            <a:alphaModFix amt="20000"/>
          </a:blip>
          <a:srcRect b="0" l="0" r="0" t="0"/>
          <a:stretch/>
        </p:blipFill>
        <p:spPr>
          <a:xfrm rot="5400000">
            <a:off x="7048500" y="6235700"/>
            <a:ext cx="41910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"/>
          <p:cNvPicPr preferRelativeResize="0"/>
          <p:nvPr/>
        </p:nvPicPr>
        <p:blipFill rotWithShape="1">
          <a:blip r:embed="rId6">
            <a:alphaModFix amt="20000"/>
          </a:blip>
          <a:srcRect b="0" l="0" r="0" t="0"/>
          <a:stretch/>
        </p:blipFill>
        <p:spPr>
          <a:xfrm rot="5400000">
            <a:off x="3708400" y="6235700"/>
            <a:ext cx="41910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 txBox="1"/>
          <p:nvPr/>
        </p:nvSpPr>
        <p:spPr>
          <a:xfrm>
            <a:off x="12992099" y="6096000"/>
            <a:ext cx="2748643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406400" lvl="0" marL="45720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●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금주 진행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예정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사항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9290050" y="5885400"/>
            <a:ext cx="3643500" cy="117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406400" lvl="0" marL="45720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Char char="●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마무리 작업 :</a:t>
            </a:r>
            <a:b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최종발표자료 제작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5962651" y="5885350"/>
            <a:ext cx="3314700" cy="117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406400" lvl="0" marL="45720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애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플리케이션 </a:t>
            </a:r>
            <a:b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테스트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2501900" y="6083300"/>
            <a:ext cx="31434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406400" lvl="0" marL="45720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Char char="●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고도화 작업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Airflow 스케줄링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12992100" y="3632200"/>
            <a:ext cx="24638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</a:pPr>
            <a:r>
              <a:rPr b="0" i="0" lang="en-US" sz="12000" u="none" cap="none" strike="noStrike">
                <a:solidFill>
                  <a:srgbClr val="11359A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9582150" y="3751750"/>
            <a:ext cx="24639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</a:pPr>
            <a:r>
              <a:rPr b="0" i="0" lang="en-US" sz="12000" u="none" cap="none" strike="noStrike">
                <a:solidFill>
                  <a:srgbClr val="11359A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6299200" y="3632200"/>
            <a:ext cx="24638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</a:pPr>
            <a:r>
              <a:rPr b="0" i="0" lang="en-US" sz="12000" u="none" cap="none" strike="noStrike">
                <a:solidFill>
                  <a:srgbClr val="11359A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2959100" y="3632200"/>
            <a:ext cx="24638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</a:pPr>
            <a:r>
              <a:rPr b="0" i="0" lang="en-US" sz="12000" u="none" cap="none" strike="noStrike">
                <a:solidFill>
                  <a:srgbClr val="11359A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3924300" y="914400"/>
            <a:ext cx="10439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11359A"/>
                </a:solidFill>
                <a:latin typeface="Calibri"/>
                <a:ea typeface="Calibri"/>
                <a:cs typeface="Calibri"/>
                <a:sym typeface="Calibri"/>
              </a:rPr>
              <a:t>목차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3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4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9829800" y="2705100"/>
            <a:ext cx="8661400" cy="8877299"/>
          </a:xfrm>
          <a:prstGeom prst="rect">
            <a:avLst/>
          </a:prstGeom>
          <a:noFill/>
          <a:ln>
            <a:noFill/>
          </a:ln>
          <a:effectLst>
            <a:outerShdw blurRad="466322" dir="1800000" dist="133161">
              <a:srgbClr val="000000">
                <a:alpha val="9019"/>
              </a:srgbClr>
            </a:outerShdw>
          </a:effectLst>
        </p:spPr>
      </p:pic>
      <p:pic>
        <p:nvPicPr>
          <p:cNvPr id="119" name="Google Shape;119;p4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r="1800000" dist="42716">
              <a:srgbClr val="000000">
                <a:alpha val="9019"/>
              </a:srgbClr>
            </a:outerShdw>
          </a:effectLst>
        </p:spPr>
      </p:pic>
      <p:pic>
        <p:nvPicPr>
          <p:cNvPr id="120" name="Google Shape;120;p4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r="12600000" dist="64074">
              <a:srgbClr val="FFFFFF">
                <a:alpha val="60000"/>
              </a:srgbClr>
            </a:outerShdw>
          </a:effectLst>
        </p:spPr>
      </p:pic>
      <p:pic>
        <p:nvPicPr>
          <p:cNvPr id="121" name="Google Shape;12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1562100" y="8534400"/>
            <a:ext cx="4826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64000" y="762000"/>
            <a:ext cx="482600" cy="151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/>
          <p:cNvSpPr txBox="1"/>
          <p:nvPr/>
        </p:nvSpPr>
        <p:spPr>
          <a:xfrm>
            <a:off x="3924300" y="457200"/>
            <a:ext cx="10439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>
                <a:solidFill>
                  <a:srgbClr val="11359A"/>
                </a:solidFill>
              </a:rPr>
              <a:t>             고도화 작업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1054100" y="7493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1359A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1팀_JJS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492200" y="2389925"/>
            <a:ext cx="16921800" cy="637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거래처 분석 에이전트 최종보고서 구조화: 오른쪽 아래와 같은 구조대로(배경인 등급부터 최종목적인 전략보고서로 마무리) 출력하게 프롬프트 최종수정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9775" y="3298175"/>
            <a:ext cx="7000026" cy="495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477800" y="3725150"/>
            <a:ext cx="8169050" cy="4882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3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g364728c710a_4_14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9829800" y="2705100"/>
            <a:ext cx="8661400" cy="8877299"/>
          </a:xfrm>
          <a:prstGeom prst="rect">
            <a:avLst/>
          </a:prstGeom>
          <a:noFill/>
          <a:ln>
            <a:noFill/>
          </a:ln>
          <a:effectLst>
            <a:outerShdw blurRad="466322" dir="1800000" dist="133161">
              <a:srgbClr val="000000">
                <a:alpha val="9020"/>
              </a:srgbClr>
            </a:outerShdw>
          </a:effectLst>
        </p:spPr>
      </p:pic>
      <p:pic>
        <p:nvPicPr>
          <p:cNvPr id="133" name="Google Shape;133;g364728c710a_4_14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r="1800000" dist="42716">
              <a:srgbClr val="000000">
                <a:alpha val="9020"/>
              </a:srgbClr>
            </a:outerShdw>
          </a:effectLst>
        </p:spPr>
      </p:pic>
      <p:pic>
        <p:nvPicPr>
          <p:cNvPr id="134" name="Google Shape;134;g364728c710a_4_14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r="12600000" dist="64074">
              <a:srgbClr val="FFFFFF">
                <a:alpha val="60000"/>
              </a:srgbClr>
            </a:outerShdw>
          </a:effectLst>
        </p:spPr>
      </p:pic>
      <p:pic>
        <p:nvPicPr>
          <p:cNvPr id="135" name="Google Shape;135;g364728c710a_4_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1562100" y="8534400"/>
            <a:ext cx="4826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g364728c710a_4_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64000" y="762000"/>
            <a:ext cx="482600" cy="151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g364728c710a_4_14"/>
          <p:cNvSpPr txBox="1"/>
          <p:nvPr/>
        </p:nvSpPr>
        <p:spPr>
          <a:xfrm>
            <a:off x="3924300" y="457200"/>
            <a:ext cx="10439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>
                <a:solidFill>
                  <a:srgbClr val="11359A"/>
                </a:solidFill>
              </a:rPr>
              <a:t>             고도화 작업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64728c710a_4_14"/>
          <p:cNvSpPr txBox="1"/>
          <p:nvPr/>
        </p:nvSpPr>
        <p:spPr>
          <a:xfrm>
            <a:off x="1054100" y="7493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1359A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1팀_JJS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64728c710a_4_14"/>
          <p:cNvSpPr txBox="1"/>
          <p:nvPr/>
        </p:nvSpPr>
        <p:spPr>
          <a:xfrm>
            <a:off x="10307700" y="2705100"/>
            <a:ext cx="7980300" cy="27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508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Char char="●"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문서 업로드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문서 업로드 시 업로드 과정 표시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SSE( Server-Sent Events ) 사용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64728c710a_4_14"/>
          <p:cNvSpPr txBox="1"/>
          <p:nvPr/>
        </p:nvSpPr>
        <p:spPr>
          <a:xfrm>
            <a:off x="10307700" y="6016350"/>
            <a:ext cx="7980300" cy="22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508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Char char="●"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직원 정보 및 계정 관리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직원 리스트 컬럼 수정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직원 계정 등록 방식 수정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g364728c710a_4_14"/>
          <p:cNvPicPr preferRelativeResize="0"/>
          <p:nvPr/>
        </p:nvPicPr>
        <p:blipFill rotWithShape="1">
          <a:blip r:embed="rId6">
            <a:alphaModFix/>
          </a:blip>
          <a:srcRect b="0" l="21886" r="5232" t="0"/>
          <a:stretch/>
        </p:blipFill>
        <p:spPr>
          <a:xfrm>
            <a:off x="1451100" y="2055425"/>
            <a:ext cx="6241798" cy="404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g364728c710a_4_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32775" y="5823525"/>
            <a:ext cx="6680349" cy="3881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3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g364728c710a_4_0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9829800" y="2705100"/>
            <a:ext cx="8661400" cy="8877299"/>
          </a:xfrm>
          <a:prstGeom prst="rect">
            <a:avLst/>
          </a:prstGeom>
          <a:noFill/>
          <a:ln>
            <a:noFill/>
          </a:ln>
          <a:effectLst>
            <a:outerShdw blurRad="466322" dir="1800000" dist="133161">
              <a:srgbClr val="000000">
                <a:alpha val="9020"/>
              </a:srgbClr>
            </a:outerShdw>
          </a:effectLst>
        </p:spPr>
      </p:pic>
      <p:pic>
        <p:nvPicPr>
          <p:cNvPr id="148" name="Google Shape;148;g364728c710a_4_0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r="1800000" dist="42716">
              <a:srgbClr val="000000">
                <a:alpha val="9020"/>
              </a:srgbClr>
            </a:outerShdw>
          </a:effectLst>
        </p:spPr>
      </p:pic>
      <p:pic>
        <p:nvPicPr>
          <p:cNvPr id="149" name="Google Shape;149;g364728c710a_4_0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r="12600000" dist="64074">
              <a:srgbClr val="FFFFFF">
                <a:alpha val="60000"/>
              </a:srgbClr>
            </a:outerShdw>
          </a:effectLst>
        </p:spPr>
      </p:pic>
      <p:pic>
        <p:nvPicPr>
          <p:cNvPr id="150" name="Google Shape;150;g364728c710a_4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1562100" y="8534400"/>
            <a:ext cx="4826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g364728c710a_4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64000" y="762000"/>
            <a:ext cx="482600" cy="151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64728c710a_4_0"/>
          <p:cNvSpPr txBox="1"/>
          <p:nvPr/>
        </p:nvSpPr>
        <p:spPr>
          <a:xfrm>
            <a:off x="5753100" y="457200"/>
            <a:ext cx="10439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>
                <a:solidFill>
                  <a:srgbClr val="11359A"/>
                </a:solidFill>
              </a:rPr>
              <a:t>어플리케이션 테스트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364728c710a_4_0"/>
          <p:cNvSpPr txBox="1"/>
          <p:nvPr/>
        </p:nvSpPr>
        <p:spPr>
          <a:xfrm>
            <a:off x="1054100" y="7493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1359A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1팀_JJS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g364728c710a_4_0" title="4.모델 배포_시스템_구상도_1팀_JJS.png"/>
          <p:cNvPicPr preferRelativeResize="0"/>
          <p:nvPr/>
        </p:nvPicPr>
        <p:blipFill rotWithShape="1">
          <a:blip r:embed="rId6">
            <a:alphaModFix/>
          </a:blip>
          <a:srcRect b="7564" l="46649" r="21609" t="21933"/>
          <a:stretch/>
        </p:blipFill>
        <p:spPr>
          <a:xfrm>
            <a:off x="919050" y="2060100"/>
            <a:ext cx="7690327" cy="775715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364728c710a_4_0"/>
          <p:cNvSpPr/>
          <p:nvPr/>
        </p:nvSpPr>
        <p:spPr>
          <a:xfrm>
            <a:off x="2679400" y="2340075"/>
            <a:ext cx="2892600" cy="28449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64728c710a_4_0"/>
          <p:cNvSpPr txBox="1"/>
          <p:nvPr/>
        </p:nvSpPr>
        <p:spPr>
          <a:xfrm>
            <a:off x="9266300" y="2705100"/>
            <a:ext cx="7980300" cy="28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데이터베이스 api 구현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-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직원, 거래처 데이터 조회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-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외부 데이터 저장 및 조회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-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일정 데이터 관리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3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g364728c710a_0_11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9829800" y="2705100"/>
            <a:ext cx="8661400" cy="8877299"/>
          </a:xfrm>
          <a:prstGeom prst="rect">
            <a:avLst/>
          </a:prstGeom>
          <a:noFill/>
          <a:ln>
            <a:noFill/>
          </a:ln>
          <a:effectLst>
            <a:outerShdw blurRad="466322" dir="1800000" dist="133161">
              <a:srgbClr val="000000">
                <a:alpha val="9020"/>
              </a:srgbClr>
            </a:outerShdw>
          </a:effectLst>
        </p:spPr>
      </p:pic>
      <p:pic>
        <p:nvPicPr>
          <p:cNvPr id="162" name="Google Shape;162;g364728c710a_0_11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r="1800000" dist="42716">
              <a:srgbClr val="000000">
                <a:alpha val="9020"/>
              </a:srgbClr>
            </a:outerShdw>
          </a:effectLst>
        </p:spPr>
      </p:pic>
      <p:pic>
        <p:nvPicPr>
          <p:cNvPr id="163" name="Google Shape;163;g364728c710a_0_11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r="12600000" dist="64074">
              <a:srgbClr val="FFFFFF">
                <a:alpha val="60000"/>
              </a:srgbClr>
            </a:outerShdw>
          </a:effectLst>
        </p:spPr>
      </p:pic>
      <p:pic>
        <p:nvPicPr>
          <p:cNvPr id="164" name="Google Shape;164;g364728c710a_0_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1562100" y="8534400"/>
            <a:ext cx="4826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g364728c710a_0_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64000" y="762000"/>
            <a:ext cx="482600" cy="151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364728c710a_0_11"/>
          <p:cNvSpPr txBox="1"/>
          <p:nvPr/>
        </p:nvSpPr>
        <p:spPr>
          <a:xfrm>
            <a:off x="5753100" y="457200"/>
            <a:ext cx="10439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>
                <a:solidFill>
                  <a:srgbClr val="11359A"/>
                </a:solidFill>
              </a:rPr>
              <a:t>어플리케이션 테스트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64728c710a_0_11"/>
          <p:cNvSpPr txBox="1"/>
          <p:nvPr/>
        </p:nvSpPr>
        <p:spPr>
          <a:xfrm>
            <a:off x="1054100" y="7493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1359A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1팀_JJS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g364728c710a_0_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2125" y="2484525"/>
            <a:ext cx="7632576" cy="330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364728c710a_0_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226550" y="2484525"/>
            <a:ext cx="7892190" cy="330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64728c710a_0_11"/>
          <p:cNvSpPr txBox="1"/>
          <p:nvPr/>
        </p:nvSpPr>
        <p:spPr>
          <a:xfrm>
            <a:off x="3233875" y="6803575"/>
            <a:ext cx="126357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-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각 에이전트 API 연동 완료 및 뉴스, 일정관리 API 연동 완료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-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여러 오류 수정 및 테스트 예정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3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g364728c710a_0_0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9829800" y="2705100"/>
            <a:ext cx="8661400" cy="8877299"/>
          </a:xfrm>
          <a:prstGeom prst="rect">
            <a:avLst/>
          </a:prstGeom>
          <a:noFill/>
          <a:ln>
            <a:noFill/>
          </a:ln>
          <a:effectLst>
            <a:outerShdw blurRad="466322" dir="1800000" dist="133161">
              <a:srgbClr val="000000">
                <a:alpha val="9020"/>
              </a:srgbClr>
            </a:outerShdw>
          </a:effectLst>
        </p:spPr>
      </p:pic>
      <p:pic>
        <p:nvPicPr>
          <p:cNvPr id="176" name="Google Shape;176;g364728c710a_0_0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r="1800000" dist="42716">
              <a:srgbClr val="000000">
                <a:alpha val="9020"/>
              </a:srgbClr>
            </a:outerShdw>
          </a:effectLst>
        </p:spPr>
      </p:pic>
      <p:pic>
        <p:nvPicPr>
          <p:cNvPr id="177" name="Google Shape;177;g364728c710a_0_0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r="12600000" dist="64074">
              <a:srgbClr val="FFFFFF">
                <a:alpha val="60000"/>
              </a:srgbClr>
            </a:outerShdw>
          </a:effectLst>
        </p:spPr>
      </p:pic>
      <p:pic>
        <p:nvPicPr>
          <p:cNvPr id="178" name="Google Shape;178;g364728c710a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1562100" y="8534400"/>
            <a:ext cx="4826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g364728c710a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64000" y="762000"/>
            <a:ext cx="482600" cy="151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g364728c710a_0_0"/>
          <p:cNvSpPr txBox="1"/>
          <p:nvPr/>
        </p:nvSpPr>
        <p:spPr>
          <a:xfrm>
            <a:off x="3924300" y="457200"/>
            <a:ext cx="10439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>
                <a:solidFill>
                  <a:srgbClr val="11359A"/>
                </a:solidFill>
              </a:rPr>
              <a:t>Airflow 스케줄링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64728c710a_0_0"/>
          <p:cNvSpPr txBox="1"/>
          <p:nvPr/>
        </p:nvSpPr>
        <p:spPr>
          <a:xfrm>
            <a:off x="1054100" y="7493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1359A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1팀_JJS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64728c710a_0_0"/>
          <p:cNvSpPr txBox="1"/>
          <p:nvPr/>
        </p:nvSpPr>
        <p:spPr>
          <a:xfrm>
            <a:off x="12031480" y="2705100"/>
            <a:ext cx="5536500" cy="55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chemeClr val="dk1"/>
                </a:solidFill>
              </a:rPr>
              <a:t>anticorruption_law_crawler (청탁금지법)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048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chemeClr val="dk1"/>
                </a:solidFill>
              </a:rPr>
              <a:t>hira_crawler_daily (보험인정기준)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048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medical_news_crawling_v1 (제약뉴스)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048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naver_news_crawler_v3 (일반뉴스)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048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news_report_generator_v1 (전략 레포트 생성)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83" name="Google Shape;183;g364728c710a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2475" y="1682153"/>
            <a:ext cx="10761727" cy="7208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3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g364728c710a_2_0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9829800" y="2705100"/>
            <a:ext cx="8661400" cy="8877299"/>
          </a:xfrm>
          <a:prstGeom prst="rect">
            <a:avLst/>
          </a:prstGeom>
          <a:noFill/>
          <a:ln>
            <a:noFill/>
          </a:ln>
          <a:effectLst>
            <a:outerShdw blurRad="466322" dir="1800000" dist="133161">
              <a:srgbClr val="000000">
                <a:alpha val="9020"/>
              </a:srgbClr>
            </a:outerShdw>
          </a:effectLst>
        </p:spPr>
      </p:pic>
      <p:pic>
        <p:nvPicPr>
          <p:cNvPr id="189" name="Google Shape;189;g364728c710a_2_0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r="1800000" dist="42716">
              <a:srgbClr val="000000">
                <a:alpha val="9020"/>
              </a:srgbClr>
            </a:outerShdw>
          </a:effectLst>
        </p:spPr>
      </p:pic>
      <p:pic>
        <p:nvPicPr>
          <p:cNvPr id="190" name="Google Shape;190;g364728c710a_2_0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r="12600000" dist="64074">
              <a:srgbClr val="FFFFFF">
                <a:alpha val="60000"/>
              </a:srgbClr>
            </a:outerShdw>
          </a:effectLst>
        </p:spPr>
      </p:pic>
      <p:pic>
        <p:nvPicPr>
          <p:cNvPr id="191" name="Google Shape;191;g364728c710a_2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1562100" y="8534400"/>
            <a:ext cx="4826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g364728c710a_2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64000" y="762000"/>
            <a:ext cx="482600" cy="151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g364728c710a_2_0"/>
          <p:cNvSpPr txBox="1"/>
          <p:nvPr/>
        </p:nvSpPr>
        <p:spPr>
          <a:xfrm>
            <a:off x="3924300" y="457200"/>
            <a:ext cx="10439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>
                <a:solidFill>
                  <a:srgbClr val="11359A"/>
                </a:solidFill>
              </a:rPr>
              <a:t>Airflow 스케줄링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64728c710a_2_0"/>
          <p:cNvSpPr txBox="1"/>
          <p:nvPr/>
        </p:nvSpPr>
        <p:spPr>
          <a:xfrm>
            <a:off x="1054100" y="7493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1359A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1팀_JJS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64728c710a_2_0"/>
          <p:cNvSpPr txBox="1"/>
          <p:nvPr/>
        </p:nvSpPr>
        <p:spPr>
          <a:xfrm>
            <a:off x="492200" y="1650003"/>
            <a:ext cx="16921800" cy="177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anticorruption_law_crawler (청탁금지법)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수집 사이트 :</a:t>
            </a:r>
            <a:r>
              <a:rPr lang="en-US" sz="2400">
                <a:solidFill>
                  <a:schemeClr val="dk1"/>
                </a:solidFill>
              </a:rPr>
              <a:t> 법제처 국가법령정보센터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스 케  줄 링 :</a:t>
            </a:r>
            <a:r>
              <a:rPr lang="en-US" sz="2400">
                <a:solidFill>
                  <a:schemeClr val="dk1"/>
                </a:solidFill>
              </a:rPr>
              <a:t> 매일 13시 20분 / 업로드 날짜가 규칙적이지 않아 매일 검토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수집 데이터 :</a:t>
            </a:r>
            <a:r>
              <a:rPr lang="en-US" sz="2400">
                <a:solidFill>
                  <a:schemeClr val="dk1"/>
                </a:solidFill>
              </a:rPr>
              <a:t> 청탁급지법 법률 조문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196" name="Google Shape;196;g364728c710a_2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04163" y="7577505"/>
            <a:ext cx="15497886" cy="195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g364728c710a_2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6475" y="3267963"/>
            <a:ext cx="8351049" cy="3681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g364728c710a_2_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952400" y="3267976"/>
            <a:ext cx="8178629" cy="3681200"/>
          </a:xfrm>
          <a:prstGeom prst="rect">
            <a:avLst/>
          </a:prstGeom>
          <a:noFill/>
          <a:ln>
            <a:noFill/>
          </a:ln>
          <a:effectLst>
            <a:outerShdw blurRad="466322" dir="1800000" dist="133161">
              <a:srgbClr val="000000">
                <a:alpha val="902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3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g364728c710a_2_29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9829800" y="2705100"/>
            <a:ext cx="8661400" cy="8877299"/>
          </a:xfrm>
          <a:prstGeom prst="rect">
            <a:avLst/>
          </a:prstGeom>
          <a:noFill/>
          <a:ln>
            <a:noFill/>
          </a:ln>
          <a:effectLst>
            <a:outerShdw blurRad="466322" dir="1800000" dist="133161">
              <a:srgbClr val="000000">
                <a:alpha val="9020"/>
              </a:srgbClr>
            </a:outerShdw>
          </a:effectLst>
        </p:spPr>
      </p:pic>
      <p:pic>
        <p:nvPicPr>
          <p:cNvPr id="204" name="Google Shape;204;g364728c710a_2_29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r="1800000" dist="42716">
              <a:srgbClr val="000000">
                <a:alpha val="9020"/>
              </a:srgbClr>
            </a:outerShdw>
          </a:effectLst>
        </p:spPr>
      </p:pic>
      <p:pic>
        <p:nvPicPr>
          <p:cNvPr id="205" name="Google Shape;205;g364728c710a_2_29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r="12600000" dist="64074">
              <a:srgbClr val="FFFFFF">
                <a:alpha val="60000"/>
              </a:srgbClr>
            </a:outerShdw>
          </a:effectLst>
        </p:spPr>
      </p:pic>
      <p:pic>
        <p:nvPicPr>
          <p:cNvPr id="206" name="Google Shape;206;g364728c710a_2_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1562100" y="8534400"/>
            <a:ext cx="4826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g364728c710a_2_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64000" y="762000"/>
            <a:ext cx="482600" cy="151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g364728c710a_2_29"/>
          <p:cNvSpPr txBox="1"/>
          <p:nvPr/>
        </p:nvSpPr>
        <p:spPr>
          <a:xfrm>
            <a:off x="3924300" y="457200"/>
            <a:ext cx="10439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>
                <a:solidFill>
                  <a:srgbClr val="11359A"/>
                </a:solidFill>
              </a:rPr>
              <a:t>Airflow 스케줄링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64728c710a_2_29"/>
          <p:cNvSpPr txBox="1"/>
          <p:nvPr/>
        </p:nvSpPr>
        <p:spPr>
          <a:xfrm>
            <a:off x="1054100" y="7493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1359A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1팀_JJS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64728c710a_2_29"/>
          <p:cNvSpPr txBox="1"/>
          <p:nvPr/>
        </p:nvSpPr>
        <p:spPr>
          <a:xfrm>
            <a:off x="558650" y="1854201"/>
            <a:ext cx="16921800" cy="15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hira_crawler_daily (보험인정기준)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수집사이트 :</a:t>
            </a:r>
            <a:r>
              <a:rPr lang="en-US" sz="2400">
                <a:solidFill>
                  <a:schemeClr val="dk1"/>
                </a:solidFill>
              </a:rPr>
              <a:t> 건강보험심사평가원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스 케 줄 링 :</a:t>
            </a:r>
            <a:r>
              <a:rPr lang="en-US" sz="2400">
                <a:solidFill>
                  <a:schemeClr val="dk1"/>
                </a:solidFill>
              </a:rPr>
              <a:t> 매일 13시 25분 / 정기적으로 매월 1일에 변경사항이 업로드 되지만 비정기적으로 업로드 되는 경우 존재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수집데이터 :</a:t>
            </a:r>
            <a:r>
              <a:rPr lang="en-US" sz="2400">
                <a:solidFill>
                  <a:schemeClr val="dk1"/>
                </a:solidFill>
              </a:rPr>
              <a:t> 변경사항이 있는 약품명과 상세내용 url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211" name="Google Shape;211;g364728c710a_2_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2763" y="3365600"/>
            <a:ext cx="8151176" cy="461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g364728c710a_2_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12250" y="8174075"/>
            <a:ext cx="13614601" cy="186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g364728c710a_2_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523950" y="4188688"/>
            <a:ext cx="9391650" cy="3162300"/>
          </a:xfrm>
          <a:prstGeom prst="rect">
            <a:avLst/>
          </a:prstGeom>
          <a:noFill/>
          <a:ln>
            <a:noFill/>
          </a:ln>
          <a:effectLst>
            <a:outerShdw blurRad="466322" dir="1800000" dist="133161">
              <a:srgbClr val="000000">
                <a:alpha val="902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3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g364728c710a_2_41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9829800" y="2705100"/>
            <a:ext cx="8661400" cy="8877299"/>
          </a:xfrm>
          <a:prstGeom prst="rect">
            <a:avLst/>
          </a:prstGeom>
          <a:noFill/>
          <a:ln>
            <a:noFill/>
          </a:ln>
          <a:effectLst>
            <a:outerShdw blurRad="466322" dir="1800000" dist="133161">
              <a:srgbClr val="000000">
                <a:alpha val="9020"/>
              </a:srgbClr>
            </a:outerShdw>
          </a:effectLst>
        </p:spPr>
      </p:pic>
      <p:pic>
        <p:nvPicPr>
          <p:cNvPr id="219" name="Google Shape;219;g364728c710a_2_41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r="1800000" dist="42716">
              <a:srgbClr val="000000">
                <a:alpha val="9020"/>
              </a:srgbClr>
            </a:outerShdw>
          </a:effectLst>
        </p:spPr>
      </p:pic>
      <p:pic>
        <p:nvPicPr>
          <p:cNvPr id="220" name="Google Shape;220;g364728c710a_2_41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r="12600000" dist="64074">
              <a:srgbClr val="FFFFFF">
                <a:alpha val="60000"/>
              </a:srgbClr>
            </a:outerShdw>
          </a:effectLst>
        </p:spPr>
      </p:pic>
      <p:pic>
        <p:nvPicPr>
          <p:cNvPr id="221" name="Google Shape;221;g364728c710a_2_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1562100" y="8534400"/>
            <a:ext cx="4826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g364728c710a_2_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64000" y="762000"/>
            <a:ext cx="482600" cy="151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g364728c710a_2_41"/>
          <p:cNvSpPr txBox="1"/>
          <p:nvPr/>
        </p:nvSpPr>
        <p:spPr>
          <a:xfrm>
            <a:off x="3924300" y="457200"/>
            <a:ext cx="10439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>
                <a:solidFill>
                  <a:srgbClr val="11359A"/>
                </a:solidFill>
              </a:rPr>
              <a:t>Airflow 스케줄링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64728c710a_2_41"/>
          <p:cNvSpPr txBox="1"/>
          <p:nvPr/>
        </p:nvSpPr>
        <p:spPr>
          <a:xfrm>
            <a:off x="1054100" y="7493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1359A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1팀_JJS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64728c710a_2_41"/>
          <p:cNvSpPr txBox="1"/>
          <p:nvPr/>
        </p:nvSpPr>
        <p:spPr>
          <a:xfrm>
            <a:off x="683100" y="1621451"/>
            <a:ext cx="16921800" cy="16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medical_news_crawling_v1 (제약뉴스)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</a:rPr>
              <a:t>수집사이트 :</a:t>
            </a:r>
            <a:r>
              <a:rPr lang="en-US" sz="2400">
                <a:solidFill>
                  <a:schemeClr val="dk1"/>
                </a:solidFill>
              </a:rPr>
              <a:t> 약업신문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</a:rPr>
              <a:t>스 케 줄 링 :</a:t>
            </a:r>
            <a:r>
              <a:rPr lang="en-US" sz="2400">
                <a:solidFill>
                  <a:schemeClr val="dk1"/>
                </a:solidFill>
              </a:rPr>
              <a:t> 매일 09,13시 / 오전과 오후 업무 시작에 맞춰 뉴스정보 수집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</a:rPr>
              <a:t>수집데이터 :</a:t>
            </a:r>
            <a:r>
              <a:rPr lang="en-US" sz="2400">
                <a:solidFill>
                  <a:schemeClr val="dk1"/>
                </a:solidFill>
              </a:rPr>
              <a:t> 제약 뉴스 인기뉴스 &amp; 제약 정책뉴스 요약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226" name="Google Shape;226;g364728c710a_2_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63313" y="3076615"/>
            <a:ext cx="6683170" cy="5152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g364728c710a_2_4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2704" y="8585279"/>
            <a:ext cx="16802599" cy="120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g364728c710a_2_4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880326" y="3325151"/>
            <a:ext cx="8209391" cy="4655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3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g364728c710a_2_53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9829800" y="2705100"/>
            <a:ext cx="8661400" cy="8877299"/>
          </a:xfrm>
          <a:prstGeom prst="rect">
            <a:avLst/>
          </a:prstGeom>
          <a:noFill/>
          <a:ln>
            <a:noFill/>
          </a:ln>
          <a:effectLst>
            <a:outerShdw blurRad="466322" dir="1800000" dist="133161">
              <a:srgbClr val="000000">
                <a:alpha val="9020"/>
              </a:srgbClr>
            </a:outerShdw>
          </a:effectLst>
        </p:spPr>
      </p:pic>
      <p:pic>
        <p:nvPicPr>
          <p:cNvPr id="234" name="Google Shape;234;g364728c710a_2_53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r="1800000" dist="42716">
              <a:srgbClr val="000000">
                <a:alpha val="9020"/>
              </a:srgbClr>
            </a:outerShdw>
          </a:effectLst>
        </p:spPr>
      </p:pic>
      <p:pic>
        <p:nvPicPr>
          <p:cNvPr id="235" name="Google Shape;235;g364728c710a_2_53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r="12600000" dist="64074">
              <a:srgbClr val="FFFFFF">
                <a:alpha val="60000"/>
              </a:srgbClr>
            </a:outerShdw>
          </a:effectLst>
        </p:spPr>
      </p:pic>
      <p:pic>
        <p:nvPicPr>
          <p:cNvPr id="236" name="Google Shape;236;g364728c710a_2_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1562100" y="8534400"/>
            <a:ext cx="4826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g364728c710a_2_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64000" y="762000"/>
            <a:ext cx="482600" cy="151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g364728c710a_2_53"/>
          <p:cNvSpPr txBox="1"/>
          <p:nvPr/>
        </p:nvSpPr>
        <p:spPr>
          <a:xfrm>
            <a:off x="3924300" y="457200"/>
            <a:ext cx="10439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>
                <a:solidFill>
                  <a:srgbClr val="11359A"/>
                </a:solidFill>
              </a:rPr>
              <a:t>Airflow 스케줄링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364728c710a_2_53"/>
          <p:cNvSpPr txBox="1"/>
          <p:nvPr/>
        </p:nvSpPr>
        <p:spPr>
          <a:xfrm>
            <a:off x="1054100" y="7493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1359A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1팀_JJS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364728c710a_2_53"/>
          <p:cNvSpPr txBox="1"/>
          <p:nvPr/>
        </p:nvSpPr>
        <p:spPr>
          <a:xfrm>
            <a:off x="492200" y="1854200"/>
            <a:ext cx="16921800" cy="16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</a:rPr>
              <a:t>naver_news_crawler_v3 (일반뉴스)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</a:rPr>
              <a:t>수집사이트 :</a:t>
            </a:r>
            <a:r>
              <a:rPr lang="en-US" sz="2400">
                <a:solidFill>
                  <a:schemeClr val="dk1"/>
                </a:solidFill>
              </a:rPr>
              <a:t> 네이버뉴스스탠드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</a:rPr>
              <a:t>스 케 줄 링 :</a:t>
            </a:r>
            <a:r>
              <a:rPr lang="en-US" sz="2400">
                <a:solidFill>
                  <a:schemeClr val="dk1"/>
                </a:solidFill>
              </a:rPr>
              <a:t> 매일 09,13시 10분 / 오전과 오후 업무 시작에 맞춰 뉴스정보 수집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</a:rPr>
              <a:t>수집데이터 :</a:t>
            </a:r>
            <a:r>
              <a:rPr lang="en-US" sz="2400">
                <a:solidFill>
                  <a:schemeClr val="dk1"/>
                </a:solidFill>
              </a:rPr>
              <a:t> 일반 뉴스 기사 요약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241" name="Google Shape;241;g364728c710a_2_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6625" y="3675350"/>
            <a:ext cx="7752450" cy="449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g364728c710a_2_5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080252" y="3533564"/>
            <a:ext cx="8333750" cy="4776004"/>
          </a:xfrm>
          <a:prstGeom prst="rect">
            <a:avLst/>
          </a:prstGeom>
          <a:noFill/>
          <a:ln>
            <a:noFill/>
          </a:ln>
          <a:effectLst>
            <a:outerShdw blurRad="466322" dir="1800000" dist="133161">
              <a:srgbClr val="000000">
                <a:alpha val="9020"/>
              </a:srgbClr>
            </a:outerShdw>
          </a:effectLst>
        </p:spPr>
      </p:pic>
      <p:pic>
        <p:nvPicPr>
          <p:cNvPr id="243" name="Google Shape;243;g364728c710a_2_5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78265" y="8594913"/>
            <a:ext cx="13149676" cy="139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3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g364728c710a_2_65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9741175" y="2793700"/>
            <a:ext cx="8661400" cy="8877299"/>
          </a:xfrm>
          <a:prstGeom prst="rect">
            <a:avLst/>
          </a:prstGeom>
          <a:noFill/>
          <a:ln>
            <a:noFill/>
          </a:ln>
          <a:effectLst>
            <a:outerShdw blurRad="466322" dir="1800000" dist="133161">
              <a:srgbClr val="000000">
                <a:alpha val="9020"/>
              </a:srgbClr>
            </a:outerShdw>
          </a:effectLst>
        </p:spPr>
      </p:pic>
      <p:pic>
        <p:nvPicPr>
          <p:cNvPr id="249" name="Google Shape;249;g364728c710a_2_65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r="1800000" dist="42716">
              <a:srgbClr val="000000">
                <a:alpha val="9020"/>
              </a:srgbClr>
            </a:outerShdw>
          </a:effectLst>
        </p:spPr>
      </p:pic>
      <p:pic>
        <p:nvPicPr>
          <p:cNvPr id="250" name="Google Shape;250;g364728c710a_2_65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r="12600000" dist="64074">
              <a:srgbClr val="FFFFFF">
                <a:alpha val="60000"/>
              </a:srgbClr>
            </a:outerShdw>
          </a:effectLst>
        </p:spPr>
      </p:pic>
      <p:pic>
        <p:nvPicPr>
          <p:cNvPr id="251" name="Google Shape;251;g364728c710a_2_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1562100" y="8534400"/>
            <a:ext cx="4826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g364728c710a_2_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64000" y="762000"/>
            <a:ext cx="482600" cy="151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g364728c710a_2_65"/>
          <p:cNvSpPr txBox="1"/>
          <p:nvPr/>
        </p:nvSpPr>
        <p:spPr>
          <a:xfrm>
            <a:off x="3924300" y="457200"/>
            <a:ext cx="10439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>
                <a:solidFill>
                  <a:srgbClr val="11359A"/>
                </a:solidFill>
              </a:rPr>
              <a:t>Airflow 스케줄링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64728c710a_2_65"/>
          <p:cNvSpPr txBox="1"/>
          <p:nvPr/>
        </p:nvSpPr>
        <p:spPr>
          <a:xfrm>
            <a:off x="1054100" y="7493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1359A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1팀_JJS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364728c710a_2_65"/>
          <p:cNvSpPr txBox="1"/>
          <p:nvPr/>
        </p:nvSpPr>
        <p:spPr>
          <a:xfrm>
            <a:off x="492200" y="1470878"/>
            <a:ext cx="16921800" cy="18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news_report_generator_v1 (전략 레포트 생성)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스 케 줄 링 :</a:t>
            </a:r>
            <a:r>
              <a:rPr lang="en-US" sz="2400">
                <a:solidFill>
                  <a:schemeClr val="dk1"/>
                </a:solidFill>
              </a:rPr>
              <a:t> 매일 13시 30분 / 오전과 오후에 수집한 일반, 제약 뉴스 데이터를 기반으로 전략 레포트 생성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</a:rPr>
              <a:t>설          명 :</a:t>
            </a:r>
            <a:r>
              <a:rPr lang="en-US" sz="2400">
                <a:solidFill>
                  <a:schemeClr val="dk1"/>
                </a:solidFill>
              </a:rPr>
              <a:t> 주요 뉴스 요약과 해당 정보로 생길 리스크 예상, 대응 시나리오 및 대응 전략 제시,   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56" name="Google Shape;256;g364728c710a_2_6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57825" y="3127650"/>
            <a:ext cx="8870301" cy="2891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g364728c710a_2_6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57825" y="6117745"/>
            <a:ext cx="8870300" cy="2931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g364728c710a_2_6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173388" y="3645352"/>
            <a:ext cx="6430687" cy="4485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g364728c710a_2_6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970250" y="9147557"/>
            <a:ext cx="1265936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3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"/>
          <p:cNvSpPr txBox="1"/>
          <p:nvPr/>
        </p:nvSpPr>
        <p:spPr>
          <a:xfrm>
            <a:off x="2628025" y="1360850"/>
            <a:ext cx="15335400" cy="78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9"/>
          <p:cNvSpPr txBox="1"/>
          <p:nvPr/>
        </p:nvSpPr>
        <p:spPr>
          <a:xfrm>
            <a:off x="1054100" y="7235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1359A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1팀_JJS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9"/>
          <p:cNvSpPr txBox="1"/>
          <p:nvPr/>
        </p:nvSpPr>
        <p:spPr>
          <a:xfrm>
            <a:off x="3924300" y="457200"/>
            <a:ext cx="10439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>
                <a:solidFill>
                  <a:srgbClr val="11359A"/>
                </a:solidFill>
              </a:rPr>
              <a:t>마무리 - 최종PPT 제작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9"/>
          <p:cNvSpPr txBox="1"/>
          <p:nvPr/>
        </p:nvSpPr>
        <p:spPr>
          <a:xfrm>
            <a:off x="492204" y="2389925"/>
            <a:ext cx="7611900" cy="56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최종PPT 작업 시작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전체 과정 리뷰를 통한 과정평가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기획부터 제작,마무리까지 전체과정에 대해서 점검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보완점 및 추후 고도화 방법 구체화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8" name="Google Shape;268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3975" y="2402375"/>
            <a:ext cx="9312973" cy="562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3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0" y="762000"/>
            <a:ext cx="482600" cy="151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0"/>
          <p:cNvSpPr txBox="1"/>
          <p:nvPr/>
        </p:nvSpPr>
        <p:spPr>
          <a:xfrm>
            <a:off x="3924300" y="914400"/>
            <a:ext cx="10439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11359A"/>
                </a:solidFill>
                <a:latin typeface="Arial"/>
                <a:ea typeface="Arial"/>
                <a:cs typeface="Arial"/>
                <a:sym typeface="Arial"/>
              </a:rPr>
              <a:t>금주 진행 예정 사항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0"/>
          <p:cNvSpPr txBox="1"/>
          <p:nvPr/>
        </p:nvSpPr>
        <p:spPr>
          <a:xfrm>
            <a:off x="1054100" y="7493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1359A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1팀_JJS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0"/>
          <p:cNvSpPr txBox="1"/>
          <p:nvPr/>
        </p:nvSpPr>
        <p:spPr>
          <a:xfrm>
            <a:off x="1341550" y="2788750"/>
            <a:ext cx="16159200" cy="66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전체 서류 점검 및 보완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최종 테스트</a:t>
            </a:r>
            <a:b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기능점검</a:t>
            </a:r>
            <a:b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요구사항 체크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최종 PPT 제작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프로젝트 종료 후 발전 계획 수립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3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29800" y="2705100"/>
            <a:ext cx="8661400" cy="8877300"/>
          </a:xfrm>
          <a:prstGeom prst="rect">
            <a:avLst/>
          </a:prstGeom>
          <a:noFill/>
          <a:ln>
            <a:noFill/>
          </a:ln>
          <a:effectLst>
            <a:outerShdw blurRad="466322" dir="1800000" dist="133161">
              <a:srgbClr val="000000">
                <a:alpha val="9019"/>
              </a:srgbClr>
            </a:outerShdw>
          </a:effectLst>
        </p:spPr>
      </p:pic>
      <p:pic>
        <p:nvPicPr>
          <p:cNvPr id="282" name="Google Shape;28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2500" y="2717800"/>
            <a:ext cx="8661400" cy="8877300"/>
          </a:xfrm>
          <a:prstGeom prst="rect">
            <a:avLst/>
          </a:prstGeom>
          <a:noFill/>
          <a:ln>
            <a:noFill/>
          </a:ln>
          <a:effectLst>
            <a:outerShdw blurRad="466322" dir="12600000" dist="199741">
              <a:srgbClr val="FFFFFF">
                <a:alpha val="49019"/>
              </a:srgbClr>
            </a:outerShdw>
          </a:effectLst>
        </p:spPr>
      </p:pic>
      <p:pic>
        <p:nvPicPr>
          <p:cNvPr id="283" name="Google Shape;28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r="1800000" dist="42716">
              <a:srgbClr val="000000">
                <a:alpha val="9019"/>
              </a:srgbClr>
            </a:outerShdw>
          </a:effectLst>
        </p:spPr>
      </p:pic>
      <p:pic>
        <p:nvPicPr>
          <p:cNvPr id="284" name="Google Shape;28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r="12600000" dist="64074">
              <a:srgbClr val="FFFFFF">
                <a:alpha val="60000"/>
              </a:srgbClr>
            </a:outerShdw>
          </a:effectLst>
        </p:spPr>
      </p:pic>
      <p:pic>
        <p:nvPicPr>
          <p:cNvPr id="285" name="Google Shape;28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1562100" y="8534400"/>
            <a:ext cx="4826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64000" y="762000"/>
            <a:ext cx="482600" cy="151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1"/>
          <p:cNvSpPr txBox="1"/>
          <p:nvPr/>
        </p:nvSpPr>
        <p:spPr>
          <a:xfrm>
            <a:off x="3568700" y="3937000"/>
            <a:ext cx="111507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0"/>
              <a:buFont typeface="Arial"/>
              <a:buNone/>
            </a:pPr>
            <a:r>
              <a:rPr b="0" i="0" lang="en-US" sz="1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감사합니다</a:t>
            </a:r>
            <a:endParaRPr b="0" i="0" sz="1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1"/>
          <p:cNvSpPr txBox="1"/>
          <p:nvPr/>
        </p:nvSpPr>
        <p:spPr>
          <a:xfrm>
            <a:off x="4064000" y="3632200"/>
            <a:ext cx="10172700" cy="4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11359A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HANKS</a:t>
            </a:r>
            <a:r>
              <a:rPr b="0" i="0" lang="en-US" sz="2600" u="none" cap="none" strike="noStrike">
                <a:solidFill>
                  <a:srgbClr val="11359A"/>
                </a:solidFill>
                <a:latin typeface="Arial"/>
                <a:ea typeface="Arial"/>
                <a:cs typeface="Arial"/>
                <a:sym typeface="Arial"/>
              </a:rPr>
              <a:t> F</a:t>
            </a:r>
            <a:r>
              <a:rPr b="0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r>
              <a:rPr b="0" i="0" lang="en-US" sz="2600" u="none" cap="none" strike="noStrike">
                <a:solidFill>
                  <a:srgbClr val="11359A"/>
                </a:solidFill>
                <a:latin typeface="Arial"/>
                <a:ea typeface="Arial"/>
                <a:cs typeface="Arial"/>
                <a:sym typeface="Arial"/>
              </a:rPr>
              <a:t> W</a:t>
            </a:r>
            <a:r>
              <a:rPr b="0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ATCHING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kdy</dc:creator>
</cp:coreProperties>
</file>