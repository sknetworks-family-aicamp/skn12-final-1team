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99700" cx="18300700"/>
  <p:notesSz cx="6858000" cy="9144000"/>
  <p:embeddedFontLst>
    <p:embeddedFont>
      <p:font typeface="Anek Bangla"/>
      <p:bold r:id="rId18"/>
    </p:embeddedFont>
    <p:embeddedFont>
      <p:font typeface="Open Sans ExtraBold"/>
      <p:bold r:id="rId19"/>
      <p:boldItalic r:id="rId20"/>
    </p:embeddedFont>
    <p:embeddedFont>
      <p:font typeface="Anek Bangla SemiBold"/>
      <p:regular r:id="rId21"/>
      <p:bold r:id="rId22"/>
    </p:embeddedFont>
    <p:embeddedFont>
      <p:font typeface="Anek Bangla Medium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V4TWBKbcIWBtE6Gefu76+zpLJ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ExtraBold-boldItalic.fntdata"/><Relationship Id="rId22" Type="http://schemas.openxmlformats.org/officeDocument/2006/relationships/font" Target="fonts/AnekBanglaSemiBold-bold.fntdata"/><Relationship Id="rId21" Type="http://schemas.openxmlformats.org/officeDocument/2006/relationships/font" Target="fonts/AnekBanglaSemiBold-regular.fntdata"/><Relationship Id="rId24" Type="http://schemas.openxmlformats.org/officeDocument/2006/relationships/font" Target="fonts/AnekBanglaMedium-bold.fntdata"/><Relationship Id="rId23" Type="http://schemas.openxmlformats.org/officeDocument/2006/relationships/font" Target="fonts/AnekBangla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penSansExtraBold-bold.fntdata"/><Relationship Id="rId18" Type="http://schemas.openxmlformats.org/officeDocument/2006/relationships/font" Target="fonts/AnekBangl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/>
              <a:t>번~3번 지난주 작업내역 / 4번~6번 금주작업내역</a:t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금주작업1 에이전트 구현 현황</a:t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3bb4b4f96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작업2 화면설계서 구현 현황</a:t>
            </a:r>
            <a:endParaRPr/>
          </a:p>
        </p:txBody>
      </p:sp>
      <p:sp>
        <p:nvSpPr>
          <p:cNvPr id="152" name="Google Shape;152;g373bb4b4f96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</a:t>
            </a:r>
            <a:r>
              <a:rPr lang="en-US"/>
              <a:t>시스템 구성도 구현현황</a:t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금주 작업계획1</a:t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3bb4b4f96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금주작업계획2</a:t>
            </a:r>
            <a:endParaRPr/>
          </a:p>
        </p:txBody>
      </p:sp>
      <p:sp>
        <p:nvSpPr>
          <p:cNvPr id="246" name="Google Shape;246;g373bb4b4f96_3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3bb4b4f96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금주작업계획2</a:t>
            </a:r>
            <a:endParaRPr/>
          </a:p>
        </p:txBody>
      </p:sp>
      <p:sp>
        <p:nvSpPr>
          <p:cNvPr id="264" name="Google Shape;264;g373bb4b4f96_3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3bb4b4f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금주작업계획3</a:t>
            </a:r>
            <a:endParaRPr/>
          </a:p>
        </p:txBody>
      </p:sp>
      <p:sp>
        <p:nvSpPr>
          <p:cNvPr id="280" name="Google Shape;280;g373bb4b4f9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3bb4b4f96_6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73bb4b4f96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금주작업계획 총정리</a:t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10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10" Type="http://schemas.openxmlformats.org/officeDocument/2006/relationships/image" Target="../media/image20.png"/><Relationship Id="rId9" Type="http://schemas.openxmlformats.org/officeDocument/2006/relationships/image" Target="../media/image38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10" Type="http://schemas.openxmlformats.org/officeDocument/2006/relationships/image" Target="../media/image20.png"/><Relationship Id="rId9" Type="http://schemas.openxmlformats.org/officeDocument/2006/relationships/image" Target="../media/image34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37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40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49.png"/><Relationship Id="rId8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C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600" y="2032000"/>
            <a:ext cx="15811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600" y="6654800"/>
            <a:ext cx="15811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908800" y="3962400"/>
            <a:ext cx="96774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7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주차</a:t>
            </a:r>
            <a:r>
              <a:rPr b="0" i="0" lang="en-US" sz="75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_4</a:t>
            </a:r>
            <a:r>
              <a:rPr b="0" i="0" lang="en-US" sz="7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차</a:t>
            </a:r>
            <a:r>
              <a:rPr b="0" i="0" lang="en-US" sz="75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7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주간스탠딩</a:t>
            </a:r>
            <a:endParaRPr sz="7500"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2000" y="-292100"/>
            <a:ext cx="4597400" cy="9766299"/>
          </a:xfrm>
          <a:prstGeom prst="rect">
            <a:avLst/>
          </a:prstGeom>
          <a:noFill/>
          <a:ln>
            <a:noFill/>
          </a:ln>
          <a:effectLst>
            <a:outerShdw blurRad="893067">
              <a:srgbClr val="000000">
                <a:alpha val="76862"/>
              </a:srgbClr>
            </a:outerShdw>
          </a:effectLst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629400" y="1066800"/>
            <a:ext cx="12319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6946900" y="1397000"/>
            <a:ext cx="10096500" cy="13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7162800" y="8890000"/>
            <a:ext cx="942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팀</a:t>
            </a:r>
            <a:r>
              <a:rPr b="0" i="0" lang="en-US" sz="3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 JJS   </a:t>
            </a:r>
            <a:r>
              <a:rPr b="0" i="0" lang="en-US" sz="3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김도윤</a:t>
            </a:r>
            <a:r>
              <a:rPr b="0" i="0" lang="en-US" sz="3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3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손현성</a:t>
            </a:r>
            <a:r>
              <a:rPr b="0" i="0" lang="en-US" sz="3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3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이용규</a:t>
            </a:r>
            <a:r>
              <a:rPr b="0" i="0" lang="en-US" sz="3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3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최문영</a:t>
            </a:r>
            <a:r>
              <a:rPr b="0" i="0" lang="en-US" sz="30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3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허한결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 rot="5400000">
            <a:off x="14592300" y="3225800"/>
            <a:ext cx="6159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EFEFE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Just Jump Start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 rot="-5400000">
            <a:off x="-1714500" y="7315200"/>
            <a:ext cx="4800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EFEFE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SaaSuserHaek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 rot="-5400000">
            <a:off x="-2108200" y="3111500"/>
            <a:ext cx="5461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EFEFE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NaruTalk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844800" y="9042400"/>
            <a:ext cx="295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21C5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J J S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4400" y="3200400"/>
            <a:ext cx="3932335" cy="21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44400" y="6794500"/>
            <a:ext cx="3932327" cy="2085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35175" y="5121200"/>
            <a:ext cx="4150776" cy="18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1C5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600" y="2197100"/>
            <a:ext cx="15811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498600" y="876300"/>
            <a:ext cx="15290800" cy="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9500" y="2870200"/>
            <a:ext cx="533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3073400" y="2679700"/>
            <a:ext cx="5994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r>
              <a:rPr b="0" i="0" lang="en-US" sz="25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701800" y="2679700"/>
            <a:ext cx="863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01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4100" y="2870200"/>
            <a:ext cx="533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10655300" y="2679700"/>
            <a:ext cx="5994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프론트엔드 구현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9296400" y="2679700"/>
            <a:ext cx="863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02</a:t>
            </a:r>
            <a:endParaRPr/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2200" y="5448300"/>
            <a:ext cx="533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3073400" y="5257800"/>
            <a:ext cx="5994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시스템구성도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714500" y="5270500"/>
            <a:ext cx="863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03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4100" y="5448300"/>
            <a:ext cx="533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10668000" y="5257800"/>
            <a:ext cx="5994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데이터베이스</a:t>
            </a:r>
            <a:r>
              <a:rPr lang="en-US" sz="2500">
                <a:solidFill>
                  <a:srgbClr val="FEFEFE"/>
                </a:solidFill>
              </a:rPr>
              <a:t> </a:t>
            </a: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구축</a:t>
            </a:r>
            <a:endParaRPr sz="250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296400" y="5270500"/>
            <a:ext cx="863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04</a:t>
            </a:r>
            <a:endParaRPr/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2200" y="8039100"/>
            <a:ext cx="533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3073400" y="7848600"/>
            <a:ext cx="5994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에이전트 구현 및 적용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714500" y="7848600"/>
            <a:ext cx="863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05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 rot="-5400000">
            <a:off x="-1714500" y="7315200"/>
            <a:ext cx="4800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EFEFE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SaaSuserHaek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 rot="-5400000">
            <a:off x="-2108200" y="3111500"/>
            <a:ext cx="5461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EFEFE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NaruTalk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 rot="5400000">
            <a:off x="14592300" y="3225800"/>
            <a:ext cx="6159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EFEFE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Just Jump Start</a:t>
            </a: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3200" y="8026400"/>
            <a:ext cx="533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10604400" y="7835900"/>
            <a:ext cx="5994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금주</a:t>
            </a:r>
            <a:r>
              <a:rPr lang="en-US" sz="2500">
                <a:solidFill>
                  <a:srgbClr val="FEFEFE"/>
                </a:solidFill>
              </a:rPr>
              <a:t> </a:t>
            </a: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작업</a:t>
            </a:r>
            <a:r>
              <a:rPr lang="en-US" sz="2500">
                <a:solidFill>
                  <a:srgbClr val="FEFEFE"/>
                </a:solidFill>
              </a:rPr>
              <a:t> </a:t>
            </a:r>
            <a:r>
              <a:rPr lang="en-US" sz="25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9245500" y="7835900"/>
            <a:ext cx="8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0</a:t>
            </a:r>
            <a:r>
              <a:rPr lang="en-US" sz="2200">
                <a:solidFill>
                  <a:srgbClr val="FEFEFE"/>
                </a:solidFill>
                <a:latin typeface="Anek Bangla SemiBold"/>
                <a:ea typeface="Anek Bangla SemiBold"/>
                <a:cs typeface="Anek Bangla SemiBold"/>
                <a:sym typeface="Anek Bangla SemiBold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9800" y="-2504500"/>
            <a:ext cx="15735300" cy="157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600000">
            <a:off x="16217900" y="20955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4229100" y="6489700"/>
            <a:ext cx="831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3390900" y="685800"/>
            <a:ext cx="11531600" cy="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서비스</a:t>
            </a:r>
            <a:r>
              <a:rPr b="0" i="0" lang="en-US" sz="5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788400" y="2374900"/>
            <a:ext cx="57277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질의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파악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분류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적합한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전문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에이전트로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요청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라우팅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/>
              <a:t>메모리 구성 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SQLite3 를 이용하여 db저장 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2933700" y="2374900"/>
            <a:ext cx="5067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라우터</a:t>
            </a:r>
            <a:r>
              <a:rPr b="0" i="0" lang="en-US" sz="26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6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8813800" y="4267200"/>
            <a:ext cx="5727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실적분석 필요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한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툴구성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개인별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성과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분석 레포트작성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기존 성과 분석 및 활동 제안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2959100" y="4267200"/>
            <a:ext cx="5067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직원실적분석</a:t>
            </a:r>
            <a:r>
              <a:rPr b="0" i="0" lang="en-US" sz="26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6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endParaRPr sz="2600">
              <a:solidFill>
                <a:srgbClr val="0021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8813800" y="6146800"/>
            <a:ext cx="57277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/>
              <a:t>사용자질의를 바탕으로 문서 종류 선택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문서에 필요한 내용 요청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문서초안 작성 및</a:t>
            </a:r>
            <a:r>
              <a:rPr lang="en-US" sz="2200"/>
              <a:t> 문서 다운로드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2959100" y="6159500"/>
            <a:ext cx="5067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문서초안작성 </a:t>
            </a:r>
            <a:r>
              <a:rPr b="0" i="0" lang="en-US" sz="26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8554775" y="7901975"/>
            <a:ext cx="62904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- 등급기준 분류 함수화로 구현</a:t>
            </a:r>
            <a:endParaRPr sz="2200"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- 사용자 쿼리 파라미터 기간별로 세분화</a:t>
            </a:r>
            <a:endParaRPr sz="2200"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</a:t>
            </a:r>
            <a:r>
              <a:rPr lang="en-US" sz="2200">
                <a:solidFill>
                  <a:schemeClr val="dk1"/>
                </a:solidFill>
              </a:rPr>
              <a:t> - 분석 결과 출력</a:t>
            </a:r>
            <a:endParaRPr sz="2200"/>
          </a:p>
        </p:txBody>
      </p:sp>
      <p:sp>
        <p:nvSpPr>
          <p:cNvPr id="147" name="Google Shape;147;p3"/>
          <p:cNvSpPr txBox="1"/>
          <p:nvPr/>
        </p:nvSpPr>
        <p:spPr>
          <a:xfrm>
            <a:off x="5017800" y="9410925"/>
            <a:ext cx="320100" cy="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2959100" y="9319625"/>
            <a:ext cx="5067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프론트엔드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2959100" y="7901975"/>
            <a:ext cx="5067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거래처분석 에이전트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73bb4b4f96_3_1" title="스크린샷 2025-07-28 092711.png"/>
          <p:cNvPicPr preferRelativeResize="0"/>
          <p:nvPr/>
        </p:nvPicPr>
        <p:blipFill rotWithShape="1">
          <a:blip r:embed="rId3">
            <a:alphaModFix/>
          </a:blip>
          <a:srcRect b="0" l="-1486" r="15546" t="0"/>
          <a:stretch/>
        </p:blipFill>
        <p:spPr>
          <a:xfrm>
            <a:off x="1577588" y="2730498"/>
            <a:ext cx="4998236" cy="279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73bb4b4f96_3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73bb4b4f96_3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73bb4b4f96_3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73bb4b4f96_3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3400" y="1371600"/>
            <a:ext cx="10007601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73bb4b4f96_3_1"/>
          <p:cNvSpPr txBox="1"/>
          <p:nvPr/>
        </p:nvSpPr>
        <p:spPr>
          <a:xfrm>
            <a:off x="1155700" y="1143000"/>
            <a:ext cx="58038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프론트엔드 구현</a:t>
            </a:r>
            <a:endParaRPr/>
          </a:p>
        </p:txBody>
      </p:sp>
      <p:sp>
        <p:nvSpPr>
          <p:cNvPr id="160" name="Google Shape;160;g373bb4b4f96_3_1"/>
          <p:cNvSpPr txBox="1"/>
          <p:nvPr/>
        </p:nvSpPr>
        <p:spPr>
          <a:xfrm>
            <a:off x="1943100" y="6502400"/>
            <a:ext cx="4597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리액트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프론트엔드</a:t>
            </a:r>
            <a:endParaRPr/>
          </a:p>
        </p:txBody>
      </p:sp>
      <p:sp>
        <p:nvSpPr>
          <p:cNvPr id="161" name="Google Shape;161;g373bb4b4f96_3_1"/>
          <p:cNvSpPr txBox="1"/>
          <p:nvPr/>
        </p:nvSpPr>
        <p:spPr>
          <a:xfrm>
            <a:off x="1943100" y="7340600"/>
            <a:ext cx="45846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- 리액트 19 기반 SPA 구조 채택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- 컴포넌트 재사용성 극대화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- 상태관리에 useState Hook 활용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- JavaScript ES6+로 모던 문법 적용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62" name="Google Shape;162;g373bb4b4f96_3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73bb4b4f96_3_1" title="스크린샷 2025-07-28 093030.png"/>
          <p:cNvPicPr preferRelativeResize="0"/>
          <p:nvPr/>
        </p:nvPicPr>
        <p:blipFill rotWithShape="1">
          <a:blip r:embed="rId8">
            <a:alphaModFix/>
          </a:blip>
          <a:srcRect b="1690" l="-4666" r="77215" t="1690"/>
          <a:stretch/>
        </p:blipFill>
        <p:spPr>
          <a:xfrm>
            <a:off x="8432800" y="2730500"/>
            <a:ext cx="1244598" cy="279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73bb4b4f96_3_1" title="스크린샷 2025-07-28 092935.png"/>
          <p:cNvPicPr preferRelativeResize="0"/>
          <p:nvPr/>
        </p:nvPicPr>
        <p:blipFill rotWithShape="1">
          <a:blip r:embed="rId9">
            <a:alphaModFix/>
          </a:blip>
          <a:srcRect b="3369" l="-2510" r="20462" t="-3370"/>
          <a:stretch/>
        </p:blipFill>
        <p:spPr>
          <a:xfrm>
            <a:off x="11798300" y="2730500"/>
            <a:ext cx="4533900" cy="279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73bb4b4f96_3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195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73bb4b4f96_3_1"/>
          <p:cNvSpPr txBox="1"/>
          <p:nvPr/>
        </p:nvSpPr>
        <p:spPr>
          <a:xfrm>
            <a:off x="37973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1</a:t>
            </a:r>
            <a:endParaRPr/>
          </a:p>
        </p:txBody>
      </p:sp>
      <p:sp>
        <p:nvSpPr>
          <p:cNvPr id="167" name="Google Shape;167;g373bb4b4f96_3_1"/>
          <p:cNvSpPr txBox="1"/>
          <p:nvPr/>
        </p:nvSpPr>
        <p:spPr>
          <a:xfrm>
            <a:off x="6858000" y="6502400"/>
            <a:ext cx="4597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페이지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구성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레이아웃</a:t>
            </a:r>
            <a:endParaRPr/>
          </a:p>
        </p:txBody>
      </p:sp>
      <p:sp>
        <p:nvSpPr>
          <p:cNvPr id="168" name="Google Shape;168;g373bb4b4f96_3_1"/>
          <p:cNvSpPr txBox="1"/>
          <p:nvPr/>
        </p:nvSpPr>
        <p:spPr>
          <a:xfrm>
            <a:off x="6858000" y="7264400"/>
            <a:ext cx="45846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각 에이전트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페이지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구성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권한별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차별화된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UI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직관적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네비게이션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구조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설계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다크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라이트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/>
          </a:p>
        </p:txBody>
      </p:sp>
      <p:pic>
        <p:nvPicPr>
          <p:cNvPr id="169" name="Google Shape;169;g373bb4b4f96_3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217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73bb4b4f96_3_1"/>
          <p:cNvSpPr txBox="1"/>
          <p:nvPr/>
        </p:nvSpPr>
        <p:spPr>
          <a:xfrm>
            <a:off x="87122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2</a:t>
            </a:r>
            <a:endParaRPr/>
          </a:p>
        </p:txBody>
      </p:sp>
      <p:sp>
        <p:nvSpPr>
          <p:cNvPr id="171" name="Google Shape;171;g373bb4b4f96_3_1"/>
          <p:cNvSpPr txBox="1"/>
          <p:nvPr/>
        </p:nvSpPr>
        <p:spPr>
          <a:xfrm>
            <a:off x="11760200" y="6502400"/>
            <a:ext cx="4597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챗봇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인터페이스</a:t>
            </a:r>
            <a:endParaRPr/>
          </a:p>
        </p:txBody>
      </p:sp>
      <p:sp>
        <p:nvSpPr>
          <p:cNvPr id="172" name="Google Shape;172;g373bb4b4f96_3_1"/>
          <p:cNvSpPr txBox="1"/>
          <p:nvPr/>
        </p:nvSpPr>
        <p:spPr>
          <a:xfrm>
            <a:off x="11760200" y="7188200"/>
            <a:ext cx="45846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자연어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대화형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UI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상태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시각화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첨부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처리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기능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컨텍스트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유지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메커니즘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g373bb4b4f96_3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4366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3bb4b4f96_3_1"/>
          <p:cNvSpPr txBox="1"/>
          <p:nvPr/>
        </p:nvSpPr>
        <p:spPr>
          <a:xfrm>
            <a:off x="136144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4" title="스크린샷 2025-07-28 094551.png"/>
          <p:cNvPicPr preferRelativeResize="0"/>
          <p:nvPr/>
        </p:nvPicPr>
        <p:blipFill rotWithShape="1">
          <a:blip r:embed="rId3">
            <a:alphaModFix/>
          </a:blip>
          <a:srcRect b="0" l="3470" r="3480" t="0"/>
          <a:stretch/>
        </p:blipFill>
        <p:spPr>
          <a:xfrm>
            <a:off x="1577588" y="2730498"/>
            <a:ext cx="4998235" cy="279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3400" y="1371600"/>
            <a:ext cx="100076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1155700" y="1143000"/>
            <a:ext cx="5803900" cy="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프론트엔드 구현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1943100" y="6502400"/>
            <a:ext cx="4597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문서 초안 작성 페이지</a:t>
            </a:r>
            <a:endParaRPr/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 title="스크린샷 2025-07-28 092926.png"/>
          <p:cNvPicPr preferRelativeResize="0"/>
          <p:nvPr/>
        </p:nvPicPr>
        <p:blipFill rotWithShape="1">
          <a:blip r:embed="rId8">
            <a:alphaModFix/>
          </a:blip>
          <a:srcRect b="0" l="0" r="15711" t="0"/>
          <a:stretch/>
        </p:blipFill>
        <p:spPr>
          <a:xfrm>
            <a:off x="6883400" y="2730500"/>
            <a:ext cx="4533901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 title="스크린샷 2025-07-28 094514.png"/>
          <p:cNvPicPr preferRelativeResize="0"/>
          <p:nvPr/>
        </p:nvPicPr>
        <p:blipFill rotWithShape="1">
          <a:blip r:embed="rId9">
            <a:alphaModFix/>
          </a:blip>
          <a:srcRect b="0" l="485" r="485" t="0"/>
          <a:stretch/>
        </p:blipFill>
        <p:spPr>
          <a:xfrm>
            <a:off x="11798300" y="2988299"/>
            <a:ext cx="4533903" cy="2420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195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 txBox="1"/>
          <p:nvPr/>
        </p:nvSpPr>
        <p:spPr>
          <a:xfrm>
            <a:off x="37973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1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6858000" y="6502400"/>
            <a:ext cx="4597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문서 검색 페이지</a:t>
            </a:r>
            <a:endParaRPr/>
          </a:p>
        </p:txBody>
      </p:sp>
      <p:pic>
        <p:nvPicPr>
          <p:cNvPr id="192" name="Google Shape;192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217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 txBox="1"/>
          <p:nvPr/>
        </p:nvSpPr>
        <p:spPr>
          <a:xfrm>
            <a:off x="87122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2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11760200" y="6502400"/>
            <a:ext cx="4597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</a:rPr>
              <a:t>고객 분석 페이지</a:t>
            </a:r>
            <a:endParaRPr/>
          </a:p>
        </p:txBody>
      </p:sp>
      <p:pic>
        <p:nvPicPr>
          <p:cNvPr id="195" name="Google Shape;19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4366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4"/>
          <p:cNvSpPr txBox="1"/>
          <p:nvPr/>
        </p:nvSpPr>
        <p:spPr>
          <a:xfrm>
            <a:off x="136144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227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9761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0750" y="5805825"/>
            <a:ext cx="15736149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73500" y="14859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7000" y="1638300"/>
            <a:ext cx="91948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 rot="-5400000">
            <a:off x="-1714500" y="7315200"/>
            <a:ext cx="4800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1C5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MIRI COMPANY</a:t>
            </a:r>
            <a:endParaRPr/>
          </a:p>
        </p:txBody>
      </p:sp>
      <p:pic>
        <p:nvPicPr>
          <p:cNvPr id="207" name="Google Shape;20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8100" y="1892300"/>
            <a:ext cx="6477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/>
          <p:nvPr/>
        </p:nvSpPr>
        <p:spPr>
          <a:xfrm>
            <a:off x="8191500" y="457200"/>
            <a:ext cx="8597900" cy="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시스템구성도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5602150" y="6157250"/>
            <a:ext cx="5496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백엔드-에이전트 fastapi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5602150" y="6804950"/>
            <a:ext cx="54882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랭그래프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프레임워크를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활용</a:t>
            </a:r>
            <a:r>
              <a:rPr lang="en-US" sz="2200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한 4개의 에이전트</a:t>
            </a:r>
            <a:endParaRPr sz="2200">
              <a:solidFill>
                <a:srgbClr val="2242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각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에이전트는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독립적으로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작동하면서도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필요시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상호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협력하는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구조로</a:t>
            </a:r>
            <a:r>
              <a:rPr b="0" i="0" lang="en-US" sz="2200" u="none" cap="none" strike="noStrike">
                <a:solidFill>
                  <a:srgbClr val="2242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설계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11476875" y="6157250"/>
            <a:ext cx="5618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외부 서비스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11476875" y="6804950"/>
            <a:ext cx="56103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lang="en-US" sz="2200">
                <a:solidFill>
                  <a:srgbClr val="2242E1"/>
                </a:solidFill>
              </a:rPr>
              <a:t>OpenAI api 사용</a:t>
            </a:r>
            <a:endParaRPr sz="2200">
              <a:solidFill>
                <a:srgbClr val="2242E1"/>
              </a:solidFill>
            </a:endParaRPr>
          </a:p>
          <a:p>
            <a:pPr indent="-368300" lvl="0" marL="45720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lang="en-US" sz="2200">
                <a:solidFill>
                  <a:srgbClr val="2242E1"/>
                </a:solidFill>
              </a:rPr>
              <a:t>Huggingface 모델 로드</a:t>
            </a:r>
            <a:endParaRPr sz="2200">
              <a:solidFill>
                <a:srgbClr val="2242E1"/>
              </a:solidFill>
            </a:endParaRPr>
          </a:p>
          <a:p>
            <a:pPr indent="-368300" lvl="0" marL="45720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lang="en-US" sz="2200">
                <a:solidFill>
                  <a:srgbClr val="2242E1"/>
                </a:solidFill>
              </a:rPr>
              <a:t>Airflow, 크롤링을 통하여 외부 데이터 업데이트</a:t>
            </a:r>
            <a:endParaRPr sz="2200">
              <a:solidFill>
                <a:srgbClr val="2242E1"/>
              </a:solidFill>
            </a:endParaRPr>
          </a:p>
        </p:txBody>
      </p:sp>
      <p:pic>
        <p:nvPicPr>
          <p:cNvPr id="214" name="Google Shape;214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70750" y="2049200"/>
            <a:ext cx="6291588" cy="29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 txBox="1"/>
          <p:nvPr/>
        </p:nvSpPr>
        <p:spPr>
          <a:xfrm>
            <a:off x="8338250" y="3661350"/>
            <a:ext cx="2940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프론트</a:t>
            </a:r>
            <a:endParaRPr sz="2700"/>
          </a:p>
        </p:txBody>
      </p:sp>
      <p:sp>
        <p:nvSpPr>
          <p:cNvPr id="216" name="Google Shape;216;p5"/>
          <p:cNvSpPr txBox="1"/>
          <p:nvPr/>
        </p:nvSpPr>
        <p:spPr>
          <a:xfrm>
            <a:off x="11278250" y="3661338"/>
            <a:ext cx="2940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백엔드</a:t>
            </a:r>
            <a:endParaRPr sz="2700"/>
          </a:p>
        </p:txBody>
      </p:sp>
      <p:sp>
        <p:nvSpPr>
          <p:cNvPr id="217" name="Google Shape;217;p5"/>
          <p:cNvSpPr txBox="1"/>
          <p:nvPr/>
        </p:nvSpPr>
        <p:spPr>
          <a:xfrm>
            <a:off x="13849400" y="3661350"/>
            <a:ext cx="2940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외부 서비스</a:t>
            </a:r>
            <a:endParaRPr sz="2700"/>
          </a:p>
        </p:txBody>
      </p:sp>
      <p:sp>
        <p:nvSpPr>
          <p:cNvPr id="218" name="Google Shape;218;p5"/>
          <p:cNvSpPr txBox="1"/>
          <p:nvPr/>
        </p:nvSpPr>
        <p:spPr>
          <a:xfrm>
            <a:off x="5602150" y="8348075"/>
            <a:ext cx="5496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백엔드-</a:t>
            </a: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데이터베이스 fastapi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5602150" y="8995775"/>
            <a:ext cx="54882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lang="en-US" sz="2200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내부와 외부 데이터베이스로 구성</a:t>
            </a:r>
            <a:endParaRPr sz="2200">
              <a:solidFill>
                <a:srgbClr val="2242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데이터베이스 fastapi를 통하여 데이터베이스에 접근할 수 있게 설계</a:t>
            </a:r>
            <a:endParaRPr sz="2200">
              <a:solidFill>
                <a:srgbClr val="2242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539250" y="6128225"/>
            <a:ext cx="5496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프론트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1539250" y="6775925"/>
            <a:ext cx="40629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2242E1"/>
              </a:buClr>
              <a:buSzPts val="2200"/>
              <a:buChar char="●"/>
            </a:pPr>
            <a:r>
              <a:rPr lang="en-US" sz="2200">
                <a:solidFill>
                  <a:srgbClr val="2242E1"/>
                </a:solidFill>
                <a:latin typeface="Calibri"/>
                <a:ea typeface="Calibri"/>
                <a:cs typeface="Calibri"/>
                <a:sym typeface="Calibri"/>
              </a:rPr>
              <a:t>React와 Nginx로 구성</a:t>
            </a:r>
            <a:endParaRPr sz="2200">
              <a:solidFill>
                <a:srgbClr val="2242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3400" y="1371600"/>
            <a:ext cx="10007601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 txBox="1"/>
          <p:nvPr/>
        </p:nvSpPr>
        <p:spPr>
          <a:xfrm rot="-5400000">
            <a:off x="-1714550" y="7315250"/>
            <a:ext cx="4800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1C5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MIRI COMPANY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1155700" y="1143000"/>
            <a:ext cx="58038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데이터베이스</a:t>
            </a:r>
            <a:r>
              <a:rPr b="0" i="0" lang="en-US" sz="5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구축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2286000" y="6502400"/>
            <a:ext cx="6502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하이브리드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DB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구성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2286000" y="7188200"/>
            <a:ext cx="64896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2200"/>
              <a:t>비정형 DB: 원본 문서 업로드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정형 DB: 테이블 데이터 및 문서의 메타데이터 적재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/>
              <a:t>벡터DB: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OpenSearch를 활용한 </a:t>
            </a:r>
            <a:r>
              <a:rPr lang="en-US" sz="2200">
                <a:solidFill>
                  <a:schemeClr val="dk1"/>
                </a:solidFill>
              </a:rPr>
              <a:t>문서 내용 인덱싱</a:t>
            </a:r>
            <a:endParaRPr/>
          </a:p>
        </p:txBody>
      </p:sp>
      <p:pic>
        <p:nvPicPr>
          <p:cNvPr id="234" name="Google Shape;23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11400" y="2730500"/>
            <a:ext cx="64389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49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50927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1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136144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3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9512300" y="6502400"/>
            <a:ext cx="65025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연동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9512300" y="7188200"/>
            <a:ext cx="64896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DB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연동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RESTful API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송수신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- OpenSearch의 하이브리드 서치 기능 구현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인증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토큰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보안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시스템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적용</a:t>
            </a:r>
            <a:endParaRPr/>
          </a:p>
        </p:txBody>
      </p:sp>
      <p:pic>
        <p:nvPicPr>
          <p:cNvPr id="241" name="Google Shape;24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0400" y="2730500"/>
            <a:ext cx="64389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41200" y="5143500"/>
            <a:ext cx="12446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123317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73bb4b4f96_3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73bb4b4f96_3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73bb4b4f96_3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73bb4b4f96_3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0200" y="1371600"/>
            <a:ext cx="9110801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73bb4b4f96_3_25"/>
          <p:cNvSpPr txBox="1"/>
          <p:nvPr/>
        </p:nvSpPr>
        <p:spPr>
          <a:xfrm rot="-5400000">
            <a:off x="-1714550" y="7315250"/>
            <a:ext cx="4800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21C5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MIRI COMPANY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73bb4b4f96_3_25"/>
          <p:cNvSpPr txBox="1"/>
          <p:nvPr/>
        </p:nvSpPr>
        <p:spPr>
          <a:xfrm>
            <a:off x="1155700" y="1143000"/>
            <a:ext cx="67353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US" sz="5500">
                <a:solidFill>
                  <a:srgbClr val="0021C5"/>
                </a:solidFill>
              </a:rPr>
              <a:t>라우팅 및 메모리구현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73bb4b4f96_3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73bb4b4f96_3_25"/>
          <p:cNvSpPr txBox="1"/>
          <p:nvPr/>
        </p:nvSpPr>
        <p:spPr>
          <a:xfrm>
            <a:off x="50927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73bb4b4f96_3_25"/>
          <p:cNvSpPr txBox="1"/>
          <p:nvPr/>
        </p:nvSpPr>
        <p:spPr>
          <a:xfrm>
            <a:off x="136144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73bb4b4f96_3_25"/>
          <p:cNvSpPr txBox="1"/>
          <p:nvPr/>
        </p:nvSpPr>
        <p:spPr>
          <a:xfrm>
            <a:off x="11913500" y="2974450"/>
            <a:ext cx="4571100" cy="6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H2H ( Human To The Loop )</a:t>
            </a:r>
            <a:b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질의를 분석해서 수동선택모드 정확도 향상, 프론트엔드 연결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 DB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질문내용을 저장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기존 채팅창에서 로드 및 삭제 가능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에이전트 분류 기능 강화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수정 및 각 에이전트 description 강화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73bb4b4f96_3_25"/>
          <p:cNvSpPr txBox="1"/>
          <p:nvPr/>
        </p:nvSpPr>
        <p:spPr>
          <a:xfrm>
            <a:off x="11913500" y="4677450"/>
            <a:ext cx="4571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9" name="Google Shape;259;g373bb4b4f96_3_25" title="스크린샷 2025-07-25 15113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54800" y="2584675"/>
            <a:ext cx="9322102" cy="425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73bb4b4f96_3_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17312" y="2980413"/>
            <a:ext cx="7659575" cy="346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73bb4b4f96_3_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54800" y="6444850"/>
            <a:ext cx="6554227" cy="32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73bb4b4f96_3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73bb4b4f96_3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73bb4b4f96_3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73bb4b4f96_3_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0200" y="1371600"/>
            <a:ext cx="9110801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73bb4b4f96_3_73"/>
          <p:cNvSpPr txBox="1"/>
          <p:nvPr/>
        </p:nvSpPr>
        <p:spPr>
          <a:xfrm rot="-5400000">
            <a:off x="-1714550" y="7315250"/>
            <a:ext cx="4800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21C5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MIRI COMPANY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73bb4b4f96_3_73"/>
          <p:cNvSpPr txBox="1"/>
          <p:nvPr/>
        </p:nvSpPr>
        <p:spPr>
          <a:xfrm>
            <a:off x="1155700" y="1143000"/>
            <a:ext cx="67353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US" sz="5500">
                <a:solidFill>
                  <a:srgbClr val="0021C5"/>
                </a:solidFill>
              </a:rPr>
              <a:t>직원실적분석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73bb4b4f96_3_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73bb4b4f96_3_73"/>
          <p:cNvSpPr txBox="1"/>
          <p:nvPr/>
        </p:nvSpPr>
        <p:spPr>
          <a:xfrm>
            <a:off x="50927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73bb4b4f96_3_73"/>
          <p:cNvSpPr txBox="1"/>
          <p:nvPr/>
        </p:nvSpPr>
        <p:spPr>
          <a:xfrm>
            <a:off x="136144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73bb4b4f96_3_73"/>
          <p:cNvSpPr txBox="1"/>
          <p:nvPr/>
        </p:nvSpPr>
        <p:spPr>
          <a:xfrm>
            <a:off x="11913500" y="2974450"/>
            <a:ext cx="4571100" cy="7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실적분석 대상의 실적 분석 요청시 레포트 작성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5가지로 분석하여 레포트 작성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레포트 내용 및 순서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전체성과-주요성과-실적트렌드- 장단점분석 - 활동방향제시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DB구성 : 현재 SQLite3로 임시구성 </a:t>
            </a:r>
            <a:b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g373bb4b4f96_3_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2150" y="2121009"/>
            <a:ext cx="10026276" cy="530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73bb4b4f96_3_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2625" y="6422300"/>
            <a:ext cx="3605300" cy="387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73bb4b4f96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73bb4b4f96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73bb4b4f96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73bb4b4f96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0200" y="1371600"/>
            <a:ext cx="9110801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73bb4b4f96_1_0"/>
          <p:cNvSpPr txBox="1"/>
          <p:nvPr/>
        </p:nvSpPr>
        <p:spPr>
          <a:xfrm rot="-5400000">
            <a:off x="-1714550" y="7315250"/>
            <a:ext cx="4800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21C5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MIRI COMPANY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73bb4b4f96_1_0"/>
          <p:cNvSpPr txBox="1"/>
          <p:nvPr/>
        </p:nvSpPr>
        <p:spPr>
          <a:xfrm>
            <a:off x="1155700" y="1143000"/>
            <a:ext cx="67353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US" sz="5500">
                <a:solidFill>
                  <a:srgbClr val="0021C5"/>
                </a:solidFill>
              </a:rPr>
              <a:t>문서초안작성에이전트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g373bb4b4f96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73bb4b4f96_1_0"/>
          <p:cNvSpPr txBox="1"/>
          <p:nvPr/>
        </p:nvSpPr>
        <p:spPr>
          <a:xfrm>
            <a:off x="50927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73bb4b4f96_1_0"/>
          <p:cNvSpPr txBox="1"/>
          <p:nvPr/>
        </p:nvSpPr>
        <p:spPr>
          <a:xfrm>
            <a:off x="13614400" y="5245100"/>
            <a:ext cx="876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EFEFE"/>
                </a:solidFill>
                <a:latin typeface="Anek Bangla"/>
                <a:ea typeface="Anek Bangla"/>
                <a:cs typeface="Anek Bangla"/>
                <a:sym typeface="Anek Bangl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373bb4b4f96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5463" y="2984450"/>
            <a:ext cx="9599125" cy="6224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73bb4b4f96_1_0"/>
          <p:cNvSpPr txBox="1"/>
          <p:nvPr/>
        </p:nvSpPr>
        <p:spPr>
          <a:xfrm>
            <a:off x="1667225" y="3688550"/>
            <a:ext cx="4571100" cy="5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정보 :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25년 7월 25일에 제품설명회가 시행됬고 제품설명회로 구분돼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김도윤 PM이 참석하였고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장소는 코엑스 B홀에서 진행됬어 설명회에 언급된 제품은 텐텐이고 제품 리뉴얼 소개가 제품설명회 시행목적이였지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주요내용으로는 기존 제품의 문제점과 리뉴얼 되면서 바뀐점과 영양성분 소개야 참석한 직원들은 영업팀 손현성, 이용규, 손영식 이고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보건의료전문가는 서울대학병원 허한결 연세대학병원 최문영 교수가 참여했어 이후 저녁식사 자리를 가졌고 메뉴는 치킨이고 사용한 금액은 10만원이야 주류는 소주 2병, 맥주 6병을 마셨고 인당금액은 2만원이 나왔어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3bb4b4f96_6_6"/>
          <p:cNvSpPr txBox="1"/>
          <p:nvPr/>
        </p:nvSpPr>
        <p:spPr>
          <a:xfrm>
            <a:off x="1193500" y="787200"/>
            <a:ext cx="105129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242E1"/>
                </a:solidFill>
                <a:highlight>
                  <a:srgbClr val="FEFEFE"/>
                </a:highlight>
                <a:latin typeface="Calibri"/>
                <a:ea typeface="Calibri"/>
                <a:cs typeface="Calibri"/>
                <a:sym typeface="Calibri"/>
              </a:rPr>
              <a:t>거래처분석에이전트</a:t>
            </a:r>
            <a:endParaRPr sz="3600">
              <a:solidFill>
                <a:srgbClr val="2242E1"/>
              </a:solidFill>
              <a:highlight>
                <a:srgbClr val="FEFEF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73bb4b4f96_6_6"/>
          <p:cNvSpPr txBox="1"/>
          <p:nvPr/>
        </p:nvSpPr>
        <p:spPr>
          <a:xfrm>
            <a:off x="812575" y="1945000"/>
            <a:ext cx="17917800" cy="83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사용자입력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 llm에 사용자입력 쿼리분석요청 -&gt; llm이 사용자입력분석하여 필요한 파라미터만 추출해 json형태로 추출 -&gt;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llm이 랭그래프의 다음 흐름에 따라 최종 레포트로 답변생성 (db와의 연동, text2sql)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g373bb4b4f96_6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950" y="3429000"/>
            <a:ext cx="15333826" cy="48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73bb4b4f96_6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9700" y="848150"/>
            <a:ext cx="11610000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73bb4b4f96_6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18675" y="702100"/>
            <a:ext cx="54651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73bb4b4f96_6_6"/>
          <p:cNvSpPr txBox="1"/>
          <p:nvPr/>
        </p:nvSpPr>
        <p:spPr>
          <a:xfrm>
            <a:off x="172675" y="3842050"/>
            <a:ext cx="1904700" cy="56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예상 쿼리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73bb4b4f96_6_6"/>
          <p:cNvSpPr/>
          <p:nvPr/>
        </p:nvSpPr>
        <p:spPr>
          <a:xfrm>
            <a:off x="0" y="4900975"/>
            <a:ext cx="3824400" cy="2727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73bb4b4f96_6_6"/>
          <p:cNvSpPr txBox="1"/>
          <p:nvPr/>
        </p:nvSpPr>
        <p:spPr>
          <a:xfrm>
            <a:off x="172675" y="5327625"/>
            <a:ext cx="32454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현재 우리와 거래하고 있는 “좋은 내과” 의 작년 4월부터 11월 까지의 거래 실적을 분석해줘”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3898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1899900" y="5130800"/>
            <a:ext cx="10299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84600" y="1219200"/>
            <a:ext cx="54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3400" y="1371600"/>
            <a:ext cx="100076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6"/>
          <p:cNvSpPr txBox="1"/>
          <p:nvPr/>
        </p:nvSpPr>
        <p:spPr>
          <a:xfrm rot="-5400000">
            <a:off x="-1714500" y="7315200"/>
            <a:ext cx="4800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1C5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MIRI COMPANY</a:t>
            </a:r>
            <a:endParaRPr/>
          </a:p>
        </p:txBody>
      </p:sp>
      <p:sp>
        <p:nvSpPr>
          <p:cNvPr id="314" name="Google Shape;314;p6"/>
          <p:cNvSpPr txBox="1"/>
          <p:nvPr/>
        </p:nvSpPr>
        <p:spPr>
          <a:xfrm>
            <a:off x="1155700" y="1143000"/>
            <a:ext cx="5803900" cy="9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금주</a:t>
            </a:r>
            <a:r>
              <a:rPr b="0" i="0" lang="en-US" sz="5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작업</a:t>
            </a:r>
            <a:r>
              <a:rPr b="0" i="0" lang="en-US" sz="5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5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/>
          </a:p>
        </p:txBody>
      </p:sp>
      <p:pic>
        <p:nvPicPr>
          <p:cNvPr id="315" name="Google Shape;3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5800" y="8902700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6870700" y="3911600"/>
            <a:ext cx="45593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7300" y="6197600"/>
            <a:ext cx="15786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9499600" y="8470900"/>
            <a:ext cx="45593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4241800" y="8445500"/>
            <a:ext cx="45593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6"/>
          <p:cNvSpPr txBox="1"/>
          <p:nvPr/>
        </p:nvSpPr>
        <p:spPr>
          <a:xfrm>
            <a:off x="1600200" y="2755900"/>
            <a:ext cx="72009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랭그래프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고도화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라우터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endParaRPr/>
          </a:p>
        </p:txBody>
      </p:sp>
      <p:sp>
        <p:nvSpPr>
          <p:cNvPr id="321" name="Google Shape;321;p6"/>
          <p:cNvSpPr txBox="1"/>
          <p:nvPr/>
        </p:nvSpPr>
        <p:spPr>
          <a:xfrm>
            <a:off x="1600200" y="3441700"/>
            <a:ext cx="720090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라우터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에이전트의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정확도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향상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복합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질의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처리를 위한 라우터 개선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컨텍스트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전달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메커니즘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개선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- 숏텀/롱텀 메모리 구현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9499600" y="2755900"/>
            <a:ext cx="72009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랭그래프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고도화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- Text2SQL</a:t>
            </a:r>
            <a:endParaRPr/>
          </a:p>
        </p:txBody>
      </p:sp>
      <p:sp>
        <p:nvSpPr>
          <p:cNvPr id="323" name="Google Shape;323;p6"/>
          <p:cNvSpPr txBox="1"/>
          <p:nvPr/>
        </p:nvSpPr>
        <p:spPr>
          <a:xfrm>
            <a:off x="9499600" y="3441700"/>
            <a:ext cx="720090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- 현재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더미 데이터 사용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</a:rPr>
              <a:t>- DB 연동해서 데이터 호출 작업 예정</a:t>
            </a:r>
            <a:endParaRPr sz="2200"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자연어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형태의 질문을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SQL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쿼리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변환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작업</a:t>
            </a:r>
            <a:endParaRPr/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 txBox="1"/>
          <p:nvPr/>
        </p:nvSpPr>
        <p:spPr>
          <a:xfrm>
            <a:off x="1651000" y="6858000"/>
            <a:ext cx="4470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랭그래프 에이전트 구현</a:t>
            </a:r>
            <a:endParaRPr/>
          </a:p>
        </p:txBody>
      </p:sp>
      <p:sp>
        <p:nvSpPr>
          <p:cNvPr id="325" name="Google Shape;325;p6"/>
          <p:cNvSpPr txBox="1"/>
          <p:nvPr/>
        </p:nvSpPr>
        <p:spPr>
          <a:xfrm>
            <a:off x="1651000" y="7543800"/>
            <a:ext cx="447040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-  </a:t>
            </a:r>
            <a:r>
              <a:rPr lang="en-US" sz="2200">
                <a:solidFill>
                  <a:schemeClr val="dk1"/>
                </a:solidFill>
              </a:rPr>
              <a:t>검색 에이전트 구현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- 다른 에이전트와 상호작용하여 결과물을 생성하는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복합질의 에이전트 구현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- aws ECR 환경으로 변환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6908800" y="6870700"/>
            <a:ext cx="4470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랭그래프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고도화</a:t>
            </a:r>
            <a:r>
              <a:rPr b="0" i="0" lang="en-US" sz="2500" u="none" cap="none" strike="noStrike">
                <a:solidFill>
                  <a:srgbClr val="0021C5"/>
                </a:solidFill>
                <a:latin typeface="Arial"/>
                <a:ea typeface="Arial"/>
                <a:cs typeface="Arial"/>
                <a:sym typeface="Arial"/>
              </a:rPr>
              <a:t> - UX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개선</a:t>
            </a:r>
            <a:endParaRPr/>
          </a:p>
        </p:txBody>
      </p:sp>
      <p:sp>
        <p:nvSpPr>
          <p:cNvPr id="327" name="Google Shape;327;p6"/>
          <p:cNvSpPr txBox="1"/>
          <p:nvPr/>
        </p:nvSpPr>
        <p:spPr>
          <a:xfrm>
            <a:off x="6921500" y="7556500"/>
            <a:ext cx="447040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- 사용자편의개선 : 새로운 채팅세션 생성 시 사용법 안내 및  에이전트 수동선택 기능 추가</a:t>
            </a:r>
            <a:endParaRPr sz="2200"/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28" name="Google Shape;328;p6"/>
          <p:cNvSpPr txBox="1"/>
          <p:nvPr/>
        </p:nvSpPr>
        <p:spPr>
          <a:xfrm>
            <a:off x="12179300" y="6870700"/>
            <a:ext cx="4470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21C5"/>
                </a:solidFill>
              </a:rPr>
              <a:t>데이터 수집 자동화</a:t>
            </a:r>
            <a:r>
              <a:rPr b="0" i="0" lang="en-US" sz="2500" u="none" cap="none" strike="noStrike">
                <a:solidFill>
                  <a:srgbClr val="0021C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29" name="Google Shape;329;p6"/>
          <p:cNvSpPr txBox="1"/>
          <p:nvPr/>
        </p:nvSpPr>
        <p:spPr>
          <a:xfrm>
            <a:off x="12179300" y="7556500"/>
            <a:ext cx="447040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외부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연동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뉴스 수집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200"/>
              <a:t> 크롤링 통한 데이터 수집</a:t>
            </a:r>
            <a:endParaRPr/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에어플로우 스케줄링</a:t>
            </a:r>
            <a:endParaRPr/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