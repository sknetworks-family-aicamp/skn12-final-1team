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3" roundtripDataSignature="AMtx7misAwrQ72TnTR7/eEgu7R4KzMdi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43" Type="http://customschemas.google.com/relationships/presentationmetadata" Target="meta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제약영업사원의 업무를 지원하는 AI 챗봇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프로젝트 나루톡 발표</a:t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에이전트를 메인으로 분담을 하였고, 프로젝트에 필요한 pm, 백엔드, 프론트엔드, 데이터, 데이터베이스 역할을 나누어 담당을 함.</a:t>
            </a:r>
            <a:endParaRPr/>
          </a:p>
        </p:txBody>
      </p:sp>
      <p:sp>
        <p:nvSpPr>
          <p:cNvPr id="111" name="Google Shape;11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팀 주제, 내부 고객 업무 효율성 향상을 위한 문서검색 시스템,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내부 문서, 회사 내에서 실제 사용되는 문서, </a:t>
            </a:r>
            <a:endParaRPr/>
          </a:p>
        </p:txBody>
      </p:sp>
      <p:sp>
        <p:nvSpPr>
          <p:cNvPr id="189" name="Google Shape;18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접근이 어려운 내부 문서, 다양한 분야로 4차례의 기획안 작성, 낮은 전문성과 실현 가능성, 실제 현업에서 사용되는 문서를 수집 불가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내부 회의와 멘토링, 도메인 지식 활용, 내부 문서 증강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10년 이상 제약영업 경력자 김도윤님의 도메인지식을 최대한 활용하는 방향으로 기획을 정리</a:t>
            </a:r>
            <a:endParaRPr/>
          </a:p>
        </p:txBody>
      </p:sp>
      <p:sp>
        <p:nvSpPr>
          <p:cNvPr id="200" name="Google Shape;20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시장 조사 결과, 사내 AI 챗봇 시장, 매우 빠르게 성장,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Gminsight( 지민사이트 ), 연평균 성장률, 33.2~40.3%로 측정, 높은 수준의 성장률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맥킨지, 제약 AI 시장 규모, 2025년 19.4억 달러, 2034년 164.9억 달러로 예측,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제약 AI 분야, 신약 개발 뿐 아니라, 영업, 마케팅, 다양한 영역으로 확장 중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그 중에서도 우리는 제약영업사원, 업무 지원 파트, 많은 개선 여지</a:t>
            </a:r>
            <a:endParaRPr/>
          </a:p>
        </p:txBody>
      </p:sp>
      <p:sp>
        <p:nvSpPr>
          <p:cNvPr id="220" name="Google Shape;22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국내 제약업계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AI 챗봇 도입 중, 점차 확대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외부 고객 대응 -&gt; 내부 운영 중심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이러한 시장 조사 결과로 인해 프로젝트 주제를 확립하게 됨</a:t>
            </a:r>
            <a:endParaRPr/>
          </a:p>
        </p:txBody>
      </p:sp>
      <p:sp>
        <p:nvSpPr>
          <p:cNvPr id="250" name="Google Shape;25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시장조사 +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현업에서 10년이상 근무한 김도윤님의 실제 경험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영업사원들과의 인터뷰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/>
              <a:t>현장의 어려움 파악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/>
              <a:t>이를 기반으로 솔루션 도출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시장조사뿐만 아니라, 과 영업사원들과의 인터뷰를 통해 현장의 어려움, 영업사원들의 Pain Point를 보다 구체적으로 파악했습니다. 이를 바탕으로 NaruTalk의 주요 기능을 설계해 보았습니다.</a:t>
            </a:r>
            <a:endParaRPr/>
          </a:p>
        </p:txBody>
      </p:sp>
      <p:sp>
        <p:nvSpPr>
          <p:cNvPr id="270" name="Google Shape;27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제약업계에서 나타나는 4가지 핵심적인 어려움을 말씀드리겠습니다.</a:t>
            </a:r>
            <a:endParaRPr/>
          </a:p>
        </p:txBody>
      </p:sp>
      <p:sp>
        <p:nvSpPr>
          <p:cNvPr id="282" name="Google Shape;28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첫 번째는 정보 검색 반복과 누락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제약업계는 의사의 처방을 기반으로 건강보험공단이 급여를 지원하는 구조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이 급여 구조가 회사 수익의 70% 이상을 차지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이때 급여를 받기 위해 병원에서 반드시 ‘급여코드’를 정확히 입력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코드가 구조가 매우 복잡하며 자주 변경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급여 코드에 문제가 생기면 병원이 보험 처리 과정에서 대규모 삭감이 발생하게 되고 그 책임이 제약사로 돌아오면서 신뢰 하락 및 실적 이탈로 이어지는 경우가 있습니다.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코드를 확인하기 위해 PM에게 직접 연락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제품이 많고 조직이 자주 바뀌는 경우엔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PM조차 찾기 어려워지는 문제가 발생하기도 합니다.</a:t>
            </a:r>
            <a:endParaRPr/>
          </a:p>
        </p:txBody>
      </p:sp>
      <p:sp>
        <p:nvSpPr>
          <p:cNvPr id="319" name="Google Shape;31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두 번째는 실적 분석에 어려움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영업사원 한 명이 평균 30~40개의 거래처를 관리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거래처별 제품은 60개 -&gt; 방대한 데이터를 다뤄야 함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여전히 노후된 데이터베이스를 사용하는 기업이 존재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개별 실적을 분석하는 데 너무 많은 시간이 소요 -&gt; 현장 활동 시간이 줄어듦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관리자도 현장에서 영업을 병행 -&gt; 부하 직원의 실적까지 분석하지 못하는 경우가 대부분</a:t>
            </a:r>
            <a:endParaRPr/>
          </a:p>
        </p:txBody>
      </p:sp>
      <p:sp>
        <p:nvSpPr>
          <p:cNvPr id="343" name="Google Shape;34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세 번째는 고객 관리 단절 및 분산된 정보.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각 거래처마다 성향, 주요 관심 제품, 응대 방식이 모두 다름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이 정보들이 통합되지 않고 영업사원 개인의 노트나 엑셀 파일 등에 흩어져 있는 경우 많음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담당자가 바뀌면 인수인계, 커뮤니케이션 히스토리 끊김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‘기억에 남는 곳’이나 ‘최근 연락이 없었던 곳’ 위주로 영업이 진행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감에 의존한 전략 없는 활동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실적 편차로 이어지는 경우도 많습니다.</a:t>
            </a:r>
            <a:endParaRPr/>
          </a:p>
        </p:txBody>
      </p:sp>
      <p:sp>
        <p:nvSpPr>
          <p:cNvPr id="363" name="Google Shape;36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마지막은 컴플라이언스 리스크입니다.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제약산업은 의료법 아래 매우 강력한 규제를 받습니다.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규정 위반 시 개인은 물론, 회사도 일시 판매중단이나 제품 폐기 등의 큰 제재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이 때문에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영업 현장에서는 각종 문서나 활동을 반복적으로 검토하고 승인받음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그 과정에서 막대한 리소스와 시간이 낭비</a:t>
            </a:r>
            <a:endParaRPr/>
          </a:p>
        </p:txBody>
      </p:sp>
      <p:sp>
        <p:nvSpPr>
          <p:cNvPr id="381" name="Google Shape;381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8" name="Google Shape;39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이러한 문제에 대한 솔루션으로 다음과 같은 기능을 구상했습니다.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첫째, 자동 업데이트 되는 데이터베이스와 검색 기능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자연어 질의를 통해 실시간으로 업데이트 되는 규정이나 사내 정보를 얻을 수 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둘째, 직원 실적을 분석하고 보고서를 작성해주는 기능입니다.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직접 데이터를 정리하고 분석하던 시간을 절약하여 본업에 집중할 수 있게 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셋째, 거래처 실적 분석 및 등급 분류 기능입니다.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거래처의 성향과 트렌드를 파악한 답변,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향후 전략 방향 제안받을 수 있음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마지막으로, 문서 자동화 및 규정 검토 기능입니다.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챗봇을 통해 보고서, 계획서, 계약서 등의 문서를 자동으로 생성하면서도, 내부 규정이나 의약법 위반 여부를 즉시 판단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반복적인 검토와 승인 과정을 줄임.</a:t>
            </a:r>
            <a:endParaRPr/>
          </a:p>
        </p:txBody>
      </p:sp>
      <p:sp>
        <p:nvSpPr>
          <p:cNvPr id="399" name="Google Shape;399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8" name="Google Shape;43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2" name="Google Shape;45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한미 약품과 한국얀센 삼성바이오 기능 보면서 단순한 테스크만 있다고 말하기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국내 제약 서비스의 약점 말하기</a:t>
            </a:r>
            <a:endParaRPr/>
          </a:p>
        </p:txBody>
      </p:sp>
      <p:sp>
        <p:nvSpPr>
          <p:cNvPr id="453" name="Google Shape;453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2" name="Google Shape;47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문서 검색 뿐만 아니라 문서 생성, 규정 검토 직원 및 거래처 분석 기능 등 다방면으로 </a:t>
            </a:r>
            <a:endParaRPr/>
          </a:p>
        </p:txBody>
      </p:sp>
      <p:sp>
        <p:nvSpPr>
          <p:cNvPr id="473" name="Google Shape;473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2" name="Google Shape;50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Wbs로 일정을 구성하였고 현재는 4주차로 어플리케이션 구현 단계에 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세부 일정은 노션을 통해 관리가 되고 있다.</a:t>
            </a:r>
            <a:endParaRPr/>
          </a:p>
        </p:txBody>
      </p:sp>
      <p:sp>
        <p:nvSpPr>
          <p:cNvPr id="503" name="Google Shape;503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0" name="Google Shape;52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4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4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4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4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4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4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4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4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5.png"/><Relationship Id="rId10" Type="http://schemas.openxmlformats.org/officeDocument/2006/relationships/image" Target="../media/image10.png"/><Relationship Id="rId13" Type="http://schemas.openxmlformats.org/officeDocument/2006/relationships/image" Target="../media/image7.png"/><Relationship Id="rId1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Relationship Id="rId4" Type="http://schemas.openxmlformats.org/officeDocument/2006/relationships/image" Target="../media/image21.png"/><Relationship Id="rId9" Type="http://schemas.openxmlformats.org/officeDocument/2006/relationships/image" Target="../media/image9.png"/><Relationship Id="rId15" Type="http://schemas.openxmlformats.org/officeDocument/2006/relationships/image" Target="../media/image19.png"/><Relationship Id="rId14" Type="http://schemas.openxmlformats.org/officeDocument/2006/relationships/image" Target="../media/image11.png"/><Relationship Id="rId17" Type="http://schemas.openxmlformats.org/officeDocument/2006/relationships/image" Target="../media/image3.png"/><Relationship Id="rId16" Type="http://schemas.openxmlformats.org/officeDocument/2006/relationships/image" Target="../media/image6.png"/><Relationship Id="rId5" Type="http://schemas.openxmlformats.org/officeDocument/2006/relationships/image" Target="../media/image18.png"/><Relationship Id="rId19" Type="http://schemas.openxmlformats.org/officeDocument/2006/relationships/image" Target="../media/image4.png"/><Relationship Id="rId6" Type="http://schemas.openxmlformats.org/officeDocument/2006/relationships/image" Target="../media/image1.png"/><Relationship Id="rId18" Type="http://schemas.openxmlformats.org/officeDocument/2006/relationships/image" Target="../media/image13.png"/><Relationship Id="rId7" Type="http://schemas.openxmlformats.org/officeDocument/2006/relationships/image" Target="../media/image12.png"/><Relationship Id="rId8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0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21.png"/><Relationship Id="rId9" Type="http://schemas.openxmlformats.org/officeDocument/2006/relationships/image" Target="../media/image22.png"/><Relationship Id="rId5" Type="http://schemas.openxmlformats.org/officeDocument/2006/relationships/image" Target="../media/image8.png"/><Relationship Id="rId6" Type="http://schemas.openxmlformats.org/officeDocument/2006/relationships/image" Target="../media/image30.jpg"/><Relationship Id="rId7" Type="http://schemas.openxmlformats.org/officeDocument/2006/relationships/image" Target="../media/image29.jpg"/><Relationship Id="rId8" Type="http://schemas.openxmlformats.org/officeDocument/2006/relationships/image" Target="../media/image38.png"/></Relationships>
</file>

<file path=ppt/slides/_rels/slide3.xml.rels><?xml version="1.0" encoding="UTF-8" standalone="yes"?><Relationships xmlns="http://schemas.openxmlformats.org/package/2006/relationships"><Relationship Id="rId10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21.png"/><Relationship Id="rId9" Type="http://schemas.openxmlformats.org/officeDocument/2006/relationships/image" Target="../media/image24.png"/><Relationship Id="rId5" Type="http://schemas.openxmlformats.org/officeDocument/2006/relationships/image" Target="../media/image18.png"/><Relationship Id="rId6" Type="http://schemas.openxmlformats.org/officeDocument/2006/relationships/image" Target="../media/image1.png"/><Relationship Id="rId7" Type="http://schemas.openxmlformats.org/officeDocument/2006/relationships/image" Target="../media/image42.png"/><Relationship Id="rId8" Type="http://schemas.openxmlformats.org/officeDocument/2006/relationships/image" Target="../media/image2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21.png"/><Relationship Id="rId5" Type="http://schemas.openxmlformats.org/officeDocument/2006/relationships/image" Target="../media/image18.png"/><Relationship Id="rId6" Type="http://schemas.openxmlformats.org/officeDocument/2006/relationships/image" Target="../media/image1.png"/><Relationship Id="rId7" Type="http://schemas.openxmlformats.org/officeDocument/2006/relationships/image" Target="../media/image4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21.png"/><Relationship Id="rId5" Type="http://schemas.openxmlformats.org/officeDocument/2006/relationships/image" Target="../media/image18.png"/><Relationship Id="rId6" Type="http://schemas.openxmlformats.org/officeDocument/2006/relationships/image" Target="../media/image1.png"/><Relationship Id="rId7" Type="http://schemas.openxmlformats.org/officeDocument/2006/relationships/image" Target="../media/image44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43.png"/><Relationship Id="rId10" Type="http://schemas.openxmlformats.org/officeDocument/2006/relationships/image" Target="../media/image32.png"/><Relationship Id="rId1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21.png"/><Relationship Id="rId9" Type="http://schemas.openxmlformats.org/officeDocument/2006/relationships/image" Target="../media/image35.png"/><Relationship Id="rId5" Type="http://schemas.openxmlformats.org/officeDocument/2006/relationships/image" Target="../media/image18.png"/><Relationship Id="rId6" Type="http://schemas.openxmlformats.org/officeDocument/2006/relationships/image" Target="../media/image1.png"/><Relationship Id="rId7" Type="http://schemas.openxmlformats.org/officeDocument/2006/relationships/image" Target="../media/image44.png"/><Relationship Id="rId8" Type="http://schemas.openxmlformats.org/officeDocument/2006/relationships/image" Target="../media/image28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52.png"/><Relationship Id="rId10" Type="http://schemas.openxmlformats.org/officeDocument/2006/relationships/image" Target="../media/image45.png"/><Relationship Id="rId13" Type="http://schemas.openxmlformats.org/officeDocument/2006/relationships/image" Target="../media/image50.png"/><Relationship Id="rId12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8.png"/><Relationship Id="rId9" Type="http://schemas.openxmlformats.org/officeDocument/2006/relationships/image" Target="../media/image40.png"/><Relationship Id="rId5" Type="http://schemas.openxmlformats.org/officeDocument/2006/relationships/image" Target="../media/image1.png"/><Relationship Id="rId6" Type="http://schemas.openxmlformats.org/officeDocument/2006/relationships/image" Target="../media/image44.png"/><Relationship Id="rId7" Type="http://schemas.openxmlformats.org/officeDocument/2006/relationships/image" Target="../media/image55.png"/><Relationship Id="rId8" Type="http://schemas.openxmlformats.org/officeDocument/2006/relationships/image" Target="../media/image37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53.png"/><Relationship Id="rId10" Type="http://schemas.openxmlformats.org/officeDocument/2006/relationships/image" Target="../media/image6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21.png"/><Relationship Id="rId9" Type="http://schemas.openxmlformats.org/officeDocument/2006/relationships/image" Target="../media/image51.png"/><Relationship Id="rId5" Type="http://schemas.openxmlformats.org/officeDocument/2006/relationships/image" Target="../media/image18.png"/><Relationship Id="rId6" Type="http://schemas.openxmlformats.org/officeDocument/2006/relationships/image" Target="../media/image1.png"/><Relationship Id="rId7" Type="http://schemas.openxmlformats.org/officeDocument/2006/relationships/image" Target="../media/image56.png"/><Relationship Id="rId8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21.png"/><Relationship Id="rId5" Type="http://schemas.openxmlformats.org/officeDocument/2006/relationships/image" Target="../media/image18.png"/><Relationship Id="rId6" Type="http://schemas.openxmlformats.org/officeDocument/2006/relationships/image" Target="../media/image1.png"/><Relationship Id="rId7" Type="http://schemas.openxmlformats.org/officeDocument/2006/relationships/image" Target="../media/image44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73.jpg"/><Relationship Id="rId10" Type="http://schemas.openxmlformats.org/officeDocument/2006/relationships/image" Target="../media/image62.png"/><Relationship Id="rId12" Type="http://schemas.openxmlformats.org/officeDocument/2006/relationships/image" Target="../media/image59.jp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88.jpg"/><Relationship Id="rId5" Type="http://schemas.openxmlformats.org/officeDocument/2006/relationships/image" Target="../media/image18.png"/><Relationship Id="rId6" Type="http://schemas.openxmlformats.org/officeDocument/2006/relationships/image" Target="../media/image1.png"/><Relationship Id="rId7" Type="http://schemas.openxmlformats.org/officeDocument/2006/relationships/image" Target="../media/image44.png"/><Relationship Id="rId8" Type="http://schemas.openxmlformats.org/officeDocument/2006/relationships/image" Target="../media/image64.jpg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image" Target="../media/image80.png"/><Relationship Id="rId10" Type="http://schemas.openxmlformats.org/officeDocument/2006/relationships/image" Target="../media/image6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58.png"/><Relationship Id="rId5" Type="http://schemas.openxmlformats.org/officeDocument/2006/relationships/image" Target="../media/image18.png"/><Relationship Id="rId6" Type="http://schemas.openxmlformats.org/officeDocument/2006/relationships/image" Target="../media/image1.png"/><Relationship Id="rId7" Type="http://schemas.openxmlformats.org/officeDocument/2006/relationships/image" Target="../media/image44.png"/><Relationship Id="rId8" Type="http://schemas.openxmlformats.org/officeDocument/2006/relationships/image" Target="../media/image6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Relationship Id="rId4" Type="http://schemas.openxmlformats.org/officeDocument/2006/relationships/image" Target="../media/image15.png"/><Relationship Id="rId5" Type="http://schemas.openxmlformats.org/officeDocument/2006/relationships/image" Target="../media/image18.png"/><Relationship Id="rId6" Type="http://schemas.openxmlformats.org/officeDocument/2006/relationships/image" Target="../media/image1.png"/><Relationship Id="rId7" Type="http://schemas.openxmlformats.org/officeDocument/2006/relationships/image" Target="../media/image44.png"/><Relationship Id="rId8" Type="http://schemas.openxmlformats.org/officeDocument/2006/relationships/image" Target="../media/image59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Relationship Id="rId4" Type="http://schemas.openxmlformats.org/officeDocument/2006/relationships/image" Target="../media/image15.png"/><Relationship Id="rId5" Type="http://schemas.openxmlformats.org/officeDocument/2006/relationships/image" Target="../media/image18.png"/><Relationship Id="rId6" Type="http://schemas.openxmlformats.org/officeDocument/2006/relationships/image" Target="../media/image1.png"/><Relationship Id="rId7" Type="http://schemas.openxmlformats.org/officeDocument/2006/relationships/image" Target="../media/image44.png"/><Relationship Id="rId8" Type="http://schemas.openxmlformats.org/officeDocument/2006/relationships/image" Target="../media/image73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Relationship Id="rId4" Type="http://schemas.openxmlformats.org/officeDocument/2006/relationships/image" Target="../media/image15.png"/><Relationship Id="rId5" Type="http://schemas.openxmlformats.org/officeDocument/2006/relationships/image" Target="../media/image18.png"/><Relationship Id="rId6" Type="http://schemas.openxmlformats.org/officeDocument/2006/relationships/image" Target="../media/image1.png"/><Relationship Id="rId7" Type="http://schemas.openxmlformats.org/officeDocument/2006/relationships/image" Target="../media/image44.png"/><Relationship Id="rId8" Type="http://schemas.openxmlformats.org/officeDocument/2006/relationships/image" Target="../media/image88.jpg"/></Relationships>
</file>

<file path=ppt/slides/_rels/slide15.xml.rels><?xml version="1.0" encoding="UTF-8" standalone="yes"?><Relationships xmlns="http://schemas.openxmlformats.org/package/2006/relationships"><Relationship Id="rId11" Type="http://schemas.openxmlformats.org/officeDocument/2006/relationships/image" Target="../media/image70.png"/><Relationship Id="rId10" Type="http://schemas.openxmlformats.org/officeDocument/2006/relationships/image" Target="../media/image93.png"/><Relationship Id="rId13" Type="http://schemas.openxmlformats.org/officeDocument/2006/relationships/image" Target="../media/image44.png"/><Relationship Id="rId12" Type="http://schemas.openxmlformats.org/officeDocument/2006/relationships/image" Target="../media/image6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Relationship Id="rId4" Type="http://schemas.openxmlformats.org/officeDocument/2006/relationships/image" Target="../media/image18.png"/><Relationship Id="rId9" Type="http://schemas.openxmlformats.org/officeDocument/2006/relationships/image" Target="../media/image85.png"/><Relationship Id="rId5" Type="http://schemas.openxmlformats.org/officeDocument/2006/relationships/image" Target="../media/image1.png"/><Relationship Id="rId6" Type="http://schemas.openxmlformats.org/officeDocument/2006/relationships/image" Target="../media/image56.png"/><Relationship Id="rId7" Type="http://schemas.openxmlformats.org/officeDocument/2006/relationships/image" Target="../media/image69.png"/><Relationship Id="rId8" Type="http://schemas.openxmlformats.org/officeDocument/2006/relationships/image" Target="../media/image7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Relationship Id="rId4" Type="http://schemas.openxmlformats.org/officeDocument/2006/relationships/image" Target="../media/image18.png"/><Relationship Id="rId5" Type="http://schemas.openxmlformats.org/officeDocument/2006/relationships/image" Target="../media/image1.png"/><Relationship Id="rId6" Type="http://schemas.openxmlformats.org/officeDocument/2006/relationships/image" Target="../media/image44.png"/><Relationship Id="rId7" Type="http://schemas.openxmlformats.org/officeDocument/2006/relationships/image" Target="../media/image94.jpg"/></Relationships>
</file>

<file path=ppt/slides/_rels/slide17.xml.rels><?xml version="1.0" encoding="UTF-8" standalone="yes"?><Relationships xmlns="http://schemas.openxmlformats.org/package/2006/relationships"><Relationship Id="rId10" Type="http://schemas.openxmlformats.org/officeDocument/2006/relationships/image" Target="../media/image7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Relationship Id="rId4" Type="http://schemas.openxmlformats.org/officeDocument/2006/relationships/image" Target="../media/image21.png"/><Relationship Id="rId9" Type="http://schemas.openxmlformats.org/officeDocument/2006/relationships/image" Target="../media/image98.png"/><Relationship Id="rId5" Type="http://schemas.openxmlformats.org/officeDocument/2006/relationships/image" Target="../media/image18.png"/><Relationship Id="rId6" Type="http://schemas.openxmlformats.org/officeDocument/2006/relationships/image" Target="../media/image1.png"/><Relationship Id="rId7" Type="http://schemas.openxmlformats.org/officeDocument/2006/relationships/image" Target="../media/image72.png"/><Relationship Id="rId8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1" Type="http://schemas.openxmlformats.org/officeDocument/2006/relationships/image" Target="../media/image76.png"/><Relationship Id="rId10" Type="http://schemas.openxmlformats.org/officeDocument/2006/relationships/image" Target="../media/image7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Relationship Id="rId4" Type="http://schemas.openxmlformats.org/officeDocument/2006/relationships/image" Target="../media/image18.png"/><Relationship Id="rId9" Type="http://schemas.openxmlformats.org/officeDocument/2006/relationships/image" Target="../media/image82.png"/><Relationship Id="rId5" Type="http://schemas.openxmlformats.org/officeDocument/2006/relationships/image" Target="../media/image1.png"/><Relationship Id="rId6" Type="http://schemas.openxmlformats.org/officeDocument/2006/relationships/image" Target="../media/image10.png"/><Relationship Id="rId7" Type="http://schemas.openxmlformats.org/officeDocument/2006/relationships/image" Target="../media/image72.png"/><Relationship Id="rId8" Type="http://schemas.openxmlformats.org/officeDocument/2006/relationships/image" Target="../media/image9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Relationship Id="rId4" Type="http://schemas.openxmlformats.org/officeDocument/2006/relationships/image" Target="../media/image21.png"/><Relationship Id="rId5" Type="http://schemas.openxmlformats.org/officeDocument/2006/relationships/image" Target="../media/image18.png"/><Relationship Id="rId6" Type="http://schemas.openxmlformats.org/officeDocument/2006/relationships/image" Target="../media/image1.png"/><Relationship Id="rId7" Type="http://schemas.openxmlformats.org/officeDocument/2006/relationships/image" Target="../media/image44.png"/></Relationships>
</file>

<file path=ppt/slides/_rels/slide20.xml.rels><?xml version="1.0" encoding="UTF-8" standalone="yes"?><Relationships xmlns="http://schemas.openxmlformats.org/package/2006/relationships"><Relationship Id="rId11" Type="http://schemas.openxmlformats.org/officeDocument/2006/relationships/image" Target="../media/image84.png"/><Relationship Id="rId10" Type="http://schemas.openxmlformats.org/officeDocument/2006/relationships/image" Target="../media/image92.png"/><Relationship Id="rId12" Type="http://schemas.openxmlformats.org/officeDocument/2006/relationships/image" Target="../media/image7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png"/><Relationship Id="rId4" Type="http://schemas.openxmlformats.org/officeDocument/2006/relationships/image" Target="../media/image21.png"/><Relationship Id="rId9" Type="http://schemas.openxmlformats.org/officeDocument/2006/relationships/image" Target="../media/image91.png"/><Relationship Id="rId5" Type="http://schemas.openxmlformats.org/officeDocument/2006/relationships/image" Target="../media/image18.png"/><Relationship Id="rId6" Type="http://schemas.openxmlformats.org/officeDocument/2006/relationships/image" Target="../media/image1.png"/><Relationship Id="rId7" Type="http://schemas.openxmlformats.org/officeDocument/2006/relationships/image" Target="../media/image10.png"/><Relationship Id="rId8" Type="http://schemas.openxmlformats.org/officeDocument/2006/relationships/image" Target="../media/image7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Relationship Id="rId4" Type="http://schemas.openxmlformats.org/officeDocument/2006/relationships/image" Target="../media/image21.png"/><Relationship Id="rId5" Type="http://schemas.openxmlformats.org/officeDocument/2006/relationships/image" Target="../media/image18.png"/><Relationship Id="rId6" Type="http://schemas.openxmlformats.org/officeDocument/2006/relationships/image" Target="../media/image1.png"/><Relationship Id="rId7" Type="http://schemas.openxmlformats.org/officeDocument/2006/relationships/image" Target="../media/image44.png"/><Relationship Id="rId8" Type="http://schemas.openxmlformats.org/officeDocument/2006/relationships/image" Target="../media/image9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png"/><Relationship Id="rId4" Type="http://schemas.openxmlformats.org/officeDocument/2006/relationships/image" Target="../media/image21.png"/><Relationship Id="rId5" Type="http://schemas.openxmlformats.org/officeDocument/2006/relationships/image" Target="../media/image18.png"/><Relationship Id="rId6" Type="http://schemas.openxmlformats.org/officeDocument/2006/relationships/image" Target="../media/image1.png"/><Relationship Id="rId7" Type="http://schemas.openxmlformats.org/officeDocument/2006/relationships/image" Target="../media/image44.png"/><Relationship Id="rId8" Type="http://schemas.openxmlformats.org/officeDocument/2006/relationships/image" Target="../media/image56.png"/></Relationships>
</file>

<file path=ppt/slides/_rels/slide23.xml.rels><?xml version="1.0" encoding="UTF-8" standalone="yes"?><Relationships xmlns="http://schemas.openxmlformats.org/package/2006/relationships"><Relationship Id="rId11" Type="http://schemas.openxmlformats.org/officeDocument/2006/relationships/image" Target="../media/image90.png"/><Relationship Id="rId10" Type="http://schemas.openxmlformats.org/officeDocument/2006/relationships/image" Target="../media/image10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5.png"/><Relationship Id="rId4" Type="http://schemas.openxmlformats.org/officeDocument/2006/relationships/image" Target="../media/image21.png"/><Relationship Id="rId9" Type="http://schemas.openxmlformats.org/officeDocument/2006/relationships/image" Target="../media/image100.png"/><Relationship Id="rId5" Type="http://schemas.openxmlformats.org/officeDocument/2006/relationships/image" Target="../media/image18.png"/><Relationship Id="rId6" Type="http://schemas.openxmlformats.org/officeDocument/2006/relationships/image" Target="../media/image1.png"/><Relationship Id="rId7" Type="http://schemas.openxmlformats.org/officeDocument/2006/relationships/image" Target="../media/image44.png"/><Relationship Id="rId8" Type="http://schemas.openxmlformats.org/officeDocument/2006/relationships/image" Target="../media/image56.png"/></Relationships>
</file>

<file path=ppt/slides/_rels/slide2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04.png"/><Relationship Id="rId10" Type="http://schemas.openxmlformats.org/officeDocument/2006/relationships/image" Target="../media/image85.png"/><Relationship Id="rId13" Type="http://schemas.openxmlformats.org/officeDocument/2006/relationships/image" Target="../media/image93.png"/><Relationship Id="rId12" Type="http://schemas.openxmlformats.org/officeDocument/2006/relationships/image" Target="../media/image7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5.png"/><Relationship Id="rId4" Type="http://schemas.openxmlformats.org/officeDocument/2006/relationships/image" Target="../media/image18.png"/><Relationship Id="rId9" Type="http://schemas.openxmlformats.org/officeDocument/2006/relationships/image" Target="../media/image78.png"/><Relationship Id="rId5" Type="http://schemas.openxmlformats.org/officeDocument/2006/relationships/image" Target="../media/image1.png"/><Relationship Id="rId6" Type="http://schemas.openxmlformats.org/officeDocument/2006/relationships/image" Target="../media/image44.png"/><Relationship Id="rId7" Type="http://schemas.openxmlformats.org/officeDocument/2006/relationships/image" Target="../media/image56.png"/><Relationship Id="rId8" Type="http://schemas.openxmlformats.org/officeDocument/2006/relationships/image" Target="../media/image6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5.png"/><Relationship Id="rId4" Type="http://schemas.openxmlformats.org/officeDocument/2006/relationships/image" Target="../media/image21.png"/><Relationship Id="rId5" Type="http://schemas.openxmlformats.org/officeDocument/2006/relationships/image" Target="../media/image18.png"/><Relationship Id="rId6" Type="http://schemas.openxmlformats.org/officeDocument/2006/relationships/image" Target="../media/image1.png"/><Relationship Id="rId7" Type="http://schemas.openxmlformats.org/officeDocument/2006/relationships/image" Target="../media/image44.png"/><Relationship Id="rId8" Type="http://schemas.openxmlformats.org/officeDocument/2006/relationships/image" Target="../media/image9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5.png"/><Relationship Id="rId4" Type="http://schemas.openxmlformats.org/officeDocument/2006/relationships/image" Target="../media/image18.png"/><Relationship Id="rId5" Type="http://schemas.openxmlformats.org/officeDocument/2006/relationships/image" Target="../media/image1.png"/><Relationship Id="rId6" Type="http://schemas.openxmlformats.org/officeDocument/2006/relationships/image" Target="../media/image44.png"/><Relationship Id="rId7" Type="http://schemas.openxmlformats.org/officeDocument/2006/relationships/image" Target="../media/image10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5.png"/><Relationship Id="rId4" Type="http://schemas.openxmlformats.org/officeDocument/2006/relationships/image" Target="../media/image18.png"/><Relationship Id="rId5" Type="http://schemas.openxmlformats.org/officeDocument/2006/relationships/image" Target="../media/image1.png"/><Relationship Id="rId6" Type="http://schemas.openxmlformats.org/officeDocument/2006/relationships/image" Target="../media/image44.png"/><Relationship Id="rId7" Type="http://schemas.openxmlformats.org/officeDocument/2006/relationships/image" Target="../media/image11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5.png"/><Relationship Id="rId4" Type="http://schemas.openxmlformats.org/officeDocument/2006/relationships/image" Target="../media/image21.png"/><Relationship Id="rId5" Type="http://schemas.openxmlformats.org/officeDocument/2006/relationships/image" Target="../media/image18.png"/><Relationship Id="rId6" Type="http://schemas.openxmlformats.org/officeDocument/2006/relationships/image" Target="../media/image1.png"/><Relationship Id="rId7" Type="http://schemas.openxmlformats.org/officeDocument/2006/relationships/image" Target="../media/image44.png"/><Relationship Id="rId8" Type="http://schemas.openxmlformats.org/officeDocument/2006/relationships/image" Target="../media/image10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5.png"/><Relationship Id="rId4" Type="http://schemas.openxmlformats.org/officeDocument/2006/relationships/image" Target="../media/image21.png"/><Relationship Id="rId5" Type="http://schemas.openxmlformats.org/officeDocument/2006/relationships/image" Target="../media/image18.png"/><Relationship Id="rId6" Type="http://schemas.openxmlformats.org/officeDocument/2006/relationships/image" Target="../media/image1.png"/><Relationship Id="rId7" Type="http://schemas.openxmlformats.org/officeDocument/2006/relationships/image" Target="../media/image4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5.png"/><Relationship Id="rId4" Type="http://schemas.openxmlformats.org/officeDocument/2006/relationships/image" Target="../media/image18.png"/><Relationship Id="rId5" Type="http://schemas.openxmlformats.org/officeDocument/2006/relationships/image" Target="../media/image1.png"/><Relationship Id="rId6" Type="http://schemas.openxmlformats.org/officeDocument/2006/relationships/image" Target="../media/image111.png"/><Relationship Id="rId7" Type="http://schemas.openxmlformats.org/officeDocument/2006/relationships/image" Target="../media/image44.png"/><Relationship Id="rId8" Type="http://schemas.openxmlformats.org/officeDocument/2006/relationships/image" Target="../media/image10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15.png"/><Relationship Id="rId4" Type="http://schemas.openxmlformats.org/officeDocument/2006/relationships/image" Target="../media/image1.png"/><Relationship Id="rId5" Type="http://schemas.openxmlformats.org/officeDocument/2006/relationships/image" Target="../media/image1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5.png"/><Relationship Id="rId4" Type="http://schemas.openxmlformats.org/officeDocument/2006/relationships/image" Target="../media/image18.png"/><Relationship Id="rId5" Type="http://schemas.openxmlformats.org/officeDocument/2006/relationships/image" Target="../media/image1.png"/><Relationship Id="rId6" Type="http://schemas.openxmlformats.org/officeDocument/2006/relationships/image" Target="../media/image44.png"/><Relationship Id="rId7" Type="http://schemas.openxmlformats.org/officeDocument/2006/relationships/image" Target="../media/image11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5.png"/><Relationship Id="rId4" Type="http://schemas.openxmlformats.org/officeDocument/2006/relationships/image" Target="../media/image21.png"/><Relationship Id="rId5" Type="http://schemas.openxmlformats.org/officeDocument/2006/relationships/image" Target="../media/image18.png"/><Relationship Id="rId6" Type="http://schemas.openxmlformats.org/officeDocument/2006/relationships/image" Target="../media/image1.png"/><Relationship Id="rId7" Type="http://schemas.openxmlformats.org/officeDocument/2006/relationships/image" Target="../media/image4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5.png"/><Relationship Id="rId4" Type="http://schemas.openxmlformats.org/officeDocument/2006/relationships/image" Target="../media/image21.png"/><Relationship Id="rId5" Type="http://schemas.openxmlformats.org/officeDocument/2006/relationships/image" Target="../media/image18.png"/><Relationship Id="rId6" Type="http://schemas.openxmlformats.org/officeDocument/2006/relationships/image" Target="../media/image1.png"/><Relationship Id="rId7" Type="http://schemas.openxmlformats.org/officeDocument/2006/relationships/image" Target="../media/image10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5.png"/><Relationship Id="rId4" Type="http://schemas.openxmlformats.org/officeDocument/2006/relationships/image" Target="../media/image21.png"/><Relationship Id="rId5" Type="http://schemas.openxmlformats.org/officeDocument/2006/relationships/image" Target="../media/image18.png"/><Relationship Id="rId6" Type="http://schemas.openxmlformats.org/officeDocument/2006/relationships/image" Target="../media/image1.png"/><Relationship Id="rId7" Type="http://schemas.openxmlformats.org/officeDocument/2006/relationships/image" Target="../media/image44.png"/></Relationships>
</file>

<file path=ppt/slides/_rels/slide36.xml.rels><?xml version="1.0" encoding="UTF-8" standalone="yes"?><Relationships xmlns="http://schemas.openxmlformats.org/package/2006/relationships"><Relationship Id="rId11" Type="http://schemas.openxmlformats.org/officeDocument/2006/relationships/image" Target="../media/image109.png"/><Relationship Id="rId10" Type="http://schemas.openxmlformats.org/officeDocument/2006/relationships/image" Target="../media/image11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5.png"/><Relationship Id="rId4" Type="http://schemas.openxmlformats.org/officeDocument/2006/relationships/image" Target="../media/image18.png"/><Relationship Id="rId9" Type="http://schemas.openxmlformats.org/officeDocument/2006/relationships/image" Target="../media/image108.png"/><Relationship Id="rId5" Type="http://schemas.openxmlformats.org/officeDocument/2006/relationships/image" Target="../media/image1.png"/><Relationship Id="rId6" Type="http://schemas.openxmlformats.org/officeDocument/2006/relationships/image" Target="../media/image56.png"/><Relationship Id="rId7" Type="http://schemas.openxmlformats.org/officeDocument/2006/relationships/image" Target="../media/image44.png"/><Relationship Id="rId8" Type="http://schemas.openxmlformats.org/officeDocument/2006/relationships/image" Target="../media/image11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5.png"/><Relationship Id="rId4" Type="http://schemas.openxmlformats.org/officeDocument/2006/relationships/image" Target="../media/image21.png"/><Relationship Id="rId5" Type="http://schemas.openxmlformats.org/officeDocument/2006/relationships/image" Target="../media/image18.png"/><Relationship Id="rId6" Type="http://schemas.openxmlformats.org/officeDocument/2006/relationships/image" Target="../media/image1.png"/><Relationship Id="rId7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"/>
          <p:cNvPicPr preferRelativeResize="0"/>
          <p:nvPr/>
        </p:nvPicPr>
        <p:blipFill rotWithShape="1">
          <a:blip r:embed="rId3">
            <a:alphaModFix amt="8000"/>
          </a:blip>
          <a:srcRect b="0" l="0" r="0" t="0"/>
          <a:stretch/>
        </p:blipFill>
        <p:spPr>
          <a:xfrm rot="5400000">
            <a:off x="4000501" y="-4000500"/>
            <a:ext cx="10299701" cy="1831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"/>
          <p:cNvPicPr preferRelativeResize="0"/>
          <p:nvPr/>
        </p:nvPicPr>
        <p:blipFill rotWithShape="1">
          <a:blip r:embed="rId4">
            <a:alphaModFix amt="51000"/>
          </a:blip>
          <a:srcRect b="0" l="0" r="0" t="0"/>
          <a:stretch/>
        </p:blipFill>
        <p:spPr>
          <a:xfrm>
            <a:off x="4356101" y="-584200"/>
            <a:ext cx="11849100" cy="10071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76200" y="10172700"/>
            <a:ext cx="184277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10172700"/>
            <a:ext cx="91440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298701" y="4000501"/>
            <a:ext cx="241301" cy="120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587500" y="3594101"/>
            <a:ext cx="4495800" cy="391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536701" y="3543301"/>
            <a:ext cx="4635500" cy="273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714501" y="2108201"/>
            <a:ext cx="2120900" cy="261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733801" y="2679701"/>
            <a:ext cx="2082800" cy="1955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594101" y="4064002"/>
            <a:ext cx="2222501" cy="208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612901" y="4203701"/>
            <a:ext cx="2209800" cy="198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470401" y="6807200"/>
            <a:ext cx="1612901" cy="1231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85801" y="2781300"/>
            <a:ext cx="1612901" cy="201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2108201" y="6045200"/>
            <a:ext cx="33020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4254500" y="6731000"/>
            <a:ext cx="342900" cy="1193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812801" y="4140200"/>
            <a:ext cx="469901" cy="660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2540000" y="6273800"/>
            <a:ext cx="342900" cy="12319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"/>
          <p:cNvSpPr txBox="1"/>
          <p:nvPr/>
        </p:nvSpPr>
        <p:spPr>
          <a:xfrm>
            <a:off x="6261101" y="2565401"/>
            <a:ext cx="11633201" cy="5080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7500" u="none" cap="none" strike="noStrike">
                <a:solidFill>
                  <a:srgbClr val="3958E3"/>
                </a:solidFill>
                <a:latin typeface="Arial"/>
                <a:ea typeface="Arial"/>
                <a:cs typeface="Arial"/>
                <a:sym typeface="Arial"/>
              </a:rPr>
              <a:t>제약 영업 업무 효율을 위한</a:t>
            </a:r>
            <a:endParaRPr/>
          </a:p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7500" u="none" cap="none" strike="noStrike">
                <a:solidFill>
                  <a:srgbClr val="3958E3"/>
                </a:solidFill>
                <a:latin typeface="Arial"/>
                <a:ea typeface="Arial"/>
                <a:cs typeface="Arial"/>
                <a:sym typeface="Arial"/>
              </a:rPr>
              <a:t>문서 검색 및 업무 자동화</a:t>
            </a:r>
            <a:br>
              <a:rPr b="0" i="0" lang="ko-KR" sz="3300" u="none" cap="none" strike="noStrike">
                <a:solidFill>
                  <a:srgbClr val="3958E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ko-KR" sz="3300" u="none" cap="none" strike="noStrike">
                <a:solidFill>
                  <a:srgbClr val="3958E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b="0" i="0" lang="ko-KR" sz="7500" u="none" cap="none" strike="noStrike">
                <a:solidFill>
                  <a:srgbClr val="3958E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ko-KR" sz="7500" u="none" cap="none" strike="noStrike">
                <a:solidFill>
                  <a:srgbClr val="3958E3"/>
                </a:solidFill>
                <a:latin typeface="Arial"/>
                <a:ea typeface="Arial"/>
                <a:cs typeface="Arial"/>
                <a:sym typeface="Arial"/>
              </a:rPr>
              <a:t>AI CHATBOT - NaruTalk</a:t>
            </a:r>
            <a:endParaRPr b="0" i="0" sz="7500" u="none" cap="none" strike="noStrike">
              <a:solidFill>
                <a:srgbClr val="3958E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7924801" y="1498601"/>
            <a:ext cx="61595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3101" u="none" cap="none" strike="noStrike">
                <a:solidFill>
                  <a:srgbClr val="344096"/>
                </a:solidFill>
                <a:latin typeface="Arial"/>
                <a:ea typeface="Arial"/>
                <a:cs typeface="Arial"/>
                <a:sym typeface="Arial"/>
              </a:rPr>
              <a:t>SKN12 FINAL PROJECT 1TEAM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"/>
          <p:cNvPicPr preferRelativeResize="0"/>
          <p:nvPr/>
        </p:nvPicPr>
        <p:blipFill rotWithShape="1">
          <a:blip r:embed="rId3">
            <a:alphaModFix amt="8000"/>
          </a:blip>
          <a:srcRect b="0" l="0" r="0" t="0"/>
          <a:stretch/>
        </p:blipFill>
        <p:spPr>
          <a:xfrm rot="5400000">
            <a:off x="4000501" y="-4000500"/>
            <a:ext cx="10299701" cy="1831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"/>
          <p:cNvPicPr preferRelativeResize="0"/>
          <p:nvPr/>
        </p:nvPicPr>
        <p:blipFill rotWithShape="1">
          <a:blip r:embed="rId4">
            <a:alphaModFix amt="51000"/>
          </a:blip>
          <a:srcRect b="0" l="0" r="0" t="0"/>
          <a:stretch/>
        </p:blipFill>
        <p:spPr>
          <a:xfrm>
            <a:off x="4356101" y="-584200"/>
            <a:ext cx="11849100" cy="10071101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"/>
          <p:cNvSpPr txBox="1"/>
          <p:nvPr/>
        </p:nvSpPr>
        <p:spPr>
          <a:xfrm>
            <a:off x="292102" y="469901"/>
            <a:ext cx="17741900" cy="12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6801" u="none" cap="none" strike="noStrike">
                <a:solidFill>
                  <a:srgbClr val="3958E3"/>
                </a:solidFill>
                <a:latin typeface="Arial"/>
                <a:ea typeface="Arial"/>
                <a:cs typeface="Arial"/>
                <a:sym typeface="Arial"/>
              </a:rPr>
              <a:t>팀원 소개</a:t>
            </a:r>
            <a:endParaRPr/>
          </a:p>
        </p:txBody>
      </p:sp>
      <p:pic>
        <p:nvPicPr>
          <p:cNvPr id="116" name="Google Shape;116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9001" y="2590801"/>
            <a:ext cx="2857500" cy="4991099"/>
          </a:xfrm>
          <a:prstGeom prst="rect">
            <a:avLst/>
          </a:prstGeom>
          <a:noFill/>
          <a:ln>
            <a:noFill/>
          </a:ln>
          <a:effectLst>
            <a:outerShdw blurRad="71327" dir="5400000" dist="110036">
              <a:srgbClr val="CDD9ED">
                <a:alpha val="40784"/>
              </a:srgbClr>
            </a:outerShdw>
          </a:effectLst>
        </p:spPr>
      </p:pic>
      <p:pic>
        <p:nvPicPr>
          <p:cNvPr id="117" name="Google Shape;117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8001" y="2590801"/>
            <a:ext cx="2857500" cy="4991099"/>
          </a:xfrm>
          <a:prstGeom prst="rect">
            <a:avLst/>
          </a:prstGeom>
          <a:noFill/>
          <a:ln>
            <a:noFill/>
          </a:ln>
          <a:effectLst>
            <a:outerShdw blurRad="71327" dir="5400000" dist="110036">
              <a:srgbClr val="CDD9ED">
                <a:alpha val="40784"/>
              </a:srgbClr>
            </a:outerShdw>
          </a:effectLst>
        </p:spPr>
      </p:pic>
      <p:pic>
        <p:nvPicPr>
          <p:cNvPr id="118" name="Google Shape;118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70801" y="2590801"/>
            <a:ext cx="2857500" cy="4991099"/>
          </a:xfrm>
          <a:prstGeom prst="rect">
            <a:avLst/>
          </a:prstGeom>
          <a:noFill/>
          <a:ln>
            <a:noFill/>
          </a:ln>
          <a:effectLst>
            <a:outerShdw blurRad="71327" dir="5400000" dist="110036">
              <a:srgbClr val="CDD9ED">
                <a:alpha val="40784"/>
              </a:srgbClr>
            </a:outerShdw>
          </a:effectLst>
        </p:spPr>
      </p:pic>
      <p:pic>
        <p:nvPicPr>
          <p:cNvPr id="119" name="Google Shape;119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12500" y="2590801"/>
            <a:ext cx="2857500" cy="4991099"/>
          </a:xfrm>
          <a:prstGeom prst="rect">
            <a:avLst/>
          </a:prstGeom>
          <a:noFill/>
          <a:ln>
            <a:noFill/>
          </a:ln>
          <a:effectLst>
            <a:outerShdw blurRad="71327" dir="5400000" dist="110036">
              <a:srgbClr val="CDD9ED">
                <a:alpha val="40784"/>
              </a:srgbClr>
            </a:outerShdw>
          </a:effectLst>
        </p:spPr>
      </p:pic>
      <p:pic>
        <p:nvPicPr>
          <p:cNvPr id="120" name="Google Shape;120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541500" y="2590801"/>
            <a:ext cx="2857500" cy="4991099"/>
          </a:xfrm>
          <a:prstGeom prst="rect">
            <a:avLst/>
          </a:prstGeom>
          <a:noFill/>
          <a:ln>
            <a:noFill/>
          </a:ln>
          <a:effectLst>
            <a:outerShdw blurRad="71327" dir="5400000" dist="110036">
              <a:srgbClr val="CDD9ED">
                <a:alpha val="40784"/>
              </a:srgbClr>
            </a:outerShdw>
          </a:effectLst>
        </p:spPr>
      </p:pic>
      <p:sp>
        <p:nvSpPr>
          <p:cNvPr id="121" name="Google Shape;121;p2"/>
          <p:cNvSpPr txBox="1"/>
          <p:nvPr/>
        </p:nvSpPr>
        <p:spPr>
          <a:xfrm>
            <a:off x="1600201" y="2844800"/>
            <a:ext cx="1435100" cy="469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5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김도윤</a:t>
            </a:r>
            <a:endParaRPr/>
          </a:p>
        </p:txBody>
      </p:sp>
      <p:sp>
        <p:nvSpPr>
          <p:cNvPr id="122" name="Google Shape;122;p2"/>
          <p:cNvSpPr txBox="1"/>
          <p:nvPr/>
        </p:nvSpPr>
        <p:spPr>
          <a:xfrm>
            <a:off x="5029201" y="2844800"/>
            <a:ext cx="1346201" cy="469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5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손현성</a:t>
            </a:r>
            <a:endParaRPr/>
          </a:p>
        </p:txBody>
      </p:sp>
      <p:sp>
        <p:nvSpPr>
          <p:cNvPr id="123" name="Google Shape;123;p2"/>
          <p:cNvSpPr txBox="1"/>
          <p:nvPr/>
        </p:nvSpPr>
        <p:spPr>
          <a:xfrm>
            <a:off x="8432801" y="2844800"/>
            <a:ext cx="1346201" cy="469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5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이용규</a:t>
            </a:r>
            <a:endParaRPr/>
          </a:p>
        </p:txBody>
      </p:sp>
      <p:sp>
        <p:nvSpPr>
          <p:cNvPr id="124" name="Google Shape;124;p2"/>
          <p:cNvSpPr txBox="1"/>
          <p:nvPr/>
        </p:nvSpPr>
        <p:spPr>
          <a:xfrm>
            <a:off x="11861801" y="2844800"/>
            <a:ext cx="1346201" cy="469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5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최문영</a:t>
            </a:r>
            <a:endParaRPr/>
          </a:p>
        </p:txBody>
      </p:sp>
      <p:sp>
        <p:nvSpPr>
          <p:cNvPr id="125" name="Google Shape;125;p2"/>
          <p:cNvSpPr txBox="1"/>
          <p:nvPr/>
        </p:nvSpPr>
        <p:spPr>
          <a:xfrm>
            <a:off x="15290801" y="2844800"/>
            <a:ext cx="1346201" cy="469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5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허한결</a:t>
            </a:r>
            <a:endParaRPr/>
          </a:p>
        </p:txBody>
      </p:sp>
      <p:pic>
        <p:nvPicPr>
          <p:cNvPr descr="페인팅, 스케치, 그림, 만화 영화이(가) 표시된 사진&#10;&#10;AI 생성 콘텐츠는 정확하지 않을 수 있습니다." id="126" name="Google Shape;126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11645" y="3708302"/>
            <a:ext cx="2048400" cy="204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포유류, 개 품종, 개, 애완동물이(가) 표시된 사진&#10;&#10;AI 생성 콘텐츠는 정확하지 않을 수 있습니다." id="127" name="Google Shape;127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38380" y="3708302"/>
            <a:ext cx="2044800" cy="204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애완동물, 포유류, 개, 개 품종이(가) 표시된 사진&#10;&#10;AI 생성 콘텐츠는 정확하지 않을 수 있습니다." id="128" name="Google Shape;128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940362" y="3713817"/>
            <a:ext cx="2140580" cy="204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클립아트, 일러스트레이션, 그림, 아동 미술이(가) 표시된 사진&#10;&#10;AI 생성 콘텐츠는 정확하지 않을 수 있습니다." id="129" name="Google Shape;129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537951" y="3610379"/>
            <a:ext cx="2042867" cy="204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노트북, 컴퓨터, 만화 영화, 실내이(가) 표시된 사진&#10;&#10;AI 생성 콘텐츠는 정확하지 않을 수 있습니다." id="130" name="Google Shape;130;p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4947050" y="3583253"/>
            <a:ext cx="2045550" cy="2045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"/>
          <p:cNvSpPr txBox="1"/>
          <p:nvPr/>
        </p:nvSpPr>
        <p:spPr>
          <a:xfrm>
            <a:off x="1104901" y="5978831"/>
            <a:ext cx="2425700" cy="16030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기획 및 PM</a:t>
            </a:r>
            <a:br>
              <a:rPr b="0" i="0" lang="ko-K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ko-K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라우터  구현</a:t>
            </a:r>
            <a:br>
              <a:rPr b="0" i="0" lang="ko-K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ko-K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데이터 수집</a:t>
            </a:r>
            <a:endParaRPr/>
          </a:p>
        </p:txBody>
      </p:sp>
      <p:sp>
        <p:nvSpPr>
          <p:cNvPr id="132" name="Google Shape;132;p2"/>
          <p:cNvSpPr txBox="1"/>
          <p:nvPr/>
        </p:nvSpPr>
        <p:spPr>
          <a:xfrm>
            <a:off x="4356101" y="5962856"/>
            <a:ext cx="2819399" cy="1619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업무문서 초안작성</a:t>
            </a:r>
            <a:br>
              <a:rPr b="0" i="0" lang="ko-K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ko-K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에이전트 구현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오픈서치</a:t>
            </a:r>
            <a:br>
              <a:rPr b="0" i="0" lang="ko-K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ko-K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문서검색 기능 구현</a:t>
            </a:r>
            <a:br>
              <a:rPr b="0" i="0" lang="ko-K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ko-K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백앤드 </a:t>
            </a:r>
            <a:endParaRPr/>
          </a:p>
        </p:txBody>
      </p:sp>
      <p:sp>
        <p:nvSpPr>
          <p:cNvPr id="133" name="Google Shape;133;p2"/>
          <p:cNvSpPr txBox="1"/>
          <p:nvPr/>
        </p:nvSpPr>
        <p:spPr>
          <a:xfrm>
            <a:off x="7900528" y="5962856"/>
            <a:ext cx="2425700" cy="16190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거래처 분석 </a:t>
            </a:r>
            <a:br>
              <a:rPr b="0" i="0" lang="ko-K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ko-K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에이전트 구현</a:t>
            </a:r>
            <a:br>
              <a:rPr b="0" i="0" lang="ko-K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ko-K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데이터 수집</a:t>
            </a:r>
            <a:endParaRPr/>
          </a:p>
        </p:txBody>
      </p:sp>
      <p:sp>
        <p:nvSpPr>
          <p:cNvPr id="134" name="Google Shape;134;p2"/>
          <p:cNvSpPr txBox="1"/>
          <p:nvPr/>
        </p:nvSpPr>
        <p:spPr>
          <a:xfrm>
            <a:off x="11322052" y="5962856"/>
            <a:ext cx="2425700" cy="1238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직원 실적 분석</a:t>
            </a:r>
            <a:br>
              <a:rPr b="0" i="0" lang="ko-K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ko-K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에이전트 구현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데이터 수집</a:t>
            </a:r>
            <a:br>
              <a:rPr b="0" i="0" lang="ko-K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ko-K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프론트앤드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"/>
          <p:cNvSpPr txBox="1"/>
          <p:nvPr/>
        </p:nvSpPr>
        <p:spPr>
          <a:xfrm>
            <a:off x="14776451" y="5962856"/>
            <a:ext cx="2425700" cy="15428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기술일정 조율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문서검색 에이전트 구현</a:t>
            </a:r>
            <a:br>
              <a:rPr b="0" i="0" lang="ko-K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ko-K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데이터베이스 구축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3"/>
          <p:cNvPicPr preferRelativeResize="0"/>
          <p:nvPr/>
        </p:nvPicPr>
        <p:blipFill rotWithShape="1">
          <a:blip r:embed="rId3">
            <a:alphaModFix amt="8000"/>
          </a:blip>
          <a:srcRect b="0" l="0" r="0" t="0"/>
          <a:stretch/>
        </p:blipFill>
        <p:spPr>
          <a:xfrm rot="5400000">
            <a:off x="4000501" y="-4000500"/>
            <a:ext cx="10299701" cy="1831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3"/>
          <p:cNvPicPr preferRelativeResize="0"/>
          <p:nvPr/>
        </p:nvPicPr>
        <p:blipFill rotWithShape="1">
          <a:blip r:embed="rId4">
            <a:alphaModFix amt="51000"/>
          </a:blip>
          <a:srcRect b="0" l="0" r="0" t="0"/>
          <a:stretch/>
        </p:blipFill>
        <p:spPr>
          <a:xfrm>
            <a:off x="4356101" y="-584200"/>
            <a:ext cx="11849100" cy="10071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76200" y="10172700"/>
            <a:ext cx="184277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10172700"/>
            <a:ext cx="9144000" cy="114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5" name="Google Shape;145;p3"/>
          <p:cNvGrpSpPr/>
          <p:nvPr/>
        </p:nvGrpSpPr>
        <p:grpSpPr>
          <a:xfrm>
            <a:off x="4946650" y="3376082"/>
            <a:ext cx="9080501" cy="762000"/>
            <a:chOff x="4946650" y="3778251"/>
            <a:chExt cx="9080501" cy="762000"/>
          </a:xfrm>
        </p:grpSpPr>
        <p:pic>
          <p:nvPicPr>
            <p:cNvPr id="146" name="Google Shape;146;p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5400000">
              <a:off x="9105900" y="-381000"/>
              <a:ext cx="762000" cy="9080501"/>
            </a:xfrm>
            <a:prstGeom prst="rect">
              <a:avLst/>
            </a:prstGeom>
            <a:solidFill>
              <a:srgbClr val="44CCE5"/>
            </a:solidFill>
            <a:ln>
              <a:noFill/>
            </a:ln>
          </p:spPr>
        </p:pic>
        <p:sp>
          <p:nvSpPr>
            <p:cNvPr id="147" name="Google Shape;147;p3"/>
            <p:cNvSpPr txBox="1"/>
            <p:nvPr/>
          </p:nvSpPr>
          <p:spPr>
            <a:xfrm>
              <a:off x="5524501" y="3886201"/>
              <a:ext cx="1193801" cy="5842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96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3101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/>
            </a:p>
          </p:txBody>
        </p:sp>
        <p:sp>
          <p:nvSpPr>
            <p:cNvPr id="148" name="Google Shape;148;p3"/>
            <p:cNvSpPr txBox="1"/>
            <p:nvPr/>
          </p:nvSpPr>
          <p:spPr>
            <a:xfrm>
              <a:off x="6908801" y="3909737"/>
              <a:ext cx="4826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61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2599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솔루션</a:t>
              </a:r>
              <a:endParaRPr/>
            </a:p>
          </p:txBody>
        </p:sp>
      </p:grpSp>
      <p:grpSp>
        <p:nvGrpSpPr>
          <p:cNvPr id="149" name="Google Shape;149;p3"/>
          <p:cNvGrpSpPr/>
          <p:nvPr/>
        </p:nvGrpSpPr>
        <p:grpSpPr>
          <a:xfrm>
            <a:off x="4946650" y="5553074"/>
            <a:ext cx="9080501" cy="762000"/>
            <a:chOff x="4946650" y="6013451"/>
            <a:chExt cx="9080501" cy="762000"/>
          </a:xfrm>
        </p:grpSpPr>
        <p:pic>
          <p:nvPicPr>
            <p:cNvPr id="150" name="Google Shape;150;p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5400000">
              <a:off x="9105900" y="1854200"/>
              <a:ext cx="762000" cy="9080501"/>
            </a:xfrm>
            <a:prstGeom prst="rect">
              <a:avLst/>
            </a:prstGeom>
            <a:solidFill>
              <a:srgbClr val="44CCE5"/>
            </a:solidFill>
            <a:ln>
              <a:noFill/>
            </a:ln>
          </p:spPr>
        </p:pic>
        <p:sp>
          <p:nvSpPr>
            <p:cNvPr id="151" name="Google Shape;151;p3"/>
            <p:cNvSpPr txBox="1"/>
            <p:nvPr/>
          </p:nvSpPr>
          <p:spPr>
            <a:xfrm>
              <a:off x="6908801" y="6146801"/>
              <a:ext cx="4191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61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25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기술 구조</a:t>
              </a:r>
              <a:endParaRPr/>
            </a:p>
          </p:txBody>
        </p:sp>
        <p:sp>
          <p:nvSpPr>
            <p:cNvPr id="152" name="Google Shape;152;p3"/>
            <p:cNvSpPr txBox="1"/>
            <p:nvPr/>
          </p:nvSpPr>
          <p:spPr>
            <a:xfrm>
              <a:off x="5524501" y="6121400"/>
              <a:ext cx="1193801" cy="5842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96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3101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/>
            </a:p>
          </p:txBody>
        </p:sp>
      </p:grpSp>
      <p:grpSp>
        <p:nvGrpSpPr>
          <p:cNvPr id="153" name="Google Shape;153;p3"/>
          <p:cNvGrpSpPr/>
          <p:nvPr/>
        </p:nvGrpSpPr>
        <p:grpSpPr>
          <a:xfrm>
            <a:off x="4946650" y="4464579"/>
            <a:ext cx="9080501" cy="762000"/>
            <a:chOff x="4946650" y="4895852"/>
            <a:chExt cx="9080501" cy="762000"/>
          </a:xfrm>
        </p:grpSpPr>
        <p:pic>
          <p:nvPicPr>
            <p:cNvPr id="154" name="Google Shape;154;p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 rot="5400000">
              <a:off x="9105900" y="736601"/>
              <a:ext cx="762000" cy="9080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5" name="Google Shape;155;p3"/>
            <p:cNvSpPr txBox="1"/>
            <p:nvPr/>
          </p:nvSpPr>
          <p:spPr>
            <a:xfrm>
              <a:off x="6908801" y="5029200"/>
              <a:ext cx="4241801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61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259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진행 현황</a:t>
              </a:r>
              <a:endParaRPr/>
            </a:p>
          </p:txBody>
        </p:sp>
        <p:sp>
          <p:nvSpPr>
            <p:cNvPr id="156" name="Google Shape;156;p3"/>
            <p:cNvSpPr txBox="1"/>
            <p:nvPr/>
          </p:nvSpPr>
          <p:spPr>
            <a:xfrm>
              <a:off x="5524501" y="5003801"/>
              <a:ext cx="1193801" cy="5842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96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3101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/>
            </a:p>
          </p:txBody>
        </p:sp>
      </p:grpSp>
      <p:grpSp>
        <p:nvGrpSpPr>
          <p:cNvPr id="157" name="Google Shape;157;p3"/>
          <p:cNvGrpSpPr/>
          <p:nvPr/>
        </p:nvGrpSpPr>
        <p:grpSpPr>
          <a:xfrm>
            <a:off x="4921250" y="7730067"/>
            <a:ext cx="9080501" cy="762000"/>
            <a:chOff x="4921250" y="8248651"/>
            <a:chExt cx="9080501" cy="762000"/>
          </a:xfrm>
        </p:grpSpPr>
        <p:pic>
          <p:nvPicPr>
            <p:cNvPr id="158" name="Google Shape;158;p3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 rot="5400000">
              <a:off x="9080501" y="4089400"/>
              <a:ext cx="762000" cy="9080501"/>
            </a:xfrm>
            <a:prstGeom prst="rect">
              <a:avLst/>
            </a:prstGeom>
            <a:solidFill>
              <a:srgbClr val="44CCE5"/>
            </a:solidFill>
            <a:ln>
              <a:noFill/>
            </a:ln>
          </p:spPr>
        </p:pic>
        <p:sp>
          <p:nvSpPr>
            <p:cNvPr id="159" name="Google Shape;159;p3"/>
            <p:cNvSpPr txBox="1"/>
            <p:nvPr/>
          </p:nvSpPr>
          <p:spPr>
            <a:xfrm>
              <a:off x="6908801" y="8394701"/>
              <a:ext cx="42164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61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25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시연 영상</a:t>
              </a:r>
              <a:endParaRPr/>
            </a:p>
          </p:txBody>
        </p:sp>
        <p:sp>
          <p:nvSpPr>
            <p:cNvPr id="160" name="Google Shape;160;p3"/>
            <p:cNvSpPr txBox="1"/>
            <p:nvPr/>
          </p:nvSpPr>
          <p:spPr>
            <a:xfrm>
              <a:off x="5524501" y="8356601"/>
              <a:ext cx="1193801" cy="5842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96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3101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06</a:t>
              </a:r>
              <a:endParaRPr/>
            </a:p>
          </p:txBody>
        </p:sp>
      </p:grpSp>
      <p:grpSp>
        <p:nvGrpSpPr>
          <p:cNvPr id="161" name="Google Shape;161;p3"/>
          <p:cNvGrpSpPr/>
          <p:nvPr/>
        </p:nvGrpSpPr>
        <p:grpSpPr>
          <a:xfrm>
            <a:off x="4921250" y="6641571"/>
            <a:ext cx="9080501" cy="762000"/>
            <a:chOff x="4921250" y="7131052"/>
            <a:chExt cx="9080501" cy="762000"/>
          </a:xfrm>
        </p:grpSpPr>
        <p:pic>
          <p:nvPicPr>
            <p:cNvPr id="162" name="Google Shape;162;p3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 rot="5400000">
              <a:off x="9080501" y="2971801"/>
              <a:ext cx="762000" cy="9080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" name="Google Shape;163;p3"/>
            <p:cNvSpPr txBox="1"/>
            <p:nvPr/>
          </p:nvSpPr>
          <p:spPr>
            <a:xfrm>
              <a:off x="6908801" y="7277100"/>
              <a:ext cx="4241801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61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259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데이터 수집</a:t>
              </a:r>
              <a:endParaRPr/>
            </a:p>
          </p:txBody>
        </p:sp>
        <p:sp>
          <p:nvSpPr>
            <p:cNvPr id="164" name="Google Shape;164;p3"/>
            <p:cNvSpPr txBox="1"/>
            <p:nvPr/>
          </p:nvSpPr>
          <p:spPr>
            <a:xfrm>
              <a:off x="5524501" y="7239001"/>
              <a:ext cx="1193801" cy="5842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96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3101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05</a:t>
              </a:r>
              <a:endParaRPr/>
            </a:p>
          </p:txBody>
        </p:sp>
      </p:grpSp>
      <p:sp>
        <p:nvSpPr>
          <p:cNvPr id="165" name="Google Shape;165;p3"/>
          <p:cNvSpPr txBox="1"/>
          <p:nvPr/>
        </p:nvSpPr>
        <p:spPr>
          <a:xfrm>
            <a:off x="279401" y="939800"/>
            <a:ext cx="17729201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6000" u="none" cap="none" strike="noStrike">
                <a:solidFill>
                  <a:srgbClr val="3958E3"/>
                </a:solidFill>
                <a:latin typeface="Arial"/>
                <a:ea typeface="Arial"/>
                <a:cs typeface="Arial"/>
                <a:sym typeface="Arial"/>
              </a:rPr>
              <a:t>목차</a:t>
            </a:r>
            <a:endParaRPr/>
          </a:p>
        </p:txBody>
      </p:sp>
      <p:grpSp>
        <p:nvGrpSpPr>
          <p:cNvPr id="166" name="Google Shape;166;p3"/>
          <p:cNvGrpSpPr/>
          <p:nvPr/>
        </p:nvGrpSpPr>
        <p:grpSpPr>
          <a:xfrm>
            <a:off x="4921250" y="2287587"/>
            <a:ext cx="9080501" cy="762000"/>
            <a:chOff x="4921250" y="2660650"/>
            <a:chExt cx="9080501" cy="762000"/>
          </a:xfrm>
        </p:grpSpPr>
        <p:pic>
          <p:nvPicPr>
            <p:cNvPr id="167" name="Google Shape;167;p3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 rot="5400000">
              <a:off x="9080501" y="-1498600"/>
              <a:ext cx="762000" cy="9080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8" name="Google Shape;168;p3"/>
            <p:cNvSpPr txBox="1"/>
            <p:nvPr/>
          </p:nvSpPr>
          <p:spPr>
            <a:xfrm>
              <a:off x="5524501" y="2755901"/>
              <a:ext cx="1193801" cy="5842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96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3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/>
            </a:p>
          </p:txBody>
        </p:sp>
        <p:sp>
          <p:nvSpPr>
            <p:cNvPr id="169" name="Google Shape;169;p3"/>
            <p:cNvSpPr txBox="1"/>
            <p:nvPr/>
          </p:nvSpPr>
          <p:spPr>
            <a:xfrm>
              <a:off x="6908801" y="2812206"/>
              <a:ext cx="38481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61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2599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시장 조사</a:t>
              </a:r>
              <a:endParaRPr/>
            </a:p>
          </p:txBody>
        </p:sp>
      </p:grpSp>
      <p:grpSp>
        <p:nvGrpSpPr>
          <p:cNvPr id="170" name="Google Shape;170;p3"/>
          <p:cNvGrpSpPr/>
          <p:nvPr/>
        </p:nvGrpSpPr>
        <p:grpSpPr>
          <a:xfrm>
            <a:off x="4921250" y="8818563"/>
            <a:ext cx="9080501" cy="762000"/>
            <a:chOff x="4921250" y="9191627"/>
            <a:chExt cx="9080501" cy="762000"/>
          </a:xfrm>
        </p:grpSpPr>
        <p:pic>
          <p:nvPicPr>
            <p:cNvPr id="171" name="Google Shape;171;p3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 rot="5400000">
              <a:off x="9080501" y="5032376"/>
              <a:ext cx="762000" cy="9080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2" name="Google Shape;172;p3"/>
            <p:cNvSpPr txBox="1"/>
            <p:nvPr/>
          </p:nvSpPr>
          <p:spPr>
            <a:xfrm>
              <a:off x="6858000" y="9366249"/>
              <a:ext cx="4241801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61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259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향후 계획</a:t>
              </a:r>
              <a:endParaRPr b="0" i="0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3"/>
            <p:cNvSpPr txBox="1"/>
            <p:nvPr/>
          </p:nvSpPr>
          <p:spPr>
            <a:xfrm>
              <a:off x="5473700" y="9328150"/>
              <a:ext cx="1193801" cy="5842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96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3101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07</a:t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4"/>
          <p:cNvPicPr preferRelativeResize="0"/>
          <p:nvPr/>
        </p:nvPicPr>
        <p:blipFill rotWithShape="1">
          <a:blip r:embed="rId3">
            <a:alphaModFix amt="8000"/>
          </a:blip>
          <a:srcRect b="0" l="0" r="0" t="0"/>
          <a:stretch/>
        </p:blipFill>
        <p:spPr>
          <a:xfrm rot="5400000">
            <a:off x="4000501" y="-4000500"/>
            <a:ext cx="10299701" cy="1831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4"/>
          <p:cNvPicPr preferRelativeResize="0"/>
          <p:nvPr/>
        </p:nvPicPr>
        <p:blipFill rotWithShape="1">
          <a:blip r:embed="rId4">
            <a:alphaModFix amt="51000"/>
          </a:blip>
          <a:srcRect b="0" l="0" r="0" t="0"/>
          <a:stretch/>
        </p:blipFill>
        <p:spPr>
          <a:xfrm>
            <a:off x="4356101" y="-584200"/>
            <a:ext cx="11849100" cy="10071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76200" y="10172700"/>
            <a:ext cx="184277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10172700"/>
            <a:ext cx="91440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27101" y="673100"/>
            <a:ext cx="1993901" cy="2019300"/>
          </a:xfrm>
          <a:prstGeom prst="rect">
            <a:avLst/>
          </a:prstGeom>
          <a:noFill/>
          <a:ln>
            <a:noFill/>
          </a:ln>
          <a:effectLst>
            <a:outerShdw blurRad="39714" dir="5400000" dist="122887">
              <a:srgbClr val="344096">
                <a:alpha val="15686"/>
              </a:srgbClr>
            </a:outerShdw>
          </a:effectLst>
        </p:spPr>
      </p:pic>
      <p:sp>
        <p:nvSpPr>
          <p:cNvPr id="184" name="Google Shape;184;p4"/>
          <p:cNvSpPr txBox="1"/>
          <p:nvPr/>
        </p:nvSpPr>
        <p:spPr>
          <a:xfrm>
            <a:off x="11811000" y="5473702"/>
            <a:ext cx="4572000" cy="9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28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5301" u="none" cap="none" strike="noStrike">
                <a:solidFill>
                  <a:srgbClr val="3958E3"/>
                </a:solidFill>
                <a:latin typeface="Arial"/>
                <a:ea typeface="Arial"/>
                <a:cs typeface="Arial"/>
                <a:sym typeface="Arial"/>
              </a:rPr>
              <a:t>시장 조사</a:t>
            </a:r>
            <a:endParaRPr/>
          </a:p>
        </p:txBody>
      </p:sp>
      <p:sp>
        <p:nvSpPr>
          <p:cNvPr id="185" name="Google Shape;185;p4"/>
          <p:cNvSpPr txBox="1"/>
          <p:nvPr/>
        </p:nvSpPr>
        <p:spPr>
          <a:xfrm>
            <a:off x="15278100" y="3975101"/>
            <a:ext cx="1104900" cy="10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62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6201" u="none" cap="none" strike="noStrike">
                <a:solidFill>
                  <a:srgbClr val="3958E3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5"/>
          <p:cNvPicPr preferRelativeResize="0"/>
          <p:nvPr/>
        </p:nvPicPr>
        <p:blipFill rotWithShape="1">
          <a:blip r:embed="rId3">
            <a:alphaModFix amt="8000"/>
          </a:blip>
          <a:srcRect b="0" l="0" r="0" t="0"/>
          <a:stretch/>
        </p:blipFill>
        <p:spPr>
          <a:xfrm rot="5400000">
            <a:off x="4000501" y="-4000500"/>
            <a:ext cx="10299701" cy="1831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5"/>
          <p:cNvPicPr preferRelativeResize="0"/>
          <p:nvPr/>
        </p:nvPicPr>
        <p:blipFill rotWithShape="1">
          <a:blip r:embed="rId4">
            <a:alphaModFix amt="51000"/>
          </a:blip>
          <a:srcRect b="0" l="0" r="0" t="0"/>
          <a:stretch/>
        </p:blipFill>
        <p:spPr>
          <a:xfrm>
            <a:off x="4356101" y="-584200"/>
            <a:ext cx="11849100" cy="10071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76200" y="10172700"/>
            <a:ext cx="184277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10172700"/>
            <a:ext cx="91440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27101" y="673100"/>
            <a:ext cx="1993901" cy="2019300"/>
          </a:xfrm>
          <a:prstGeom prst="rect">
            <a:avLst/>
          </a:prstGeom>
          <a:noFill/>
          <a:ln>
            <a:noFill/>
          </a:ln>
          <a:effectLst>
            <a:outerShdw blurRad="39714" dir="5400000" dist="122887">
              <a:srgbClr val="344096">
                <a:alpha val="15686"/>
              </a:srgbClr>
            </a:outerShdw>
          </a:effectLst>
        </p:spPr>
      </p:pic>
      <p:sp>
        <p:nvSpPr>
          <p:cNvPr id="196" name="Google Shape;196;p5"/>
          <p:cNvSpPr txBox="1"/>
          <p:nvPr/>
        </p:nvSpPr>
        <p:spPr>
          <a:xfrm>
            <a:off x="1905000" y="3679825"/>
            <a:ext cx="14478000" cy="9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28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8000" u="none" cap="none" strike="noStrike">
                <a:solidFill>
                  <a:srgbClr val="3958E3"/>
                </a:solidFill>
                <a:latin typeface="Arial"/>
                <a:ea typeface="Arial"/>
                <a:cs typeface="Arial"/>
                <a:sym typeface="Arial"/>
              </a:rPr>
              <a:t>내부 고객 업무 효율성 향상을 위한 문서검색 시스템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6"/>
          <p:cNvPicPr preferRelativeResize="0"/>
          <p:nvPr/>
        </p:nvPicPr>
        <p:blipFill rotWithShape="1">
          <a:blip r:embed="rId3">
            <a:alphaModFix amt="8000"/>
          </a:blip>
          <a:srcRect b="0" l="0" r="0" t="0"/>
          <a:stretch/>
        </p:blipFill>
        <p:spPr>
          <a:xfrm rot="5400000">
            <a:off x="4000501" y="-4000500"/>
            <a:ext cx="10299701" cy="1831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6"/>
          <p:cNvPicPr preferRelativeResize="0"/>
          <p:nvPr/>
        </p:nvPicPr>
        <p:blipFill rotWithShape="1">
          <a:blip r:embed="rId4">
            <a:alphaModFix amt="51000"/>
          </a:blip>
          <a:srcRect b="0" l="0" r="0" t="0"/>
          <a:stretch/>
        </p:blipFill>
        <p:spPr>
          <a:xfrm>
            <a:off x="4356101" y="-584200"/>
            <a:ext cx="11849100" cy="10071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76200" y="10172700"/>
            <a:ext cx="184277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10172700"/>
            <a:ext cx="91440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27101" y="673100"/>
            <a:ext cx="1993901" cy="2019300"/>
          </a:xfrm>
          <a:prstGeom prst="rect">
            <a:avLst/>
          </a:prstGeom>
          <a:noFill/>
          <a:ln>
            <a:noFill/>
          </a:ln>
          <a:effectLst>
            <a:outerShdw blurRad="39714" dir="5400000" dist="122887">
              <a:srgbClr val="344096">
                <a:alpha val="15686"/>
              </a:srgbClr>
            </a:outerShdw>
          </a:effectLst>
        </p:spPr>
      </p:pic>
      <p:pic>
        <p:nvPicPr>
          <p:cNvPr descr="건물 윤곽선" id="207" name="Google Shape;207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935774" y="3924300"/>
            <a:ext cx="2971800" cy="2971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용지 단색으로 채워진" id="208" name="Google Shape;208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086471" y="5377962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용지 단색으로 채워진" id="209" name="Google Shape;209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344139" y="5377962"/>
            <a:ext cx="914400" cy="914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0" name="Google Shape;210;p6"/>
          <p:cNvCxnSpPr/>
          <p:nvPr/>
        </p:nvCxnSpPr>
        <p:spPr>
          <a:xfrm>
            <a:off x="5000871" y="5835162"/>
            <a:ext cx="1343268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211" name="Google Shape;211;p6"/>
          <p:cNvSpPr/>
          <p:nvPr/>
        </p:nvSpPr>
        <p:spPr>
          <a:xfrm>
            <a:off x="5053135" y="5219212"/>
            <a:ext cx="1145442" cy="1213338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2" name="Google Shape;212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001000" y="4914900"/>
            <a:ext cx="22860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용지 단색으로 채워진" id="213" name="Google Shape;213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955572" y="2552698"/>
            <a:ext cx="2376856" cy="23768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2519760" y="4816480"/>
            <a:ext cx="1812188" cy="1812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4072087" y="3718412"/>
            <a:ext cx="2392976" cy="2392976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6"/>
          <p:cNvSpPr txBox="1"/>
          <p:nvPr/>
        </p:nvSpPr>
        <p:spPr>
          <a:xfrm>
            <a:off x="13327793" y="2370326"/>
            <a:ext cx="261888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4800" u="none" cap="none" strike="noStrike">
                <a:solidFill>
                  <a:srgbClr val="3958E3"/>
                </a:solidFill>
                <a:latin typeface="Arial"/>
                <a:ea typeface="Arial"/>
                <a:cs typeface="Arial"/>
                <a:sym typeface="Arial"/>
              </a:rPr>
              <a:t>제약 영업 !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7"/>
          <p:cNvPicPr preferRelativeResize="0"/>
          <p:nvPr/>
        </p:nvPicPr>
        <p:blipFill rotWithShape="1">
          <a:blip r:embed="rId3">
            <a:alphaModFix amt="8000"/>
          </a:blip>
          <a:srcRect b="0" l="0" r="0" t="0"/>
          <a:stretch/>
        </p:blipFill>
        <p:spPr>
          <a:xfrm rot="5400000">
            <a:off x="4044950" y="-4133850"/>
            <a:ext cx="10299701" cy="1831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76200" y="10172700"/>
            <a:ext cx="184277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10172700"/>
            <a:ext cx="91440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3100" y="1054100"/>
            <a:ext cx="1993901" cy="2019300"/>
          </a:xfrm>
          <a:prstGeom prst="rect">
            <a:avLst/>
          </a:prstGeom>
          <a:noFill/>
          <a:ln>
            <a:noFill/>
          </a:ln>
          <a:effectLst>
            <a:outerShdw blurRad="39714" dir="5400000" dist="122887">
              <a:srgbClr val="344096">
                <a:alpha val="15686"/>
              </a:srgbClr>
            </a:outerShdw>
          </a:effectLst>
        </p:spPr>
      </p:pic>
      <p:sp>
        <p:nvSpPr>
          <p:cNvPr id="226" name="Google Shape;226;p7"/>
          <p:cNvSpPr txBox="1"/>
          <p:nvPr/>
        </p:nvSpPr>
        <p:spPr>
          <a:xfrm>
            <a:off x="38099" y="9012826"/>
            <a:ext cx="1040130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93B3D7"/>
                </a:solidFill>
                <a:latin typeface="Arial"/>
                <a:ea typeface="Arial"/>
                <a:cs typeface="Arial"/>
                <a:sym typeface="Arial"/>
              </a:rPr>
              <a:t>출처: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93B3D7"/>
                </a:solidFill>
                <a:latin typeface="Arial"/>
                <a:ea typeface="Arial"/>
                <a:cs typeface="Arial"/>
                <a:sym typeface="Arial"/>
              </a:rPr>
              <a:t>https://www.gminsights.com/industry-analysis/enterprise-generative-ai-market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93B3D7"/>
                </a:solidFill>
                <a:latin typeface="Arial"/>
                <a:ea typeface="Arial"/>
                <a:cs typeface="Arial"/>
                <a:sym typeface="Arial"/>
              </a:rPr>
              <a:t>https://www.mckinsey.com/industries/life-sciences/our-insights/generative-ai-in-the-pharmaceutical-industry-moving-from-hype-to-reality?utm_source=chatgpt.com</a:t>
            </a:r>
            <a:endParaRPr sz="1800">
              <a:solidFill>
                <a:srgbClr val="93B3D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7" name="Google Shape;227;p7"/>
          <p:cNvGrpSpPr/>
          <p:nvPr/>
        </p:nvGrpSpPr>
        <p:grpSpPr>
          <a:xfrm>
            <a:off x="5680724" y="457003"/>
            <a:ext cx="3479801" cy="4224656"/>
            <a:chOff x="1656817" y="5505450"/>
            <a:chExt cx="3479800" cy="4224656"/>
          </a:xfrm>
        </p:grpSpPr>
        <p:pic>
          <p:nvPicPr>
            <p:cNvPr id="228" name="Google Shape;228;p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656817" y="5869306"/>
              <a:ext cx="3479800" cy="3860800"/>
            </a:xfrm>
            <a:prstGeom prst="rect">
              <a:avLst/>
            </a:prstGeom>
            <a:noFill/>
            <a:ln>
              <a:noFill/>
            </a:ln>
            <a:effectLst>
              <a:outerShdw blurRad="105336" dir="5400000" dist="133720">
                <a:srgbClr val="CDD9ED">
                  <a:alpha val="40784"/>
                </a:srgbClr>
              </a:outerShdw>
            </a:effectLst>
          </p:spPr>
        </p:pic>
        <p:pic>
          <p:nvPicPr>
            <p:cNvPr id="229" name="Google Shape;229;p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597150" y="5505450"/>
              <a:ext cx="1447800" cy="1447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0" name="Google Shape;230;p7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774950" y="5683250"/>
              <a:ext cx="1092200" cy="1092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1" name="Google Shape;231;p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965450" y="5873750"/>
              <a:ext cx="711200" cy="711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2" name="Google Shape;232;p7"/>
            <p:cNvPicPr preferRelativeResize="0"/>
            <p:nvPr/>
          </p:nvPicPr>
          <p:blipFill rotWithShape="1">
            <a:blip r:embed="rId11">
              <a:alphaModFix amt="54000"/>
            </a:blip>
            <a:srcRect b="0" l="0" r="0" t="0"/>
            <a:stretch/>
          </p:blipFill>
          <p:spPr>
            <a:xfrm rot="10800000">
              <a:off x="1949450" y="7689850"/>
              <a:ext cx="2768600" cy="12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3" name="Google Shape;233;p7"/>
            <p:cNvSpPr txBox="1"/>
            <p:nvPr/>
          </p:nvSpPr>
          <p:spPr>
            <a:xfrm>
              <a:off x="1835150" y="7893050"/>
              <a:ext cx="3035300" cy="15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85765" lvl="0" marL="285765" marR="0" rtl="0" algn="l">
                <a:lnSpc>
                  <a:spcPct val="996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lang="ko-KR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전 세계 AI 시장은 2030년까지 연평균 37% 이상 성장</a:t>
              </a:r>
              <a:br>
                <a:rPr lang="ko-KR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5765" lvl="0" marL="285765" marR="0" rtl="0" algn="l">
                <a:lnSpc>
                  <a:spcPct val="996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lang="ko-KR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업무 자동화 및 비즈니스 지원 도구 수요가 급증</a:t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7"/>
            <p:cNvSpPr txBox="1"/>
            <p:nvPr/>
          </p:nvSpPr>
          <p:spPr>
            <a:xfrm>
              <a:off x="1682750" y="7092950"/>
              <a:ext cx="3289300" cy="44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96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50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AI 시장 성장률</a:t>
              </a:r>
              <a:endParaRPr/>
            </a:p>
          </p:txBody>
        </p:sp>
      </p:grpSp>
      <p:sp>
        <p:nvSpPr>
          <p:cNvPr id="235" name="Google Shape;235;p7"/>
          <p:cNvSpPr txBox="1"/>
          <p:nvPr/>
        </p:nvSpPr>
        <p:spPr>
          <a:xfrm>
            <a:off x="492814" y="4543808"/>
            <a:ext cx="4368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5400">
                <a:solidFill>
                  <a:srgbClr val="44CCE5"/>
                </a:solidFill>
                <a:latin typeface="Arial"/>
                <a:ea typeface="Arial"/>
                <a:cs typeface="Arial"/>
                <a:sym typeface="Arial"/>
              </a:rPr>
              <a:t>제약 AI 현황</a:t>
            </a:r>
            <a:endParaRPr/>
          </a:p>
        </p:txBody>
      </p:sp>
      <p:sp>
        <p:nvSpPr>
          <p:cNvPr id="236" name="Google Shape;236;p7"/>
          <p:cNvSpPr txBox="1"/>
          <p:nvPr/>
        </p:nvSpPr>
        <p:spPr>
          <a:xfrm>
            <a:off x="711202" y="3416300"/>
            <a:ext cx="4368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rgbClr val="44CCE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7" name="Google Shape;237;p7"/>
          <p:cNvGrpSpPr/>
          <p:nvPr/>
        </p:nvGrpSpPr>
        <p:grpSpPr>
          <a:xfrm>
            <a:off x="12650434" y="4551623"/>
            <a:ext cx="3479801" cy="4224656"/>
            <a:chOff x="1656817" y="5505450"/>
            <a:chExt cx="3479800" cy="4224656"/>
          </a:xfrm>
        </p:grpSpPr>
        <p:pic>
          <p:nvPicPr>
            <p:cNvPr id="238" name="Google Shape;238;p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656817" y="5869306"/>
              <a:ext cx="3479800" cy="3860800"/>
            </a:xfrm>
            <a:prstGeom prst="rect">
              <a:avLst/>
            </a:prstGeom>
            <a:noFill/>
            <a:ln>
              <a:noFill/>
            </a:ln>
            <a:effectLst>
              <a:outerShdw blurRad="105336" dir="5400000" dist="133720">
                <a:srgbClr val="CDD9ED">
                  <a:alpha val="40784"/>
                </a:srgbClr>
              </a:outerShdw>
            </a:effectLst>
          </p:spPr>
        </p:pic>
        <p:pic>
          <p:nvPicPr>
            <p:cNvPr id="239" name="Google Shape;239;p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597150" y="5505450"/>
              <a:ext cx="1447800" cy="1447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0" name="Google Shape;240;p7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774950" y="5683250"/>
              <a:ext cx="1092200" cy="1092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" name="Google Shape;241;p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965450" y="5873750"/>
              <a:ext cx="711200" cy="711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2" name="Google Shape;242;p7"/>
            <p:cNvPicPr preferRelativeResize="0"/>
            <p:nvPr/>
          </p:nvPicPr>
          <p:blipFill rotWithShape="1">
            <a:blip r:embed="rId11">
              <a:alphaModFix amt="54000"/>
            </a:blip>
            <a:srcRect b="0" l="0" r="0" t="0"/>
            <a:stretch/>
          </p:blipFill>
          <p:spPr>
            <a:xfrm rot="10800000">
              <a:off x="1949450" y="7689850"/>
              <a:ext cx="2768600" cy="12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3" name="Google Shape;243;p7"/>
            <p:cNvSpPr txBox="1"/>
            <p:nvPr/>
          </p:nvSpPr>
          <p:spPr>
            <a:xfrm>
              <a:off x="1728316" y="7893050"/>
              <a:ext cx="3289300" cy="15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85765" lvl="0" marL="285765" marR="0" rtl="0" algn="l">
                <a:lnSpc>
                  <a:spcPct val="996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lang="ko-KR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2025년 전 세계 AI pharmaceutical 시장 규모는 약 19.4억 달러</a:t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96865" lvl="0" marL="285765" marR="0" rtl="0" algn="l">
                <a:lnSpc>
                  <a:spcPct val="996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5765" lvl="0" marL="285765" marR="0" rtl="0" algn="l">
                <a:lnSpc>
                  <a:spcPct val="996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lang="ko-KR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2034년에는 164.9억 달러 규모로 성장</a:t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96865" lvl="0" marL="285765" marR="0" rtl="0" algn="l">
                <a:lnSpc>
                  <a:spcPct val="996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96865" lvl="0" marL="285765" marR="0" rtl="0" algn="l">
                <a:lnSpc>
                  <a:spcPct val="996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7"/>
            <p:cNvSpPr txBox="1"/>
            <p:nvPr/>
          </p:nvSpPr>
          <p:spPr>
            <a:xfrm>
              <a:off x="1682750" y="7092950"/>
              <a:ext cx="3289300" cy="44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96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50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제약 AI 시장 성장률</a:t>
              </a:r>
              <a:endParaRPr/>
            </a:p>
          </p:txBody>
        </p:sp>
      </p:grpSp>
      <p:pic>
        <p:nvPicPr>
          <p:cNvPr id="245" name="Google Shape;245;p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706657" y="5382952"/>
            <a:ext cx="6648045" cy="30735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780229" y="913378"/>
            <a:ext cx="6350005" cy="35718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8"/>
          <p:cNvPicPr preferRelativeResize="0"/>
          <p:nvPr/>
        </p:nvPicPr>
        <p:blipFill rotWithShape="1">
          <a:blip r:embed="rId3">
            <a:alphaModFix amt="8000"/>
          </a:blip>
          <a:srcRect b="0" l="0" r="0" t="0"/>
          <a:stretch/>
        </p:blipFill>
        <p:spPr>
          <a:xfrm rot="5400000">
            <a:off x="4076591" y="-4013200"/>
            <a:ext cx="10299700" cy="1831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8"/>
          <p:cNvPicPr preferRelativeResize="0"/>
          <p:nvPr/>
        </p:nvPicPr>
        <p:blipFill rotWithShape="1">
          <a:blip r:embed="rId4">
            <a:alphaModFix amt="51000"/>
          </a:blip>
          <a:srcRect b="0" l="0" r="0" t="0"/>
          <a:stretch/>
        </p:blipFill>
        <p:spPr>
          <a:xfrm>
            <a:off x="4356100" y="-584200"/>
            <a:ext cx="11849100" cy="1007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76200" y="10172700"/>
            <a:ext cx="184277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10172700"/>
            <a:ext cx="91440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24971" y="1866900"/>
            <a:ext cx="3530600" cy="5943600"/>
          </a:xfrm>
          <a:prstGeom prst="rect">
            <a:avLst/>
          </a:prstGeom>
          <a:noFill/>
          <a:ln>
            <a:noFill/>
          </a:ln>
          <a:effectLst>
            <a:outerShdw blurRad="105336" dir="5400000" dist="133720">
              <a:srgbClr val="CDD9ED">
                <a:alpha val="40784"/>
              </a:srgbClr>
            </a:outerShdw>
          </a:effectLst>
        </p:spPr>
      </p:pic>
      <p:pic>
        <p:nvPicPr>
          <p:cNvPr id="257" name="Google Shape;257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686371" y="1866900"/>
            <a:ext cx="3517900" cy="5943600"/>
          </a:xfrm>
          <a:prstGeom prst="rect">
            <a:avLst/>
          </a:prstGeom>
          <a:noFill/>
          <a:ln>
            <a:noFill/>
          </a:ln>
          <a:effectLst>
            <a:outerShdw blurRad="105336" dir="5400000" dist="133720">
              <a:srgbClr val="CDD9ED">
                <a:alpha val="40784"/>
              </a:srgbClr>
            </a:outerShdw>
          </a:effectLst>
        </p:spPr>
      </p:pic>
      <p:pic>
        <p:nvPicPr>
          <p:cNvPr id="258" name="Google Shape;258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647771" y="1866900"/>
            <a:ext cx="3530600" cy="5943600"/>
          </a:xfrm>
          <a:prstGeom prst="rect">
            <a:avLst/>
          </a:prstGeom>
          <a:noFill/>
          <a:ln>
            <a:noFill/>
          </a:ln>
          <a:effectLst>
            <a:outerShdw blurRad="105336" dir="5400000" dist="133720">
              <a:srgbClr val="CDD9ED">
                <a:alpha val="40784"/>
              </a:srgbClr>
            </a:outerShdw>
          </a:effectLst>
        </p:spPr>
      </p:pic>
      <p:sp>
        <p:nvSpPr>
          <p:cNvPr id="259" name="Google Shape;259;p8"/>
          <p:cNvSpPr txBox="1"/>
          <p:nvPr/>
        </p:nvSpPr>
        <p:spPr>
          <a:xfrm>
            <a:off x="10055171" y="5194300"/>
            <a:ext cx="2870100" cy="195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최근에는 내부 운영 중심으로 변화 중</a:t>
            </a:r>
            <a:endParaRPr/>
          </a:p>
        </p:txBody>
      </p:sp>
      <p:sp>
        <p:nvSpPr>
          <p:cNvPr id="260" name="Google Shape;260;p8"/>
          <p:cNvSpPr txBox="1"/>
          <p:nvPr/>
        </p:nvSpPr>
        <p:spPr>
          <a:xfrm>
            <a:off x="6016571" y="5194300"/>
            <a:ext cx="2870100" cy="195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과거에는 외부 고객 대응에 집중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8"/>
          <p:cNvSpPr txBox="1"/>
          <p:nvPr/>
        </p:nvSpPr>
        <p:spPr>
          <a:xfrm>
            <a:off x="2064571" y="5194300"/>
            <a:ext cx="2883000" cy="195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 챗봇 도입 중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점차 확대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2" name="Google Shape;262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5671801" y="1308101"/>
            <a:ext cx="2082800" cy="1955801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8"/>
          <p:cNvSpPr txBox="1"/>
          <p:nvPr/>
        </p:nvSpPr>
        <p:spPr>
          <a:xfrm>
            <a:off x="13385801" y="4127501"/>
            <a:ext cx="4368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000">
                <a:solidFill>
                  <a:srgbClr val="44CCE5"/>
                </a:solidFill>
                <a:latin typeface="Arial"/>
                <a:ea typeface="Arial"/>
                <a:cs typeface="Arial"/>
                <a:sym typeface="Arial"/>
              </a:rPr>
              <a:t>국내 제약 </a:t>
            </a:r>
            <a:br>
              <a:rPr lang="ko-KR" sz="6000">
                <a:solidFill>
                  <a:srgbClr val="44CCE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-KR" sz="6000">
                <a:solidFill>
                  <a:srgbClr val="44CCE5"/>
                </a:solidFill>
                <a:latin typeface="Arial"/>
                <a:ea typeface="Arial"/>
                <a:cs typeface="Arial"/>
                <a:sym typeface="Arial"/>
              </a:rPr>
              <a:t>AI 현황</a:t>
            </a:r>
            <a:endParaRPr/>
          </a:p>
        </p:txBody>
      </p:sp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546347" y="2575026"/>
            <a:ext cx="1720648" cy="17206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378471" y="2366975"/>
            <a:ext cx="2133600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559842" y="2503396"/>
            <a:ext cx="1860758" cy="18607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9"/>
          <p:cNvPicPr preferRelativeResize="0"/>
          <p:nvPr/>
        </p:nvPicPr>
        <p:blipFill rotWithShape="1">
          <a:blip r:embed="rId3">
            <a:alphaModFix amt="8000"/>
          </a:blip>
          <a:srcRect b="0" l="0" r="0" t="0"/>
          <a:stretch/>
        </p:blipFill>
        <p:spPr>
          <a:xfrm rot="5400000">
            <a:off x="4000501" y="-4000500"/>
            <a:ext cx="10299701" cy="1831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273" name="Google Shape;273;p9"/>
          <p:cNvPicPr preferRelativeResize="0"/>
          <p:nvPr/>
        </p:nvPicPr>
        <p:blipFill rotWithShape="1">
          <a:blip r:embed="rId4">
            <a:alphaModFix amt="51000"/>
          </a:blip>
          <a:srcRect b="0" l="0" r="0" t="0"/>
          <a:stretch/>
        </p:blipFill>
        <p:spPr>
          <a:xfrm>
            <a:off x="4356101" y="-584200"/>
            <a:ext cx="11849100" cy="10071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76200" y="10172700"/>
            <a:ext cx="184277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10172700"/>
            <a:ext cx="91440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9"/>
          <p:cNvSpPr txBox="1"/>
          <p:nvPr/>
        </p:nvSpPr>
        <p:spPr>
          <a:xfrm>
            <a:off x="6629400" y="5473700"/>
            <a:ext cx="97536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28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5301">
                <a:solidFill>
                  <a:srgbClr val="3958E3"/>
                </a:solidFill>
                <a:latin typeface="Arial"/>
                <a:ea typeface="Arial"/>
                <a:cs typeface="Arial"/>
                <a:sym typeface="Arial"/>
              </a:rPr>
              <a:t>솔루션</a:t>
            </a:r>
            <a:endParaRPr/>
          </a:p>
        </p:txBody>
      </p:sp>
      <p:sp>
        <p:nvSpPr>
          <p:cNvPr id="277" name="Google Shape;277;p9"/>
          <p:cNvSpPr txBox="1"/>
          <p:nvPr/>
        </p:nvSpPr>
        <p:spPr>
          <a:xfrm>
            <a:off x="774701" y="4013201"/>
            <a:ext cx="1560830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62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201">
                <a:solidFill>
                  <a:srgbClr val="3958E3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pic>
        <p:nvPicPr>
          <p:cNvPr id="278" name="Google Shape;278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57301" y="4319435"/>
            <a:ext cx="1993901" cy="2019300"/>
          </a:xfrm>
          <a:prstGeom prst="rect">
            <a:avLst/>
          </a:prstGeom>
          <a:noFill/>
          <a:ln>
            <a:noFill/>
          </a:ln>
          <a:effectLst>
            <a:outerShdw blurRad="39714" dir="5400000" dist="122887">
              <a:srgbClr val="344096">
                <a:alpha val="15686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10"/>
          <p:cNvPicPr preferRelativeResize="0"/>
          <p:nvPr/>
        </p:nvPicPr>
        <p:blipFill rotWithShape="1">
          <a:blip r:embed="rId3">
            <a:alphaModFix amt="51000"/>
          </a:blip>
          <a:srcRect b="0" l="0" r="0" t="0"/>
          <a:stretch/>
        </p:blipFill>
        <p:spPr>
          <a:xfrm>
            <a:off x="-134667" y="-876300"/>
            <a:ext cx="11849100" cy="10071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10"/>
          <p:cNvPicPr preferRelativeResize="0"/>
          <p:nvPr/>
        </p:nvPicPr>
        <p:blipFill rotWithShape="1">
          <a:blip r:embed="rId4">
            <a:alphaModFix amt="8000"/>
          </a:blip>
          <a:srcRect b="0" l="0" r="0" t="0"/>
          <a:stretch/>
        </p:blipFill>
        <p:spPr>
          <a:xfrm rot="5400000">
            <a:off x="4006850" y="-4019550"/>
            <a:ext cx="10299701" cy="1831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76200" y="10172700"/>
            <a:ext cx="184277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10172700"/>
            <a:ext cx="91440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27101" y="673100"/>
            <a:ext cx="1993901" cy="2019300"/>
          </a:xfrm>
          <a:prstGeom prst="rect">
            <a:avLst/>
          </a:prstGeom>
          <a:noFill/>
          <a:ln>
            <a:noFill/>
          </a:ln>
          <a:effectLst>
            <a:outerShdw blurRad="39714" dir="5400000" dist="122887">
              <a:srgbClr val="344096">
                <a:alpha val="15686"/>
              </a:srgbClr>
            </a:outerShdw>
          </a:effectLst>
        </p:spPr>
      </p:pic>
      <p:sp>
        <p:nvSpPr>
          <p:cNvPr id="289" name="Google Shape;289;p10"/>
          <p:cNvSpPr/>
          <p:nvPr/>
        </p:nvSpPr>
        <p:spPr>
          <a:xfrm>
            <a:off x="9261344" y="3364214"/>
            <a:ext cx="3800474" cy="5692397"/>
          </a:xfrm>
          <a:prstGeom prst="roundRect">
            <a:avLst>
              <a:gd fmla="val 16667" name="adj"/>
            </a:avLst>
          </a:prstGeom>
          <a:solidFill>
            <a:srgbClr val="DAE5F1"/>
          </a:solidFill>
          <a:ln cap="flat" cmpd="sng" w="25400">
            <a:solidFill>
              <a:srgbClr val="C5D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13271105" y="3345017"/>
            <a:ext cx="3800474" cy="5692397"/>
          </a:xfrm>
          <a:prstGeom prst="roundRect">
            <a:avLst>
              <a:gd fmla="val 16667" name="adj"/>
            </a:avLst>
          </a:prstGeom>
          <a:solidFill>
            <a:srgbClr val="DAE5F1"/>
          </a:solidFill>
          <a:ln cap="flat" cmpd="sng" w="25400">
            <a:solidFill>
              <a:srgbClr val="C5D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5251583" y="3383410"/>
            <a:ext cx="3800474" cy="5692397"/>
          </a:xfrm>
          <a:prstGeom prst="roundRect">
            <a:avLst>
              <a:gd fmla="val 16667" name="adj"/>
            </a:avLst>
          </a:prstGeom>
          <a:solidFill>
            <a:srgbClr val="DAE5F1"/>
          </a:solidFill>
          <a:ln cap="flat" cmpd="sng" w="25400">
            <a:solidFill>
              <a:srgbClr val="C5D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1241822" y="3402605"/>
            <a:ext cx="3800474" cy="5692397"/>
          </a:xfrm>
          <a:prstGeom prst="roundRect">
            <a:avLst>
              <a:gd fmla="val 16667" name="adj"/>
            </a:avLst>
          </a:prstGeom>
          <a:solidFill>
            <a:srgbClr val="DAE5F1"/>
          </a:solidFill>
          <a:ln cap="flat" cmpd="sng" w="25400">
            <a:solidFill>
              <a:srgbClr val="C5D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0"/>
          <p:cNvSpPr txBox="1"/>
          <p:nvPr/>
        </p:nvSpPr>
        <p:spPr>
          <a:xfrm>
            <a:off x="1363662" y="7261028"/>
            <a:ext cx="3545019" cy="14165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85765" lvl="0" marL="285765" marR="0" rtl="0" algn="l">
              <a:lnSpc>
                <a:spcPct val="15106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필요한 자료를 찾기 위한 검색 시스템이 파편화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65" lvl="0" marL="285765" marR="0" rtl="0" algn="l">
              <a:lnSpc>
                <a:spcPct val="15106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규정은 자주 변동되지만 최신 정보가 실시간 반영되지 못함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사람, 의류, 실내, 일이(가) 표시된 사진&#10;&#10;AI 생성 콘텐츠는 정확하지 않을 수 있습니다." id="294" name="Google Shape;294;p10"/>
          <p:cNvPicPr preferRelativeResize="0"/>
          <p:nvPr/>
        </p:nvPicPr>
        <p:blipFill rotWithShape="1">
          <a:blip r:embed="rId8">
            <a:alphaModFix/>
          </a:blip>
          <a:srcRect b="0" l="0" r="0" t="166"/>
          <a:stretch/>
        </p:blipFill>
        <p:spPr>
          <a:xfrm>
            <a:off x="1584722" y="3777059"/>
            <a:ext cx="3114674" cy="3109517"/>
          </a:xfrm>
          <a:custGeom>
            <a:rect b="b" l="l" r="r" t="t"/>
            <a:pathLst>
              <a:path extrusionOk="0" h="3109516" w="3114674">
                <a:moveTo>
                  <a:pt x="518263" y="0"/>
                </a:moveTo>
                <a:lnTo>
                  <a:pt x="2596411" y="0"/>
                </a:lnTo>
                <a:cubicBezTo>
                  <a:pt x="2882640" y="0"/>
                  <a:pt x="3114674" y="232034"/>
                  <a:pt x="3114674" y="518263"/>
                </a:cubicBezTo>
                <a:lnTo>
                  <a:pt x="3114674" y="2591253"/>
                </a:lnTo>
                <a:cubicBezTo>
                  <a:pt x="3114674" y="2877482"/>
                  <a:pt x="2882640" y="3109516"/>
                  <a:pt x="2596411" y="3109516"/>
                </a:cubicBezTo>
                <a:lnTo>
                  <a:pt x="518263" y="3109516"/>
                </a:lnTo>
                <a:cubicBezTo>
                  <a:pt x="232034" y="3109516"/>
                  <a:pt x="0" y="2877482"/>
                  <a:pt x="0" y="2591253"/>
                </a:cubicBezTo>
                <a:lnTo>
                  <a:pt x="0" y="518263"/>
                </a:lnTo>
                <a:cubicBezTo>
                  <a:pt x="0" y="232034"/>
                  <a:pt x="232034" y="0"/>
                  <a:pt x="518263" y="0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descr="사람, 의류, 인간의 얼굴, 노트북이(가) 표시된 사진&#10;&#10;AI 생성 콘텐츠는 정확하지 않을 수 있습니다." id="295" name="Google Shape;295;p1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3614005" y="3771901"/>
            <a:ext cx="3114674" cy="3114674"/>
          </a:xfrm>
          <a:custGeom>
            <a:rect b="b" l="l" r="r" t="t"/>
            <a:pathLst>
              <a:path extrusionOk="0" h="3109516" w="3114674">
                <a:moveTo>
                  <a:pt x="518263" y="0"/>
                </a:moveTo>
                <a:lnTo>
                  <a:pt x="2596411" y="0"/>
                </a:lnTo>
                <a:cubicBezTo>
                  <a:pt x="2882640" y="0"/>
                  <a:pt x="3114674" y="232034"/>
                  <a:pt x="3114674" y="518263"/>
                </a:cubicBezTo>
                <a:lnTo>
                  <a:pt x="3114674" y="2591253"/>
                </a:lnTo>
                <a:cubicBezTo>
                  <a:pt x="3114674" y="2877482"/>
                  <a:pt x="2882640" y="3109516"/>
                  <a:pt x="2596411" y="3109516"/>
                </a:cubicBezTo>
                <a:lnTo>
                  <a:pt x="518263" y="3109516"/>
                </a:lnTo>
                <a:cubicBezTo>
                  <a:pt x="232034" y="3109516"/>
                  <a:pt x="0" y="2877482"/>
                  <a:pt x="0" y="2591253"/>
                </a:cubicBezTo>
                <a:lnTo>
                  <a:pt x="0" y="518263"/>
                </a:lnTo>
                <a:cubicBezTo>
                  <a:pt x="0" y="232034"/>
                  <a:pt x="232034" y="0"/>
                  <a:pt x="518263" y="0"/>
                </a:cubicBezTo>
                <a:close/>
              </a:path>
            </a:pathLst>
          </a:custGeom>
          <a:noFill/>
          <a:ln>
            <a:noFill/>
          </a:ln>
        </p:spPr>
      </p:pic>
      <p:grpSp>
        <p:nvGrpSpPr>
          <p:cNvPr id="296" name="Google Shape;296;p10"/>
          <p:cNvGrpSpPr/>
          <p:nvPr/>
        </p:nvGrpSpPr>
        <p:grpSpPr>
          <a:xfrm>
            <a:off x="2556067" y="2621012"/>
            <a:ext cx="995184" cy="1041750"/>
            <a:chOff x="4377590" y="2372953"/>
            <a:chExt cx="978976" cy="978976"/>
          </a:xfrm>
        </p:grpSpPr>
        <p:pic>
          <p:nvPicPr>
            <p:cNvPr id="297" name="Google Shape;297;p10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377590" y="2372953"/>
              <a:ext cx="978976" cy="9789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8" name="Google Shape;298;p10"/>
            <p:cNvSpPr txBox="1"/>
            <p:nvPr/>
          </p:nvSpPr>
          <p:spPr>
            <a:xfrm>
              <a:off x="4472337" y="2528446"/>
              <a:ext cx="772200" cy="57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328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6000">
                  <a:solidFill>
                    <a:srgbClr val="11359A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sz="6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9" name="Google Shape;299;p10"/>
          <p:cNvGrpSpPr/>
          <p:nvPr/>
        </p:nvGrpSpPr>
        <p:grpSpPr>
          <a:xfrm>
            <a:off x="6606213" y="2547156"/>
            <a:ext cx="995184" cy="1041750"/>
            <a:chOff x="6740570" y="2547156"/>
            <a:chExt cx="995184" cy="1041750"/>
          </a:xfrm>
        </p:grpSpPr>
        <p:pic>
          <p:nvPicPr>
            <p:cNvPr id="300" name="Google Shape;300;p10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6740570" y="2547156"/>
              <a:ext cx="995184" cy="10417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1" name="Google Shape;301;p10"/>
            <p:cNvSpPr txBox="1"/>
            <p:nvPr/>
          </p:nvSpPr>
          <p:spPr>
            <a:xfrm>
              <a:off x="6836887" y="2712622"/>
              <a:ext cx="784985" cy="616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328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6000">
                  <a:solidFill>
                    <a:srgbClr val="11359A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sz="6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02" name="Google Shape;302;p1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656359" y="2547156"/>
            <a:ext cx="995184" cy="104175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10"/>
          <p:cNvSpPr txBox="1"/>
          <p:nvPr/>
        </p:nvSpPr>
        <p:spPr>
          <a:xfrm>
            <a:off x="10752677" y="2712622"/>
            <a:ext cx="784985" cy="6161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000">
                <a:solidFill>
                  <a:srgbClr val="11359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6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4" name="Google Shape;304;p1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4666120" y="2516708"/>
            <a:ext cx="995184" cy="104175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10"/>
          <p:cNvSpPr txBox="1"/>
          <p:nvPr/>
        </p:nvSpPr>
        <p:spPr>
          <a:xfrm>
            <a:off x="14762438" y="2682173"/>
            <a:ext cx="784985" cy="6161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000">
                <a:solidFill>
                  <a:srgbClr val="11359A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6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0"/>
          <p:cNvSpPr txBox="1"/>
          <p:nvPr/>
        </p:nvSpPr>
        <p:spPr>
          <a:xfrm>
            <a:off x="3048000" y="1181100"/>
            <a:ext cx="13182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000">
                <a:solidFill>
                  <a:srgbClr val="44CCE5"/>
                </a:solidFill>
                <a:latin typeface="Arial"/>
                <a:ea typeface="Arial"/>
                <a:cs typeface="Arial"/>
                <a:sym typeface="Arial"/>
              </a:rPr>
              <a:t>제약현장의 어려움</a:t>
            </a:r>
            <a:endParaRPr sz="6000">
              <a:solidFill>
                <a:srgbClr val="00B0F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0"/>
          <p:cNvSpPr txBox="1"/>
          <p:nvPr/>
        </p:nvSpPr>
        <p:spPr>
          <a:xfrm>
            <a:off x="1284302" y="6941236"/>
            <a:ext cx="35450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정보 검색의 반복과 누락</a:t>
            </a:r>
            <a:endParaRPr/>
          </a:p>
        </p:txBody>
      </p:sp>
      <p:sp>
        <p:nvSpPr>
          <p:cNvPr id="308" name="Google Shape;308;p10"/>
          <p:cNvSpPr txBox="1"/>
          <p:nvPr/>
        </p:nvSpPr>
        <p:spPr>
          <a:xfrm>
            <a:off x="5331476" y="7261028"/>
            <a:ext cx="3695183" cy="14165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85765" lvl="0" marL="285765" marR="0" rtl="0" algn="l">
              <a:lnSpc>
                <a:spcPct val="15106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40개이상의 거래처, 50~60개이상의 제품이 섞여있음.</a:t>
            </a:r>
            <a:endParaRPr/>
          </a:p>
          <a:p>
            <a:pPr indent="-285765" lvl="0" marL="285765" marR="0" rtl="0" algn="l">
              <a:lnSpc>
                <a:spcPct val="15106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실적형태가 복잡하여 실적 분석이 어려움.</a:t>
            </a:r>
            <a:endParaRPr/>
          </a:p>
          <a:p>
            <a:pPr indent="-285765" lvl="0" marL="285765" marR="0" rtl="0" algn="l">
              <a:lnSpc>
                <a:spcPct val="15106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관리자도 현장직이라 부하직원의 실적관리 어려움</a:t>
            </a:r>
            <a:endParaRPr/>
          </a:p>
        </p:txBody>
      </p:sp>
      <p:sp>
        <p:nvSpPr>
          <p:cNvPr id="309" name="Google Shape;309;p10"/>
          <p:cNvSpPr txBox="1"/>
          <p:nvPr/>
        </p:nvSpPr>
        <p:spPr>
          <a:xfrm>
            <a:off x="5252116" y="6941236"/>
            <a:ext cx="36951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실적 분석의 어려움과 전략 부재</a:t>
            </a:r>
            <a:endParaRPr/>
          </a:p>
        </p:txBody>
      </p:sp>
      <p:sp>
        <p:nvSpPr>
          <p:cNvPr id="310" name="Google Shape;310;p10"/>
          <p:cNvSpPr txBox="1"/>
          <p:nvPr/>
        </p:nvSpPr>
        <p:spPr>
          <a:xfrm>
            <a:off x="9359108" y="7261028"/>
            <a:ext cx="3695183" cy="14165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85765" lvl="0" marL="285765" marR="0" rtl="0" algn="l">
              <a:lnSpc>
                <a:spcPct val="15106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거래처 수가 많고 거래처의 트렌드 및 성향을 정확하게 파악하기 어려움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65" lvl="0" marL="285765" marR="0" rtl="0" algn="l">
              <a:lnSpc>
                <a:spcPct val="15106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이때문에 감에 의존한 영업을 진행하여 효율성 저하</a:t>
            </a:r>
            <a:endParaRPr/>
          </a:p>
        </p:txBody>
      </p:sp>
      <p:sp>
        <p:nvSpPr>
          <p:cNvPr id="311" name="Google Shape;311;p10"/>
          <p:cNvSpPr txBox="1"/>
          <p:nvPr/>
        </p:nvSpPr>
        <p:spPr>
          <a:xfrm>
            <a:off x="9279748" y="6941236"/>
            <a:ext cx="36951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고객 관리 단절 및 분산된 정보</a:t>
            </a:r>
            <a:endParaRPr/>
          </a:p>
        </p:txBody>
      </p:sp>
      <p:sp>
        <p:nvSpPr>
          <p:cNvPr id="312" name="Google Shape;312;p10"/>
          <p:cNvSpPr txBox="1"/>
          <p:nvPr/>
        </p:nvSpPr>
        <p:spPr>
          <a:xfrm>
            <a:off x="13368449" y="7261028"/>
            <a:ext cx="3695183" cy="14165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85765" lvl="0" marL="285765" marR="0" rtl="0" algn="l">
              <a:lnSpc>
                <a:spcPct val="15106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최신 법령이나 내부 규정 반영 여부 확인이 어려움</a:t>
            </a:r>
            <a:endParaRPr/>
          </a:p>
          <a:p>
            <a:pPr indent="-285765" lvl="0" marL="285765" marR="0" rtl="0" algn="l">
              <a:lnSpc>
                <a:spcPct val="15106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컴플라이언스에 민감한 업무라 여러번의 확인으로 리소스 낭비</a:t>
            </a:r>
            <a:endParaRPr/>
          </a:p>
        </p:txBody>
      </p:sp>
      <p:sp>
        <p:nvSpPr>
          <p:cNvPr id="313" name="Google Shape;313;p10"/>
          <p:cNvSpPr txBox="1"/>
          <p:nvPr/>
        </p:nvSpPr>
        <p:spPr>
          <a:xfrm>
            <a:off x="13289089" y="6941235"/>
            <a:ext cx="36951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컴플라이언스 리스크</a:t>
            </a:r>
            <a:endParaRPr/>
          </a:p>
        </p:txBody>
      </p:sp>
      <p:pic>
        <p:nvPicPr>
          <p:cNvPr descr="의류, 사람, 바지, 인간의 얼굴이(가) 표시된 사진&#10;&#10;AI 생성 콘텐츠는 정확하지 않을 수 있습니다." id="314" name="Google Shape;314;p1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587832" y="3788461"/>
            <a:ext cx="3114674" cy="3114674"/>
          </a:xfrm>
          <a:custGeom>
            <a:rect b="b" l="l" r="r" t="t"/>
            <a:pathLst>
              <a:path extrusionOk="0" h="3109516" w="3114674">
                <a:moveTo>
                  <a:pt x="518263" y="0"/>
                </a:moveTo>
                <a:lnTo>
                  <a:pt x="2596411" y="0"/>
                </a:lnTo>
                <a:cubicBezTo>
                  <a:pt x="2882640" y="0"/>
                  <a:pt x="3114674" y="232034"/>
                  <a:pt x="3114674" y="518263"/>
                </a:cubicBezTo>
                <a:lnTo>
                  <a:pt x="3114674" y="2591253"/>
                </a:lnTo>
                <a:cubicBezTo>
                  <a:pt x="3114674" y="2877482"/>
                  <a:pt x="2882640" y="3109516"/>
                  <a:pt x="2596411" y="3109516"/>
                </a:cubicBezTo>
                <a:lnTo>
                  <a:pt x="518263" y="3109516"/>
                </a:lnTo>
                <a:cubicBezTo>
                  <a:pt x="232034" y="3109516"/>
                  <a:pt x="0" y="2877482"/>
                  <a:pt x="0" y="2591253"/>
                </a:cubicBezTo>
                <a:lnTo>
                  <a:pt x="0" y="518263"/>
                </a:lnTo>
                <a:cubicBezTo>
                  <a:pt x="0" y="232034"/>
                  <a:pt x="232034" y="0"/>
                  <a:pt x="518263" y="0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descr="사람, 실내, 의류, 사무용품이(가) 표시된 사진&#10;&#10;AI 생성 콘텐츠는 정확하지 않을 수 있습니다." id="315" name="Google Shape;315;p1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585144" y="3771901"/>
            <a:ext cx="3114674" cy="3114674"/>
          </a:xfrm>
          <a:custGeom>
            <a:rect b="b" l="l" r="r" t="t"/>
            <a:pathLst>
              <a:path extrusionOk="0" h="3109516" w="3114674">
                <a:moveTo>
                  <a:pt x="518263" y="0"/>
                </a:moveTo>
                <a:lnTo>
                  <a:pt x="2596411" y="0"/>
                </a:lnTo>
                <a:cubicBezTo>
                  <a:pt x="2882640" y="0"/>
                  <a:pt x="3114674" y="232034"/>
                  <a:pt x="3114674" y="518263"/>
                </a:cubicBezTo>
                <a:lnTo>
                  <a:pt x="3114674" y="2591253"/>
                </a:lnTo>
                <a:cubicBezTo>
                  <a:pt x="3114674" y="2877482"/>
                  <a:pt x="2882640" y="3109516"/>
                  <a:pt x="2596411" y="3109516"/>
                </a:cubicBezTo>
                <a:lnTo>
                  <a:pt x="518263" y="3109516"/>
                </a:lnTo>
                <a:cubicBezTo>
                  <a:pt x="232034" y="3109516"/>
                  <a:pt x="0" y="2877482"/>
                  <a:pt x="0" y="2591253"/>
                </a:cubicBezTo>
                <a:lnTo>
                  <a:pt x="0" y="518263"/>
                </a:lnTo>
                <a:cubicBezTo>
                  <a:pt x="0" y="232034"/>
                  <a:pt x="232034" y="0"/>
                  <a:pt x="518263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321;p11"/>
          <p:cNvPicPr preferRelativeResize="0"/>
          <p:nvPr/>
        </p:nvPicPr>
        <p:blipFill rotWithShape="1">
          <a:blip r:embed="rId3">
            <a:alphaModFix amt="51000"/>
          </a:blip>
          <a:srcRect b="0" l="0" r="0" t="0"/>
          <a:stretch/>
        </p:blipFill>
        <p:spPr>
          <a:xfrm>
            <a:off x="-134667" y="-876300"/>
            <a:ext cx="11849100" cy="10071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11"/>
          <p:cNvPicPr preferRelativeResize="0"/>
          <p:nvPr/>
        </p:nvPicPr>
        <p:blipFill rotWithShape="1">
          <a:blip r:embed="rId4">
            <a:alphaModFix amt="8000"/>
          </a:blip>
          <a:srcRect b="0" l="0" r="0" t="0"/>
          <a:stretch/>
        </p:blipFill>
        <p:spPr>
          <a:xfrm rot="5400000">
            <a:off x="4006850" y="-4019550"/>
            <a:ext cx="10299701" cy="1831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76200" y="10172700"/>
            <a:ext cx="184277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10172700"/>
            <a:ext cx="91440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27101" y="673100"/>
            <a:ext cx="1993901" cy="2019300"/>
          </a:xfrm>
          <a:prstGeom prst="rect">
            <a:avLst/>
          </a:prstGeom>
          <a:noFill/>
          <a:ln>
            <a:noFill/>
          </a:ln>
          <a:effectLst>
            <a:outerShdw blurRad="39714" dir="5400000" dist="122887">
              <a:srgbClr val="344096">
                <a:alpha val="15686"/>
              </a:srgbClr>
            </a:outerShdw>
          </a:effectLst>
        </p:spPr>
      </p:pic>
      <p:sp>
        <p:nvSpPr>
          <p:cNvPr id="326" name="Google Shape;326;p11"/>
          <p:cNvSpPr/>
          <p:nvPr/>
        </p:nvSpPr>
        <p:spPr>
          <a:xfrm>
            <a:off x="1241822" y="3402605"/>
            <a:ext cx="3800474" cy="5692397"/>
          </a:xfrm>
          <a:prstGeom prst="roundRect">
            <a:avLst>
              <a:gd fmla="val 16667" name="adj"/>
            </a:avLst>
          </a:prstGeom>
          <a:solidFill>
            <a:srgbClr val="DAE5F1"/>
          </a:solidFill>
          <a:ln cap="flat" cmpd="sng" w="25400">
            <a:solidFill>
              <a:srgbClr val="C5D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1"/>
          <p:cNvSpPr txBox="1"/>
          <p:nvPr/>
        </p:nvSpPr>
        <p:spPr>
          <a:xfrm>
            <a:off x="1363662" y="7261028"/>
            <a:ext cx="3545019" cy="14165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85765" lvl="0" marL="285765" marR="0" rtl="0" algn="l">
              <a:lnSpc>
                <a:spcPct val="15106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필요한 자료를 찾기 위한 검색 시스템이 파편화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65" lvl="0" marL="285765" marR="0" rtl="0" algn="l">
              <a:lnSpc>
                <a:spcPct val="15106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규정은 자주 변동되지만 최신 정보가 실시간 반영되지 못함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사람, 의류, 실내, 일이(가) 표시된 사진&#10;&#10;AI 생성 콘텐츠는 정확하지 않을 수 있습니다." id="328" name="Google Shape;328;p11"/>
          <p:cNvPicPr preferRelativeResize="0"/>
          <p:nvPr/>
        </p:nvPicPr>
        <p:blipFill rotWithShape="1">
          <a:blip r:embed="rId8">
            <a:alphaModFix/>
          </a:blip>
          <a:srcRect b="0" l="0" r="0" t="166"/>
          <a:stretch/>
        </p:blipFill>
        <p:spPr>
          <a:xfrm>
            <a:off x="1584722" y="3777059"/>
            <a:ext cx="3114674" cy="3109517"/>
          </a:xfrm>
          <a:custGeom>
            <a:rect b="b" l="l" r="r" t="t"/>
            <a:pathLst>
              <a:path extrusionOk="0" h="3109516" w="3114674">
                <a:moveTo>
                  <a:pt x="518263" y="0"/>
                </a:moveTo>
                <a:lnTo>
                  <a:pt x="2596411" y="0"/>
                </a:lnTo>
                <a:cubicBezTo>
                  <a:pt x="2882640" y="0"/>
                  <a:pt x="3114674" y="232034"/>
                  <a:pt x="3114674" y="518263"/>
                </a:cubicBezTo>
                <a:lnTo>
                  <a:pt x="3114674" y="2591253"/>
                </a:lnTo>
                <a:cubicBezTo>
                  <a:pt x="3114674" y="2877482"/>
                  <a:pt x="2882640" y="3109516"/>
                  <a:pt x="2596411" y="3109516"/>
                </a:cubicBezTo>
                <a:lnTo>
                  <a:pt x="518263" y="3109516"/>
                </a:lnTo>
                <a:cubicBezTo>
                  <a:pt x="232034" y="3109516"/>
                  <a:pt x="0" y="2877482"/>
                  <a:pt x="0" y="2591253"/>
                </a:cubicBezTo>
                <a:lnTo>
                  <a:pt x="0" y="518263"/>
                </a:lnTo>
                <a:cubicBezTo>
                  <a:pt x="0" y="232034"/>
                  <a:pt x="232034" y="0"/>
                  <a:pt x="518263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329" name="Google Shape;329;p11"/>
          <p:cNvSpPr txBox="1"/>
          <p:nvPr/>
        </p:nvSpPr>
        <p:spPr>
          <a:xfrm>
            <a:off x="3048000" y="1181100"/>
            <a:ext cx="13182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000">
                <a:solidFill>
                  <a:srgbClr val="44CCE5"/>
                </a:solidFill>
                <a:latin typeface="Arial"/>
                <a:ea typeface="Arial"/>
                <a:cs typeface="Arial"/>
                <a:sym typeface="Arial"/>
              </a:rPr>
              <a:t>제약현장의 어려움</a:t>
            </a:r>
            <a:endParaRPr sz="6000">
              <a:solidFill>
                <a:srgbClr val="00B0F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1"/>
          <p:cNvSpPr txBox="1"/>
          <p:nvPr/>
        </p:nvSpPr>
        <p:spPr>
          <a:xfrm>
            <a:off x="1284302" y="6941236"/>
            <a:ext cx="35450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정보 검색의 반복과 누락</a:t>
            </a:r>
            <a:endParaRPr/>
          </a:p>
        </p:txBody>
      </p:sp>
      <p:sp>
        <p:nvSpPr>
          <p:cNvPr id="331" name="Google Shape;331;p11"/>
          <p:cNvSpPr/>
          <p:nvPr/>
        </p:nvSpPr>
        <p:spPr>
          <a:xfrm>
            <a:off x="8229600" y="3769439"/>
            <a:ext cx="5357892" cy="1451301"/>
          </a:xfrm>
          <a:prstGeom prst="roundRect">
            <a:avLst>
              <a:gd fmla="val 16667" name="adj"/>
            </a:avLst>
          </a:prstGeom>
          <a:solidFill>
            <a:srgbClr val="DAE5F1"/>
          </a:solidFill>
          <a:ln cap="flat" cmpd="sng" w="25400">
            <a:solidFill>
              <a:srgbClr val="C5D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건강보험공단</a:t>
            </a:r>
            <a:endParaRPr/>
          </a:p>
        </p:txBody>
      </p:sp>
      <p:sp>
        <p:nvSpPr>
          <p:cNvPr id="332" name="Google Shape;332;p11"/>
          <p:cNvSpPr/>
          <p:nvPr/>
        </p:nvSpPr>
        <p:spPr>
          <a:xfrm>
            <a:off x="8229600" y="7047544"/>
            <a:ext cx="5357892" cy="1451301"/>
          </a:xfrm>
          <a:prstGeom prst="roundRect">
            <a:avLst>
              <a:gd fmla="val 16667" name="adj"/>
            </a:avLst>
          </a:prstGeom>
          <a:solidFill>
            <a:srgbClr val="DAE5F1"/>
          </a:solidFill>
          <a:ln cap="flat" cmpd="sng" w="25400">
            <a:solidFill>
              <a:srgbClr val="C5D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회사 수익 70%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3" name="Google Shape;333;p11"/>
          <p:cNvCxnSpPr>
            <a:stCxn id="331" idx="2"/>
            <a:endCxn id="332" idx="0"/>
          </p:cNvCxnSpPr>
          <p:nvPr/>
        </p:nvCxnSpPr>
        <p:spPr>
          <a:xfrm>
            <a:off x="10908546" y="5220740"/>
            <a:ext cx="0" cy="1826700"/>
          </a:xfrm>
          <a:prstGeom prst="straightConnector1">
            <a:avLst/>
          </a:prstGeom>
          <a:noFill/>
          <a:ln cap="flat" cmpd="sng" w="9525">
            <a:solidFill>
              <a:srgbClr val="44CCE5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334" name="Google Shape;334;p11"/>
          <p:cNvGrpSpPr/>
          <p:nvPr/>
        </p:nvGrpSpPr>
        <p:grpSpPr>
          <a:xfrm>
            <a:off x="9053862" y="5728026"/>
            <a:ext cx="3517368" cy="837738"/>
            <a:chOff x="9637800" y="7856617"/>
            <a:chExt cx="3517368" cy="837738"/>
          </a:xfrm>
        </p:grpSpPr>
        <p:sp>
          <p:nvSpPr>
            <p:cNvPr id="335" name="Google Shape;335;p11"/>
            <p:cNvSpPr/>
            <p:nvPr/>
          </p:nvSpPr>
          <p:spPr>
            <a:xfrm>
              <a:off x="9829800" y="7856617"/>
              <a:ext cx="3325368" cy="837738"/>
            </a:xfrm>
            <a:prstGeom prst="roundRect">
              <a:avLst>
                <a:gd fmla="val 16667" name="adj"/>
              </a:avLst>
            </a:prstGeom>
            <a:solidFill>
              <a:srgbClr val="DAE5F1"/>
            </a:solidFill>
            <a:ln cap="flat" cmpd="sng" w="25400">
              <a:solidFill>
                <a:srgbClr val="C5D8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3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급여 코드 필요</a:t>
              </a:r>
              <a:endParaRPr/>
            </a:p>
          </p:txBody>
        </p:sp>
        <p:pic>
          <p:nvPicPr>
            <p:cNvPr id="336" name="Google Shape;336;p11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9637800" y="8025132"/>
              <a:ext cx="606742" cy="60674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37" name="Google Shape;337;p1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4859000" y="5289657"/>
            <a:ext cx="1688970" cy="168897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11"/>
          <p:cNvSpPr txBox="1"/>
          <p:nvPr/>
        </p:nvSpPr>
        <p:spPr>
          <a:xfrm>
            <a:off x="14735086" y="7199860"/>
            <a:ext cx="193679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PM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물음표 단색으로 채워진" id="339" name="Google Shape;339;p1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6214683" y="4763540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" name="Google Shape;345;p12"/>
          <p:cNvPicPr preferRelativeResize="0"/>
          <p:nvPr/>
        </p:nvPicPr>
        <p:blipFill rotWithShape="1">
          <a:blip r:embed="rId3">
            <a:alphaModFix amt="51000"/>
          </a:blip>
          <a:srcRect b="0" l="0" r="0" t="0"/>
          <a:stretch/>
        </p:blipFill>
        <p:spPr>
          <a:xfrm>
            <a:off x="-134667" y="-876300"/>
            <a:ext cx="11849100" cy="10071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12"/>
          <p:cNvPicPr preferRelativeResize="0"/>
          <p:nvPr/>
        </p:nvPicPr>
        <p:blipFill rotWithShape="1">
          <a:blip r:embed="rId4">
            <a:alphaModFix amt="8000"/>
          </a:blip>
          <a:srcRect b="0" l="0" r="0" t="0"/>
          <a:stretch/>
        </p:blipFill>
        <p:spPr>
          <a:xfrm rot="5400000">
            <a:off x="4006850" y="-4019550"/>
            <a:ext cx="10299701" cy="1831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76200" y="10172700"/>
            <a:ext cx="184277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10172700"/>
            <a:ext cx="91440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27101" y="673100"/>
            <a:ext cx="1993901" cy="2019300"/>
          </a:xfrm>
          <a:prstGeom prst="rect">
            <a:avLst/>
          </a:prstGeom>
          <a:noFill/>
          <a:ln>
            <a:noFill/>
          </a:ln>
          <a:effectLst>
            <a:outerShdw blurRad="39714" dir="5400000" dist="122887">
              <a:srgbClr val="344096">
                <a:alpha val="15686"/>
              </a:srgbClr>
            </a:outerShdw>
          </a:effectLst>
        </p:spPr>
      </p:pic>
      <p:sp>
        <p:nvSpPr>
          <p:cNvPr id="350" name="Google Shape;350;p12"/>
          <p:cNvSpPr txBox="1"/>
          <p:nvPr/>
        </p:nvSpPr>
        <p:spPr>
          <a:xfrm>
            <a:off x="3048000" y="1181100"/>
            <a:ext cx="13182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000">
                <a:solidFill>
                  <a:srgbClr val="44CCE5"/>
                </a:solidFill>
                <a:latin typeface="Arial"/>
                <a:ea typeface="Arial"/>
                <a:cs typeface="Arial"/>
                <a:sym typeface="Arial"/>
              </a:rPr>
              <a:t>제약현장의 어려움</a:t>
            </a:r>
            <a:endParaRPr sz="6000">
              <a:solidFill>
                <a:srgbClr val="00B0F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2"/>
          <p:cNvSpPr/>
          <p:nvPr/>
        </p:nvSpPr>
        <p:spPr>
          <a:xfrm>
            <a:off x="1218963" y="3383410"/>
            <a:ext cx="3800474" cy="5692397"/>
          </a:xfrm>
          <a:prstGeom prst="roundRect">
            <a:avLst>
              <a:gd fmla="val 16667" name="adj"/>
            </a:avLst>
          </a:prstGeom>
          <a:solidFill>
            <a:srgbClr val="DAE5F1"/>
          </a:solidFill>
          <a:ln cap="flat" cmpd="sng" w="25400">
            <a:solidFill>
              <a:srgbClr val="C5D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2"/>
          <p:cNvSpPr txBox="1"/>
          <p:nvPr/>
        </p:nvSpPr>
        <p:spPr>
          <a:xfrm>
            <a:off x="1298856" y="7261028"/>
            <a:ext cx="3695183" cy="14165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85765" lvl="0" marL="285765" marR="0" rtl="0" algn="l">
              <a:lnSpc>
                <a:spcPct val="15106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40개이상의 거래처, 50~60개이상의 제품이 섞여있음.</a:t>
            </a:r>
            <a:endParaRPr/>
          </a:p>
          <a:p>
            <a:pPr indent="-285765" lvl="0" marL="285765" marR="0" rtl="0" algn="l">
              <a:lnSpc>
                <a:spcPct val="15106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실적형태가 복잡하여 실적 분석이 어려움.</a:t>
            </a:r>
            <a:endParaRPr/>
          </a:p>
          <a:p>
            <a:pPr indent="-285765" lvl="0" marL="285765" marR="0" rtl="0" algn="l">
              <a:lnSpc>
                <a:spcPct val="15106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관리자도 현장직이라 부하직원의 실적관리 어려움</a:t>
            </a:r>
            <a:endParaRPr/>
          </a:p>
        </p:txBody>
      </p:sp>
      <p:sp>
        <p:nvSpPr>
          <p:cNvPr id="353" name="Google Shape;353;p12"/>
          <p:cNvSpPr txBox="1"/>
          <p:nvPr/>
        </p:nvSpPr>
        <p:spPr>
          <a:xfrm>
            <a:off x="1219496" y="6941236"/>
            <a:ext cx="36951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실적 분석의 어려움과 전략 부재</a:t>
            </a:r>
            <a:endParaRPr/>
          </a:p>
        </p:txBody>
      </p:sp>
      <p:sp>
        <p:nvSpPr>
          <p:cNvPr id="354" name="Google Shape;354;p12"/>
          <p:cNvSpPr/>
          <p:nvPr/>
        </p:nvSpPr>
        <p:spPr>
          <a:xfrm>
            <a:off x="8763000" y="3386731"/>
            <a:ext cx="5357892" cy="1451301"/>
          </a:xfrm>
          <a:prstGeom prst="roundRect">
            <a:avLst>
              <a:gd fmla="val 16667" name="adj"/>
            </a:avLst>
          </a:prstGeom>
          <a:solidFill>
            <a:srgbClr val="DAE5F1"/>
          </a:solidFill>
          <a:ln cap="flat" cmpd="sng" w="25400">
            <a:solidFill>
              <a:srgbClr val="C5D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영업 사원</a:t>
            </a:r>
            <a:endParaRPr/>
          </a:p>
        </p:txBody>
      </p:sp>
      <p:sp>
        <p:nvSpPr>
          <p:cNvPr id="355" name="Google Shape;355;p12"/>
          <p:cNvSpPr/>
          <p:nvPr/>
        </p:nvSpPr>
        <p:spPr>
          <a:xfrm>
            <a:off x="8763000" y="5400597"/>
            <a:ext cx="5357892" cy="1451301"/>
          </a:xfrm>
          <a:prstGeom prst="roundRect">
            <a:avLst>
              <a:gd fmla="val 16667" name="adj"/>
            </a:avLst>
          </a:prstGeom>
          <a:solidFill>
            <a:srgbClr val="DAE5F1"/>
          </a:solidFill>
          <a:ln cap="flat" cmpd="sng" w="25400">
            <a:solidFill>
              <a:srgbClr val="C5D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거래처( 30~40개 )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2"/>
          <p:cNvSpPr/>
          <p:nvPr/>
        </p:nvSpPr>
        <p:spPr>
          <a:xfrm>
            <a:off x="8763000" y="7414463"/>
            <a:ext cx="5357892" cy="1451301"/>
          </a:xfrm>
          <a:prstGeom prst="roundRect">
            <a:avLst>
              <a:gd fmla="val 16667" name="adj"/>
            </a:avLst>
          </a:prstGeom>
          <a:solidFill>
            <a:srgbClr val="DAE5F1"/>
          </a:solidFill>
          <a:ln cap="flat" cmpd="sng" w="25400">
            <a:solidFill>
              <a:srgbClr val="C5D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제품( 60개 이상 )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사람, 실내, 의류, 사무용품이(가) 표시된 사진&#10;&#10;AI 생성 콘텐츠는 정확하지 않을 수 있습니다." id="357" name="Google Shape;357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561863" y="3771901"/>
            <a:ext cx="3114674" cy="3114674"/>
          </a:xfrm>
          <a:custGeom>
            <a:rect b="b" l="l" r="r" t="t"/>
            <a:pathLst>
              <a:path extrusionOk="0" h="3109516" w="3114674">
                <a:moveTo>
                  <a:pt x="518263" y="0"/>
                </a:moveTo>
                <a:lnTo>
                  <a:pt x="2596411" y="0"/>
                </a:lnTo>
                <a:cubicBezTo>
                  <a:pt x="2882640" y="0"/>
                  <a:pt x="3114674" y="232034"/>
                  <a:pt x="3114674" y="518263"/>
                </a:cubicBezTo>
                <a:lnTo>
                  <a:pt x="3114674" y="2591253"/>
                </a:lnTo>
                <a:cubicBezTo>
                  <a:pt x="3114674" y="2877482"/>
                  <a:pt x="2882640" y="3109516"/>
                  <a:pt x="2596411" y="3109516"/>
                </a:cubicBezTo>
                <a:lnTo>
                  <a:pt x="518263" y="3109516"/>
                </a:lnTo>
                <a:cubicBezTo>
                  <a:pt x="232034" y="3109516"/>
                  <a:pt x="0" y="2877482"/>
                  <a:pt x="0" y="2591253"/>
                </a:cubicBezTo>
                <a:lnTo>
                  <a:pt x="0" y="518263"/>
                </a:lnTo>
                <a:cubicBezTo>
                  <a:pt x="0" y="232034"/>
                  <a:pt x="232034" y="0"/>
                  <a:pt x="518263" y="0"/>
                </a:cubicBezTo>
                <a:close/>
              </a:path>
            </a:pathLst>
          </a:custGeom>
          <a:noFill/>
          <a:ln>
            <a:noFill/>
          </a:ln>
        </p:spPr>
      </p:pic>
      <p:cxnSp>
        <p:nvCxnSpPr>
          <p:cNvPr id="358" name="Google Shape;358;p12"/>
          <p:cNvCxnSpPr>
            <a:stCxn id="354" idx="2"/>
            <a:endCxn id="355" idx="0"/>
          </p:cNvCxnSpPr>
          <p:nvPr/>
        </p:nvCxnSpPr>
        <p:spPr>
          <a:xfrm>
            <a:off x="11441946" y="4838032"/>
            <a:ext cx="0" cy="562500"/>
          </a:xfrm>
          <a:prstGeom prst="straightConnector1">
            <a:avLst/>
          </a:prstGeom>
          <a:noFill/>
          <a:ln cap="flat" cmpd="sng" w="9525">
            <a:solidFill>
              <a:srgbClr val="44CCE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9" name="Google Shape;359;p12"/>
          <p:cNvCxnSpPr>
            <a:stCxn id="355" idx="2"/>
            <a:endCxn id="356" idx="0"/>
          </p:cNvCxnSpPr>
          <p:nvPr/>
        </p:nvCxnSpPr>
        <p:spPr>
          <a:xfrm>
            <a:off x="11441946" y="6851898"/>
            <a:ext cx="0" cy="562500"/>
          </a:xfrm>
          <a:prstGeom prst="straightConnector1">
            <a:avLst/>
          </a:prstGeom>
          <a:noFill/>
          <a:ln cap="flat" cmpd="sng" w="9525">
            <a:solidFill>
              <a:srgbClr val="44CCE5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13"/>
          <p:cNvPicPr preferRelativeResize="0"/>
          <p:nvPr/>
        </p:nvPicPr>
        <p:blipFill rotWithShape="1">
          <a:blip r:embed="rId3">
            <a:alphaModFix amt="51000"/>
          </a:blip>
          <a:srcRect b="0" l="0" r="0" t="0"/>
          <a:stretch/>
        </p:blipFill>
        <p:spPr>
          <a:xfrm>
            <a:off x="-134667" y="-876300"/>
            <a:ext cx="11849100" cy="10071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13"/>
          <p:cNvPicPr preferRelativeResize="0"/>
          <p:nvPr/>
        </p:nvPicPr>
        <p:blipFill rotWithShape="1">
          <a:blip r:embed="rId4">
            <a:alphaModFix amt="8000"/>
          </a:blip>
          <a:srcRect b="0" l="0" r="0" t="0"/>
          <a:stretch/>
        </p:blipFill>
        <p:spPr>
          <a:xfrm rot="5400000">
            <a:off x="4006850" y="-4019550"/>
            <a:ext cx="10299701" cy="1831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76200" y="10172700"/>
            <a:ext cx="184277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10172700"/>
            <a:ext cx="91440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27101" y="673100"/>
            <a:ext cx="1993901" cy="2019300"/>
          </a:xfrm>
          <a:prstGeom prst="rect">
            <a:avLst/>
          </a:prstGeom>
          <a:noFill/>
          <a:ln>
            <a:noFill/>
          </a:ln>
          <a:effectLst>
            <a:outerShdw blurRad="39714" dir="5400000" dist="122887">
              <a:srgbClr val="344096">
                <a:alpha val="15686"/>
              </a:srgbClr>
            </a:outerShdw>
          </a:effectLst>
        </p:spPr>
      </p:pic>
      <p:sp>
        <p:nvSpPr>
          <p:cNvPr id="370" name="Google Shape;370;p13"/>
          <p:cNvSpPr txBox="1"/>
          <p:nvPr/>
        </p:nvSpPr>
        <p:spPr>
          <a:xfrm>
            <a:off x="3048000" y="1181100"/>
            <a:ext cx="13182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000">
                <a:solidFill>
                  <a:srgbClr val="44CCE5"/>
                </a:solidFill>
                <a:latin typeface="Arial"/>
                <a:ea typeface="Arial"/>
                <a:cs typeface="Arial"/>
                <a:sym typeface="Arial"/>
              </a:rPr>
              <a:t>제약현장의 어려움</a:t>
            </a:r>
            <a:endParaRPr sz="6000">
              <a:solidFill>
                <a:srgbClr val="00B0F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3"/>
          <p:cNvSpPr/>
          <p:nvPr/>
        </p:nvSpPr>
        <p:spPr>
          <a:xfrm>
            <a:off x="1218963" y="3383410"/>
            <a:ext cx="3800474" cy="5692397"/>
          </a:xfrm>
          <a:prstGeom prst="roundRect">
            <a:avLst>
              <a:gd fmla="val 16667" name="adj"/>
            </a:avLst>
          </a:prstGeom>
          <a:solidFill>
            <a:srgbClr val="DAE5F1"/>
          </a:solidFill>
          <a:ln cap="flat" cmpd="sng" w="25400">
            <a:solidFill>
              <a:srgbClr val="C5D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의류, 사람, 바지, 인간의 얼굴이(가) 표시된 사진&#10;&#10;AI 생성 콘텐츠는 정확하지 않을 수 있습니다." id="372" name="Google Shape;372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561863" y="3771901"/>
            <a:ext cx="3114674" cy="3114674"/>
          </a:xfrm>
          <a:custGeom>
            <a:rect b="b" l="l" r="r" t="t"/>
            <a:pathLst>
              <a:path extrusionOk="0" h="3109516" w="3114674">
                <a:moveTo>
                  <a:pt x="518263" y="0"/>
                </a:moveTo>
                <a:lnTo>
                  <a:pt x="2596411" y="0"/>
                </a:lnTo>
                <a:cubicBezTo>
                  <a:pt x="2882640" y="0"/>
                  <a:pt x="3114674" y="232034"/>
                  <a:pt x="3114674" y="518263"/>
                </a:cubicBezTo>
                <a:lnTo>
                  <a:pt x="3114674" y="2591253"/>
                </a:lnTo>
                <a:cubicBezTo>
                  <a:pt x="3114674" y="2877482"/>
                  <a:pt x="2882640" y="3109516"/>
                  <a:pt x="2596411" y="3109516"/>
                </a:cubicBezTo>
                <a:lnTo>
                  <a:pt x="518263" y="3109516"/>
                </a:lnTo>
                <a:cubicBezTo>
                  <a:pt x="232034" y="3109516"/>
                  <a:pt x="0" y="2877482"/>
                  <a:pt x="0" y="2591253"/>
                </a:cubicBezTo>
                <a:lnTo>
                  <a:pt x="0" y="518263"/>
                </a:lnTo>
                <a:cubicBezTo>
                  <a:pt x="0" y="232034"/>
                  <a:pt x="232034" y="0"/>
                  <a:pt x="518263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373" name="Google Shape;373;p13"/>
          <p:cNvSpPr txBox="1"/>
          <p:nvPr/>
        </p:nvSpPr>
        <p:spPr>
          <a:xfrm>
            <a:off x="1298856" y="7261028"/>
            <a:ext cx="3695183" cy="14165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85765" lvl="0" marL="285765" marR="0" rtl="0" algn="l">
              <a:lnSpc>
                <a:spcPct val="15106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거래처 수가 많고 거래처의 트렌드 및 성향을 정확하게 파악하기 어려움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65" lvl="0" marL="285765" marR="0" rtl="0" algn="l">
              <a:lnSpc>
                <a:spcPct val="15106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이때문에 감에 의존한 영업을 진행하여 효율성 저하</a:t>
            </a:r>
            <a:endParaRPr/>
          </a:p>
        </p:txBody>
      </p:sp>
      <p:sp>
        <p:nvSpPr>
          <p:cNvPr id="374" name="Google Shape;374;p13"/>
          <p:cNvSpPr txBox="1"/>
          <p:nvPr/>
        </p:nvSpPr>
        <p:spPr>
          <a:xfrm>
            <a:off x="1219496" y="6941236"/>
            <a:ext cx="36951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고객 관리 단절 및 분산된 정보</a:t>
            </a:r>
            <a:endParaRPr/>
          </a:p>
        </p:txBody>
      </p:sp>
      <p:sp>
        <p:nvSpPr>
          <p:cNvPr id="375" name="Google Shape;375;p13"/>
          <p:cNvSpPr/>
          <p:nvPr/>
        </p:nvSpPr>
        <p:spPr>
          <a:xfrm>
            <a:off x="8763000" y="3391030"/>
            <a:ext cx="5357892" cy="1451301"/>
          </a:xfrm>
          <a:prstGeom prst="roundRect">
            <a:avLst>
              <a:gd fmla="val 16667" name="adj"/>
            </a:avLst>
          </a:prstGeom>
          <a:solidFill>
            <a:srgbClr val="DAE5F1"/>
          </a:solidFill>
          <a:ln cap="flat" cmpd="sng" w="25400">
            <a:solidFill>
              <a:srgbClr val="C5D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문서화 되지 않은 노하우</a:t>
            </a:r>
            <a:endParaRPr/>
          </a:p>
        </p:txBody>
      </p:sp>
      <p:sp>
        <p:nvSpPr>
          <p:cNvPr id="376" name="Google Shape;376;p13"/>
          <p:cNvSpPr/>
          <p:nvPr/>
        </p:nvSpPr>
        <p:spPr>
          <a:xfrm>
            <a:off x="8763000" y="5404896"/>
            <a:ext cx="5357892" cy="1451301"/>
          </a:xfrm>
          <a:prstGeom prst="roundRect">
            <a:avLst>
              <a:gd fmla="val 16667" name="adj"/>
            </a:avLst>
          </a:prstGeom>
          <a:solidFill>
            <a:srgbClr val="DAE5F1"/>
          </a:solidFill>
          <a:ln cap="flat" cmpd="sng" w="25400">
            <a:solidFill>
              <a:srgbClr val="C5D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문서의 파편화</a:t>
            </a:r>
            <a:endParaRPr/>
          </a:p>
        </p:txBody>
      </p:sp>
      <p:sp>
        <p:nvSpPr>
          <p:cNvPr id="377" name="Google Shape;377;p13"/>
          <p:cNvSpPr/>
          <p:nvPr/>
        </p:nvSpPr>
        <p:spPr>
          <a:xfrm>
            <a:off x="8763000" y="7418762"/>
            <a:ext cx="5357892" cy="1451301"/>
          </a:xfrm>
          <a:prstGeom prst="roundRect">
            <a:avLst>
              <a:gd fmla="val 16667" name="adj"/>
            </a:avLst>
          </a:prstGeom>
          <a:solidFill>
            <a:srgbClr val="DAE5F1"/>
          </a:solidFill>
          <a:ln cap="flat" cmpd="sng" w="25400">
            <a:solidFill>
              <a:srgbClr val="C5D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단절되는 인수인계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3" name="Google Shape;383;p14"/>
          <p:cNvPicPr preferRelativeResize="0"/>
          <p:nvPr/>
        </p:nvPicPr>
        <p:blipFill rotWithShape="1">
          <a:blip r:embed="rId3">
            <a:alphaModFix amt="51000"/>
          </a:blip>
          <a:srcRect b="0" l="0" r="0" t="0"/>
          <a:stretch/>
        </p:blipFill>
        <p:spPr>
          <a:xfrm>
            <a:off x="-134667" y="-876300"/>
            <a:ext cx="11849100" cy="10071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14"/>
          <p:cNvPicPr preferRelativeResize="0"/>
          <p:nvPr/>
        </p:nvPicPr>
        <p:blipFill rotWithShape="1">
          <a:blip r:embed="rId4">
            <a:alphaModFix amt="8000"/>
          </a:blip>
          <a:srcRect b="0" l="0" r="0" t="0"/>
          <a:stretch/>
        </p:blipFill>
        <p:spPr>
          <a:xfrm rot="5400000">
            <a:off x="4006850" y="-4019550"/>
            <a:ext cx="10299701" cy="1831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76200" y="10172700"/>
            <a:ext cx="184277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10172700"/>
            <a:ext cx="91440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27101" y="673100"/>
            <a:ext cx="1993901" cy="2019300"/>
          </a:xfrm>
          <a:prstGeom prst="rect">
            <a:avLst/>
          </a:prstGeom>
          <a:noFill/>
          <a:ln>
            <a:noFill/>
          </a:ln>
          <a:effectLst>
            <a:outerShdw blurRad="39714" dir="5400000" dist="122887">
              <a:srgbClr val="344096">
                <a:alpha val="15686"/>
              </a:srgbClr>
            </a:outerShdw>
          </a:effectLst>
        </p:spPr>
      </p:pic>
      <p:sp>
        <p:nvSpPr>
          <p:cNvPr id="388" name="Google Shape;388;p14"/>
          <p:cNvSpPr txBox="1"/>
          <p:nvPr/>
        </p:nvSpPr>
        <p:spPr>
          <a:xfrm>
            <a:off x="3048000" y="1181100"/>
            <a:ext cx="13182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000">
                <a:solidFill>
                  <a:srgbClr val="44CCE5"/>
                </a:solidFill>
                <a:latin typeface="Arial"/>
                <a:ea typeface="Arial"/>
                <a:cs typeface="Arial"/>
                <a:sym typeface="Arial"/>
              </a:rPr>
              <a:t>제약현장의 어려움</a:t>
            </a:r>
            <a:endParaRPr sz="6000">
              <a:solidFill>
                <a:srgbClr val="00B0F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4"/>
          <p:cNvSpPr/>
          <p:nvPr/>
        </p:nvSpPr>
        <p:spPr>
          <a:xfrm>
            <a:off x="1218963" y="3383410"/>
            <a:ext cx="3800474" cy="5692397"/>
          </a:xfrm>
          <a:prstGeom prst="roundRect">
            <a:avLst>
              <a:gd fmla="val 16667" name="adj"/>
            </a:avLst>
          </a:prstGeom>
          <a:solidFill>
            <a:srgbClr val="DAE5F1"/>
          </a:solidFill>
          <a:ln cap="flat" cmpd="sng" w="25400">
            <a:solidFill>
              <a:srgbClr val="C5D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4"/>
          <p:cNvSpPr txBox="1"/>
          <p:nvPr/>
        </p:nvSpPr>
        <p:spPr>
          <a:xfrm>
            <a:off x="1298856" y="7261028"/>
            <a:ext cx="3695183" cy="14165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85765" lvl="0" marL="285765" marR="0" rtl="0" algn="l">
              <a:lnSpc>
                <a:spcPct val="15106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최신 법령이나 내부 규정 반영 여부 확인이 어려움</a:t>
            </a:r>
            <a:endParaRPr/>
          </a:p>
          <a:p>
            <a:pPr indent="-285765" lvl="0" marL="285765" marR="0" rtl="0" algn="l">
              <a:lnSpc>
                <a:spcPct val="15106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컴플라이언스에 민감한 업무라 여러번의 확인으로 리소스 낭비</a:t>
            </a:r>
            <a:endParaRPr/>
          </a:p>
        </p:txBody>
      </p:sp>
      <p:sp>
        <p:nvSpPr>
          <p:cNvPr id="391" name="Google Shape;391;p14"/>
          <p:cNvSpPr txBox="1"/>
          <p:nvPr/>
        </p:nvSpPr>
        <p:spPr>
          <a:xfrm>
            <a:off x="1219496" y="6941236"/>
            <a:ext cx="36951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컴플라이언스 리스크</a:t>
            </a:r>
            <a:endParaRPr/>
          </a:p>
        </p:txBody>
      </p:sp>
      <p:sp>
        <p:nvSpPr>
          <p:cNvPr id="392" name="Google Shape;392;p14"/>
          <p:cNvSpPr/>
          <p:nvPr/>
        </p:nvSpPr>
        <p:spPr>
          <a:xfrm>
            <a:off x="8763000" y="3391030"/>
            <a:ext cx="5357892" cy="1451301"/>
          </a:xfrm>
          <a:prstGeom prst="roundRect">
            <a:avLst>
              <a:gd fmla="val 16667" name="adj"/>
            </a:avLst>
          </a:prstGeom>
          <a:solidFill>
            <a:srgbClr val="DAE5F1"/>
          </a:solidFill>
          <a:ln cap="flat" cmpd="sng" w="25400">
            <a:solidFill>
              <a:srgbClr val="C5D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강한 의료법 규제</a:t>
            </a:r>
            <a:endParaRPr/>
          </a:p>
        </p:txBody>
      </p:sp>
      <p:sp>
        <p:nvSpPr>
          <p:cNvPr id="393" name="Google Shape;393;p14"/>
          <p:cNvSpPr/>
          <p:nvPr/>
        </p:nvSpPr>
        <p:spPr>
          <a:xfrm>
            <a:off x="8763000" y="5404896"/>
            <a:ext cx="5357892" cy="1451301"/>
          </a:xfrm>
          <a:prstGeom prst="roundRect">
            <a:avLst>
              <a:gd fmla="val 16667" name="adj"/>
            </a:avLst>
          </a:prstGeom>
          <a:solidFill>
            <a:srgbClr val="DAE5F1"/>
          </a:solidFill>
          <a:ln cap="flat" cmpd="sng" w="25400">
            <a:solidFill>
              <a:srgbClr val="C5D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반복적 검토와 승인</a:t>
            </a:r>
            <a:endParaRPr/>
          </a:p>
        </p:txBody>
      </p:sp>
      <p:sp>
        <p:nvSpPr>
          <p:cNvPr id="394" name="Google Shape;394;p14"/>
          <p:cNvSpPr/>
          <p:nvPr/>
        </p:nvSpPr>
        <p:spPr>
          <a:xfrm>
            <a:off x="8763000" y="7418762"/>
            <a:ext cx="5357892" cy="1451301"/>
          </a:xfrm>
          <a:prstGeom prst="roundRect">
            <a:avLst>
              <a:gd fmla="val 16667" name="adj"/>
            </a:avLst>
          </a:prstGeom>
          <a:solidFill>
            <a:srgbClr val="DAE5F1"/>
          </a:solidFill>
          <a:ln cap="flat" cmpd="sng" w="25400">
            <a:solidFill>
              <a:srgbClr val="C5D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리소스와 시간의 낭비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사람, 의류, 인간의 얼굴, 노트북이(가) 표시된 사진&#10;&#10;AI 생성 콘텐츠는 정확하지 않을 수 있습니다." id="395" name="Google Shape;395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561863" y="3771901"/>
            <a:ext cx="3114674" cy="3114674"/>
          </a:xfrm>
          <a:custGeom>
            <a:rect b="b" l="l" r="r" t="t"/>
            <a:pathLst>
              <a:path extrusionOk="0" h="3109516" w="3114674">
                <a:moveTo>
                  <a:pt x="518263" y="0"/>
                </a:moveTo>
                <a:lnTo>
                  <a:pt x="2596411" y="0"/>
                </a:lnTo>
                <a:cubicBezTo>
                  <a:pt x="2882640" y="0"/>
                  <a:pt x="3114674" y="232034"/>
                  <a:pt x="3114674" y="518263"/>
                </a:cubicBezTo>
                <a:lnTo>
                  <a:pt x="3114674" y="2591253"/>
                </a:lnTo>
                <a:cubicBezTo>
                  <a:pt x="3114674" y="2877482"/>
                  <a:pt x="2882640" y="3109516"/>
                  <a:pt x="2596411" y="3109516"/>
                </a:cubicBezTo>
                <a:lnTo>
                  <a:pt x="518263" y="3109516"/>
                </a:lnTo>
                <a:cubicBezTo>
                  <a:pt x="232034" y="3109516"/>
                  <a:pt x="0" y="2877482"/>
                  <a:pt x="0" y="2591253"/>
                </a:cubicBezTo>
                <a:lnTo>
                  <a:pt x="0" y="518263"/>
                </a:lnTo>
                <a:cubicBezTo>
                  <a:pt x="0" y="232034"/>
                  <a:pt x="232034" y="0"/>
                  <a:pt x="518263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15"/>
          <p:cNvPicPr preferRelativeResize="0"/>
          <p:nvPr/>
        </p:nvPicPr>
        <p:blipFill rotWithShape="1">
          <a:blip r:embed="rId3">
            <a:alphaModFix amt="8000"/>
          </a:blip>
          <a:srcRect b="0" l="0" r="0" t="0"/>
          <a:stretch/>
        </p:blipFill>
        <p:spPr>
          <a:xfrm rot="5400000">
            <a:off x="4044950" y="-4033521"/>
            <a:ext cx="10299701" cy="1831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76200" y="10172700"/>
            <a:ext cx="184277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10172700"/>
            <a:ext cx="91440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15"/>
          <p:cNvSpPr/>
          <p:nvPr/>
        </p:nvSpPr>
        <p:spPr>
          <a:xfrm>
            <a:off x="3875089" y="305383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5" name="Google Shape;40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95422" y="3239769"/>
            <a:ext cx="3530600" cy="5943600"/>
          </a:xfrm>
          <a:prstGeom prst="rect">
            <a:avLst/>
          </a:prstGeom>
          <a:noFill/>
          <a:ln>
            <a:noFill/>
          </a:ln>
          <a:effectLst>
            <a:outerShdw blurRad="105336" dir="5400000" dist="133720">
              <a:srgbClr val="CDD9ED">
                <a:alpha val="40784"/>
              </a:srgbClr>
            </a:outerShdw>
          </a:effectLst>
        </p:spPr>
      </p:pic>
      <p:sp>
        <p:nvSpPr>
          <p:cNvPr id="406" name="Google Shape;406;p15"/>
          <p:cNvSpPr txBox="1"/>
          <p:nvPr/>
        </p:nvSpPr>
        <p:spPr>
          <a:xfrm>
            <a:off x="1414199" y="3750917"/>
            <a:ext cx="3493046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ko-K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데이터베이스 자동 업데이트 및 검색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5"/>
          <p:cNvSpPr txBox="1"/>
          <p:nvPr/>
        </p:nvSpPr>
        <p:spPr>
          <a:xfrm>
            <a:off x="1698718" y="6484289"/>
            <a:ext cx="2924009" cy="19399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65" lvl="0" marL="28576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1"/>
              <a:buFont typeface="Arial"/>
              <a:buChar char="•"/>
            </a:pPr>
            <a:r>
              <a:rPr lang="ko-KR" sz="160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사용자 업로드 문서 반영</a:t>
            </a:r>
            <a:endParaRPr sz="160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65" lvl="0" marL="28576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1"/>
              <a:buFont typeface="Arial"/>
              <a:buChar char="•"/>
            </a:pPr>
            <a:r>
              <a:rPr lang="ko-KR" sz="160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Airflow를 활용한 외부 문서 자동 수집</a:t>
            </a:r>
            <a:endParaRPr sz="160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65" lvl="0" marL="28576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1"/>
              <a:buFont typeface="Arial"/>
              <a:buChar char="•"/>
            </a:pPr>
            <a:r>
              <a:rPr lang="ko-KR" sz="160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문맥 파악이 가능한 자연어 기반 검색</a:t>
            </a:r>
            <a:endParaRPr sz="160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8" name="Google Shape;408;p15"/>
          <p:cNvGrpSpPr/>
          <p:nvPr/>
        </p:nvGrpSpPr>
        <p:grpSpPr>
          <a:xfrm>
            <a:off x="5384275" y="3247389"/>
            <a:ext cx="3530600" cy="5943600"/>
            <a:chOff x="1309534" y="2389747"/>
            <a:chExt cx="3530600" cy="5943600"/>
          </a:xfrm>
        </p:grpSpPr>
        <p:pic>
          <p:nvPicPr>
            <p:cNvPr id="409" name="Google Shape;409;p1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309534" y="2389747"/>
              <a:ext cx="3530600" cy="5943600"/>
            </a:xfrm>
            <a:prstGeom prst="rect">
              <a:avLst/>
            </a:prstGeom>
            <a:noFill/>
            <a:ln>
              <a:noFill/>
            </a:ln>
            <a:effectLst>
              <a:outerShdw blurRad="105336" dir="5400000" dist="133720">
                <a:srgbClr val="CDD9ED">
                  <a:alpha val="40784"/>
                </a:srgbClr>
              </a:outerShdw>
            </a:effectLst>
          </p:spPr>
        </p:pic>
        <p:sp>
          <p:nvSpPr>
            <p:cNvPr id="410" name="Google Shape;410;p15"/>
            <p:cNvSpPr txBox="1"/>
            <p:nvPr/>
          </p:nvSpPr>
          <p:spPr>
            <a:xfrm>
              <a:off x="1328311" y="2874223"/>
              <a:ext cx="3493046" cy="5078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직원 실적 분석 및 보고서 작성</a:t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1" name="Google Shape;411;p15"/>
          <p:cNvGrpSpPr/>
          <p:nvPr/>
        </p:nvGrpSpPr>
        <p:grpSpPr>
          <a:xfrm>
            <a:off x="9373129" y="3255009"/>
            <a:ext cx="3530600" cy="5943600"/>
            <a:chOff x="1309534" y="2389747"/>
            <a:chExt cx="3530600" cy="5943600"/>
          </a:xfrm>
        </p:grpSpPr>
        <p:pic>
          <p:nvPicPr>
            <p:cNvPr id="412" name="Google Shape;412;p1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309534" y="2389747"/>
              <a:ext cx="3530600" cy="5943600"/>
            </a:xfrm>
            <a:prstGeom prst="rect">
              <a:avLst/>
            </a:prstGeom>
            <a:noFill/>
            <a:ln>
              <a:noFill/>
            </a:ln>
            <a:effectLst>
              <a:outerShdw blurRad="105336" dir="5400000" dist="133720">
                <a:srgbClr val="CDD9ED">
                  <a:alpha val="40784"/>
                </a:srgbClr>
              </a:outerShdw>
            </a:effectLst>
          </p:spPr>
        </p:pic>
        <p:sp>
          <p:nvSpPr>
            <p:cNvPr id="413" name="Google Shape;413;p15"/>
            <p:cNvSpPr txBox="1"/>
            <p:nvPr/>
          </p:nvSpPr>
          <p:spPr>
            <a:xfrm>
              <a:off x="1328311" y="2874223"/>
              <a:ext cx="3493046" cy="5078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ko-KR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거래처 실적 분석 및 등급 분류</a:t>
              </a:r>
              <a:endParaRPr/>
            </a:p>
          </p:txBody>
        </p:sp>
      </p:grpSp>
      <p:grpSp>
        <p:nvGrpSpPr>
          <p:cNvPr id="414" name="Google Shape;414;p15"/>
          <p:cNvGrpSpPr/>
          <p:nvPr/>
        </p:nvGrpSpPr>
        <p:grpSpPr>
          <a:xfrm>
            <a:off x="13361981" y="3289301"/>
            <a:ext cx="3530600" cy="5943600"/>
            <a:chOff x="1309534" y="2389747"/>
            <a:chExt cx="3530600" cy="5943600"/>
          </a:xfrm>
        </p:grpSpPr>
        <p:pic>
          <p:nvPicPr>
            <p:cNvPr id="415" name="Google Shape;415;p1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309534" y="2389747"/>
              <a:ext cx="3530600" cy="5943600"/>
            </a:xfrm>
            <a:prstGeom prst="rect">
              <a:avLst/>
            </a:prstGeom>
            <a:noFill/>
            <a:ln>
              <a:noFill/>
            </a:ln>
            <a:effectLst>
              <a:outerShdw blurRad="105336" dir="5400000" dist="133720">
                <a:srgbClr val="CDD9ED">
                  <a:alpha val="40784"/>
                </a:srgbClr>
              </a:outerShdw>
            </a:effectLst>
          </p:spPr>
        </p:pic>
        <p:sp>
          <p:nvSpPr>
            <p:cNvPr id="416" name="Google Shape;416;p15"/>
            <p:cNvSpPr txBox="1"/>
            <p:nvPr/>
          </p:nvSpPr>
          <p:spPr>
            <a:xfrm>
              <a:off x="1328311" y="2874223"/>
              <a:ext cx="3493046" cy="5078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ko-KR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서류 자동화 및 규정 검토</a:t>
              </a:r>
              <a:endParaRPr/>
            </a:p>
          </p:txBody>
        </p:sp>
      </p:grpSp>
      <p:grpSp>
        <p:nvGrpSpPr>
          <p:cNvPr id="417" name="Google Shape;417;p15"/>
          <p:cNvGrpSpPr/>
          <p:nvPr/>
        </p:nvGrpSpPr>
        <p:grpSpPr>
          <a:xfrm>
            <a:off x="2311011" y="4902955"/>
            <a:ext cx="1699419" cy="1444508"/>
            <a:chOff x="2841578" y="5717461"/>
            <a:chExt cx="1699419" cy="1444508"/>
          </a:xfrm>
        </p:grpSpPr>
        <p:pic>
          <p:nvPicPr>
            <p:cNvPr id="418" name="Google Shape;418;p1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841578" y="5937687"/>
              <a:ext cx="1224282" cy="12242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9" name="Google Shape;419;p1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453719" y="5717461"/>
              <a:ext cx="1087278" cy="108727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20" name="Google Shape;420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27321" y="4896949"/>
            <a:ext cx="1444508" cy="1444508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416175" y="4896949"/>
            <a:ext cx="1444508" cy="1444508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4405027" y="4896949"/>
            <a:ext cx="1444508" cy="1444508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15"/>
          <p:cNvSpPr txBox="1"/>
          <p:nvPr/>
        </p:nvSpPr>
        <p:spPr>
          <a:xfrm>
            <a:off x="5686592" y="6484289"/>
            <a:ext cx="2924009" cy="1570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65" lvl="0" marL="28576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1"/>
              <a:buFont typeface="Arial"/>
              <a:buChar char="•"/>
            </a:pPr>
            <a:r>
              <a:rPr lang="ko-KR" sz="160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실적 분석을 통해 요약 보고서를 생성</a:t>
            </a:r>
            <a:endParaRPr sz="160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65" lvl="0" marL="28576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1"/>
              <a:buFont typeface="Arial"/>
              <a:buChar char="•"/>
            </a:pPr>
            <a:r>
              <a:rPr lang="ko-KR" sz="160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관리자는 직원 추천 기능 사용 가능</a:t>
            </a:r>
            <a:endParaRPr sz="160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5"/>
          <p:cNvSpPr txBox="1"/>
          <p:nvPr/>
        </p:nvSpPr>
        <p:spPr>
          <a:xfrm>
            <a:off x="9674468" y="6484289"/>
            <a:ext cx="2924009" cy="1570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65" lvl="0" marL="28576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1"/>
              <a:buFont typeface="Arial"/>
              <a:buChar char="•"/>
            </a:pPr>
            <a:r>
              <a:rPr lang="ko-KR" sz="160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고객 등급 분류</a:t>
            </a:r>
            <a:endParaRPr sz="160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65" lvl="0" marL="28576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1"/>
              <a:buFont typeface="Arial"/>
              <a:buChar char="•"/>
            </a:pPr>
            <a:r>
              <a:rPr lang="ko-KR" sz="160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영업 리소스 배분에 필요한 문서/절차 자동 제시</a:t>
            </a:r>
            <a:endParaRPr/>
          </a:p>
          <a:p>
            <a:pPr indent="-184101" lvl="0" marL="28576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1"/>
              <a:buFont typeface="Arial"/>
              <a:buNone/>
            </a:pPr>
            <a:r>
              <a:t/>
            </a:r>
            <a:endParaRPr sz="160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5"/>
          <p:cNvSpPr txBox="1"/>
          <p:nvPr/>
        </p:nvSpPr>
        <p:spPr>
          <a:xfrm>
            <a:off x="13662343" y="6484289"/>
            <a:ext cx="2924009" cy="1570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65" lvl="0" marL="28576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1"/>
              <a:buFont typeface="Arial"/>
              <a:buChar char="•"/>
            </a:pPr>
            <a:r>
              <a:rPr lang="ko-KR" sz="160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보고서, 계획서, 전표, 계약서 등 주요 문서를 자동 생성</a:t>
            </a:r>
            <a:endParaRPr sz="160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65" lvl="0" marL="28576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1"/>
              <a:buFont typeface="Arial"/>
              <a:buChar char="•"/>
            </a:pPr>
            <a:r>
              <a:rPr lang="ko-KR" sz="160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내부 규정 및 의약법 위반 여부 검토</a:t>
            </a:r>
            <a:endParaRPr sz="160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6" name="Google Shape;426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798894" y="2621012"/>
            <a:ext cx="995184" cy="1041750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15"/>
          <p:cNvSpPr txBox="1"/>
          <p:nvPr/>
        </p:nvSpPr>
        <p:spPr>
          <a:xfrm>
            <a:off x="2895212" y="2786477"/>
            <a:ext cx="784985" cy="6161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000">
                <a:solidFill>
                  <a:srgbClr val="11359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6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8" name="Google Shape;428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663506" y="2599872"/>
            <a:ext cx="995184" cy="1041750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15"/>
          <p:cNvSpPr txBox="1"/>
          <p:nvPr/>
        </p:nvSpPr>
        <p:spPr>
          <a:xfrm>
            <a:off x="6759824" y="2765338"/>
            <a:ext cx="784985" cy="6161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000">
                <a:solidFill>
                  <a:srgbClr val="11359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6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0" name="Google Shape;430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587216" y="2552700"/>
            <a:ext cx="995184" cy="1041750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15"/>
          <p:cNvSpPr txBox="1"/>
          <p:nvPr/>
        </p:nvSpPr>
        <p:spPr>
          <a:xfrm>
            <a:off x="10683533" y="2718166"/>
            <a:ext cx="784985" cy="6161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000">
                <a:solidFill>
                  <a:srgbClr val="11359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6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2" name="Google Shape;432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4641212" y="2546301"/>
            <a:ext cx="995184" cy="104175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15"/>
          <p:cNvSpPr txBox="1"/>
          <p:nvPr/>
        </p:nvSpPr>
        <p:spPr>
          <a:xfrm>
            <a:off x="14737529" y="2711767"/>
            <a:ext cx="784985" cy="6161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000">
                <a:solidFill>
                  <a:srgbClr val="11359A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6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4" name="Google Shape;434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27101" y="673100"/>
            <a:ext cx="1993901" cy="2019300"/>
          </a:xfrm>
          <a:prstGeom prst="rect">
            <a:avLst/>
          </a:prstGeom>
          <a:noFill/>
          <a:ln>
            <a:noFill/>
          </a:ln>
          <a:effectLst>
            <a:outerShdw blurRad="39714" dir="5400000" dist="122887">
              <a:srgbClr val="344096">
                <a:alpha val="15686"/>
              </a:srgbClr>
            </a:outerShdw>
          </a:effectLst>
        </p:spPr>
      </p:pic>
      <p:sp>
        <p:nvSpPr>
          <p:cNvPr id="435" name="Google Shape;435;p15"/>
          <p:cNvSpPr txBox="1"/>
          <p:nvPr/>
        </p:nvSpPr>
        <p:spPr>
          <a:xfrm>
            <a:off x="3048000" y="1181100"/>
            <a:ext cx="13182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000">
                <a:solidFill>
                  <a:srgbClr val="44CCE5"/>
                </a:solidFill>
                <a:latin typeface="Arial"/>
                <a:ea typeface="Arial"/>
                <a:cs typeface="Arial"/>
                <a:sym typeface="Arial"/>
              </a:rPr>
              <a:t>솔루션 </a:t>
            </a:r>
            <a:endParaRPr sz="6000">
              <a:solidFill>
                <a:srgbClr val="44CCE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1" name="Google Shape;441;p16"/>
          <p:cNvPicPr preferRelativeResize="0"/>
          <p:nvPr/>
        </p:nvPicPr>
        <p:blipFill rotWithShape="1">
          <a:blip r:embed="rId3">
            <a:alphaModFix amt="8000"/>
          </a:blip>
          <a:srcRect b="0" l="0" r="0" t="0"/>
          <a:stretch/>
        </p:blipFill>
        <p:spPr>
          <a:xfrm rot="5400000">
            <a:off x="4006850" y="-4019550"/>
            <a:ext cx="10299701" cy="1831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76200" y="10172700"/>
            <a:ext cx="184277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10172700"/>
            <a:ext cx="91440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0700" y="228600"/>
            <a:ext cx="1993901" cy="2019300"/>
          </a:xfrm>
          <a:prstGeom prst="rect">
            <a:avLst/>
          </a:prstGeom>
          <a:noFill/>
          <a:ln>
            <a:noFill/>
          </a:ln>
          <a:effectLst>
            <a:outerShdw blurRad="39714" dir="5400000" dist="122887">
              <a:srgbClr val="344096">
                <a:alpha val="15686"/>
              </a:srgbClr>
            </a:outerShdw>
          </a:effectLst>
        </p:spPr>
      </p:pic>
      <p:sp>
        <p:nvSpPr>
          <p:cNvPr id="445" name="Google Shape;445;p16"/>
          <p:cNvSpPr txBox="1"/>
          <p:nvPr/>
        </p:nvSpPr>
        <p:spPr>
          <a:xfrm>
            <a:off x="2590801" y="647700"/>
            <a:ext cx="14436755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60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일 잘하는 제약사원의 AI파트너, NaruTalk</a:t>
            </a:r>
            <a:endParaRPr b="1" sz="6000">
              <a:solidFill>
                <a:srgbClr val="3660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6"/>
          <p:cNvSpPr txBox="1"/>
          <p:nvPr/>
        </p:nvSpPr>
        <p:spPr>
          <a:xfrm>
            <a:off x="2160165" y="973283"/>
            <a:ext cx="16127835" cy="135081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400">
                <a:solidFill>
                  <a:srgbClr val="538CD5"/>
                </a:solidFill>
                <a:latin typeface="Arial"/>
                <a:ea typeface="Arial"/>
                <a:cs typeface="Arial"/>
                <a:sym typeface="Arial"/>
              </a:rPr>
              <a:t>문서부터 실적까지, 당신의 영업을 완성하는 디지털 분신 : </a:t>
            </a:r>
            <a:r>
              <a:rPr lang="ko-KR" sz="2400">
                <a:solidFill>
                  <a:srgbClr val="538CD5"/>
                </a:solidFill>
                <a:latin typeface="Arial"/>
                <a:ea typeface="Arial"/>
                <a:cs typeface="Arial"/>
                <a:sym typeface="Arial"/>
              </a:rPr>
              <a:t>나루톡과 함께라면, 고객에만 집중할 수 있습니다.</a:t>
            </a:r>
            <a:endParaRPr sz="2400">
              <a:solidFill>
                <a:srgbClr val="538CD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실내, 의류, 벽, 사람이(가) 표시된 사진&#10;&#10;AI 생성 콘텐츠는 정확하지 않을 수 있습니다." id="447" name="Google Shape;447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78917" y="2781301"/>
            <a:ext cx="9970083" cy="5438228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16"/>
          <p:cNvSpPr txBox="1"/>
          <p:nvPr/>
        </p:nvSpPr>
        <p:spPr>
          <a:xfrm>
            <a:off x="11430000" y="3252038"/>
            <a:ext cx="6248400" cy="48005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57223" lvl="0" marL="457223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Noto Sans Symbols"/>
              <a:buChar char="●"/>
            </a:pPr>
            <a:r>
              <a:rPr lang="ko-KR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내부 문서, 직원정보, 규정 검색</a:t>
            </a:r>
            <a:br>
              <a:rPr lang="ko-KR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-KR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/>
          </a:p>
          <a:p>
            <a:pPr indent="-457223" lvl="0" marL="457223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Noto Sans Symbols"/>
              <a:buChar char="●"/>
            </a:pPr>
            <a:r>
              <a:rPr lang="ko-KR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복잡한 영업 데이터를 한 번에 분석</a:t>
            </a:r>
            <a:br>
              <a:rPr lang="ko-KR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23" lvl="0" marL="457223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Noto Sans Symbols"/>
              <a:buChar char="●"/>
            </a:pPr>
            <a:r>
              <a:rPr lang="ko-KR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거래처 분석과 리스크 관리까지 지원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73" lvl="0" marL="457223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Noto Sans Symbols"/>
              <a:buNone/>
            </a:pPr>
            <a:r>
              <a:t/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23" lvl="0" marL="457223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Noto Sans Symbols"/>
              <a:buChar char="●"/>
            </a:pPr>
            <a:r>
              <a:rPr lang="ko-KR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하나의 챗팅에서 모든기능을 사용</a:t>
            </a:r>
            <a:br>
              <a:rPr lang="ko-KR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-KR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/>
          </a:p>
          <a:p>
            <a:pPr indent="-457223" lvl="0" marL="457223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Noto Sans Symbols"/>
              <a:buChar char="●"/>
            </a:pPr>
            <a:r>
              <a:rPr lang="ko-KR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 기반 제약 영업 전문 비서, NaruTalk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6"/>
          <p:cNvSpPr txBox="1"/>
          <p:nvPr/>
        </p:nvSpPr>
        <p:spPr>
          <a:xfrm>
            <a:off x="990600" y="8648701"/>
            <a:ext cx="17449800" cy="8104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59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NaruTalk(나루톡) : </a:t>
            </a:r>
            <a:br>
              <a:rPr lang="ko-K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모든 기능의 허브라는 뜻의 순우리말 '나룻터' 와 대화를 주고받는 talk의 합성어로,사용자의 모든 생각과 행동을 연결해주는 디지털 분신 챗봇을 의미합니다.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5" name="Google Shape;455;p17"/>
          <p:cNvPicPr preferRelativeResize="0"/>
          <p:nvPr/>
        </p:nvPicPr>
        <p:blipFill rotWithShape="1">
          <a:blip r:embed="rId3">
            <a:alphaModFix amt="8000"/>
          </a:blip>
          <a:srcRect b="0" l="0" r="0" t="0"/>
          <a:stretch/>
        </p:blipFill>
        <p:spPr>
          <a:xfrm rot="5400000">
            <a:off x="4000501" y="-4000500"/>
            <a:ext cx="10299701" cy="1831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17"/>
          <p:cNvPicPr preferRelativeResize="0"/>
          <p:nvPr/>
        </p:nvPicPr>
        <p:blipFill rotWithShape="1">
          <a:blip r:embed="rId4">
            <a:alphaModFix amt="51000"/>
          </a:blip>
          <a:srcRect b="0" l="0" r="0" t="0"/>
          <a:stretch/>
        </p:blipFill>
        <p:spPr>
          <a:xfrm>
            <a:off x="4356101" y="-584200"/>
            <a:ext cx="11849100" cy="10071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76200" y="10172700"/>
            <a:ext cx="184277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10172700"/>
            <a:ext cx="91440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7"/>
          <p:cNvPicPr preferRelativeResize="0"/>
          <p:nvPr/>
        </p:nvPicPr>
        <p:blipFill rotWithShape="1">
          <a:blip r:embed="rId7">
            <a:alphaModFix amt="20000"/>
          </a:blip>
          <a:srcRect b="0" l="0" r="0" t="0"/>
          <a:stretch/>
        </p:blipFill>
        <p:spPr>
          <a:xfrm rot="5400000">
            <a:off x="9067800" y="5130800"/>
            <a:ext cx="8191500" cy="12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5671801" y="1308101"/>
            <a:ext cx="2082800" cy="19558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1" name="Google Shape;461;p17"/>
          <p:cNvGrpSpPr/>
          <p:nvPr/>
        </p:nvGrpSpPr>
        <p:grpSpPr>
          <a:xfrm>
            <a:off x="1354454" y="6060192"/>
            <a:ext cx="11137901" cy="2738621"/>
            <a:chOff x="1346201" y="1041401"/>
            <a:chExt cx="11137901" cy="2738621"/>
          </a:xfrm>
        </p:grpSpPr>
        <p:pic>
          <p:nvPicPr>
            <p:cNvPr id="462" name="Google Shape;462;p17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346201" y="1041401"/>
              <a:ext cx="11137901" cy="2738621"/>
            </a:xfrm>
            <a:prstGeom prst="rect">
              <a:avLst/>
            </a:prstGeom>
            <a:noFill/>
            <a:ln>
              <a:noFill/>
            </a:ln>
            <a:effectLst>
              <a:outerShdw blurRad="121066" dir="5400000" dist="143358">
                <a:srgbClr val="CDD9ED">
                  <a:alpha val="40784"/>
                </a:srgbClr>
              </a:outerShdw>
            </a:effectLst>
          </p:spPr>
        </p:pic>
        <p:sp>
          <p:nvSpPr>
            <p:cNvPr id="463" name="Google Shape;463;p17"/>
            <p:cNvSpPr txBox="1"/>
            <p:nvPr/>
          </p:nvSpPr>
          <p:spPr>
            <a:xfrm>
              <a:off x="2070101" y="2171703"/>
              <a:ext cx="10036175" cy="12191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5240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Char char="•"/>
              </a:pPr>
              <a:r>
                <a:rPr lang="ko-KR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단순 정보 제공 위주, 시스템 연동 및 최신 정보 반영 어려움</a:t>
              </a:r>
              <a:endParaRPr/>
            </a:p>
            <a:p>
              <a:pPr indent="-15240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Char char="•"/>
              </a:pPr>
              <a:r>
                <a:rPr lang="ko-KR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회의 예약, 일정관리, FAQ 수준에 머무름</a:t>
              </a:r>
              <a:endParaRPr/>
            </a:p>
            <a:p>
              <a:pPr indent="-15240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Char char="•"/>
              </a:pPr>
              <a:r>
                <a:rPr lang="ko-KR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복잡한 업무 지원에는 한계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17"/>
            <p:cNvSpPr txBox="1"/>
            <p:nvPr/>
          </p:nvSpPr>
          <p:spPr>
            <a:xfrm>
              <a:off x="2070101" y="1333501"/>
              <a:ext cx="9753600" cy="48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96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80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국내 제약 AI 서비스</a:t>
              </a:r>
              <a:endParaRPr sz="2700">
                <a:solidFill>
                  <a:srgbClr val="3958E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5" name="Google Shape;465;p17"/>
          <p:cNvSpPr txBox="1"/>
          <p:nvPr/>
        </p:nvSpPr>
        <p:spPr>
          <a:xfrm>
            <a:off x="13385801" y="4127501"/>
            <a:ext cx="4368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000">
                <a:solidFill>
                  <a:srgbClr val="44CCE5"/>
                </a:solidFill>
                <a:latin typeface="Arial"/>
                <a:ea typeface="Arial"/>
                <a:cs typeface="Arial"/>
                <a:sym typeface="Arial"/>
              </a:rPr>
              <a:t>국내 제약 </a:t>
            </a:r>
            <a:br>
              <a:rPr lang="ko-KR" sz="6000">
                <a:solidFill>
                  <a:srgbClr val="44CCE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-KR" sz="6000">
                <a:solidFill>
                  <a:srgbClr val="44CCE5"/>
                </a:solidFill>
                <a:latin typeface="Arial"/>
                <a:ea typeface="Arial"/>
                <a:cs typeface="Arial"/>
                <a:sym typeface="Arial"/>
              </a:rPr>
              <a:t>AI 현황</a:t>
            </a:r>
            <a:endParaRPr/>
          </a:p>
        </p:txBody>
      </p:sp>
      <p:sp>
        <p:nvSpPr>
          <p:cNvPr id="466" name="Google Shape;466;p17"/>
          <p:cNvSpPr txBox="1"/>
          <p:nvPr/>
        </p:nvSpPr>
        <p:spPr>
          <a:xfrm>
            <a:off x="9617077" y="5340352"/>
            <a:ext cx="9740900" cy="20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7" name="Google Shape;467;p17"/>
          <p:cNvGrpSpPr/>
          <p:nvPr/>
        </p:nvGrpSpPr>
        <p:grpSpPr>
          <a:xfrm>
            <a:off x="1354455" y="1631953"/>
            <a:ext cx="11137901" cy="3721100"/>
            <a:chOff x="1346201" y="5499101"/>
            <a:chExt cx="11137901" cy="3721100"/>
          </a:xfrm>
        </p:grpSpPr>
        <p:pic>
          <p:nvPicPr>
            <p:cNvPr id="468" name="Google Shape;468;p17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346201" y="5499101"/>
              <a:ext cx="11137901" cy="3721100"/>
            </a:xfrm>
            <a:prstGeom prst="rect">
              <a:avLst/>
            </a:prstGeom>
            <a:noFill/>
            <a:ln>
              <a:noFill/>
            </a:ln>
            <a:effectLst>
              <a:outerShdw blurRad="121066" dir="5400000" dist="143358">
                <a:srgbClr val="CDD9ED">
                  <a:alpha val="40784"/>
                </a:srgbClr>
              </a:outerShdw>
            </a:effectLst>
          </p:spPr>
        </p:pic>
        <p:pic>
          <p:nvPicPr>
            <p:cNvPr descr="텍스트, 스크린샷, 폰트, 라인이(가) 표시된 사진&#10;&#10;AI 생성 콘텐츠는 정확하지 않을 수 있습니다." id="469" name="Google Shape;469;p1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1556677" y="5905500"/>
              <a:ext cx="10748963" cy="303988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5" name="Google Shape;475;p18"/>
          <p:cNvPicPr preferRelativeResize="0"/>
          <p:nvPr/>
        </p:nvPicPr>
        <p:blipFill rotWithShape="1">
          <a:blip r:embed="rId3">
            <a:alphaModFix amt="8000"/>
          </a:blip>
          <a:srcRect b="0" l="0" r="0" t="0"/>
          <a:stretch/>
        </p:blipFill>
        <p:spPr>
          <a:xfrm rot="5400000">
            <a:off x="4040285" y="-4019550"/>
            <a:ext cx="10299701" cy="1831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18"/>
          <p:cNvPicPr preferRelativeResize="0"/>
          <p:nvPr/>
        </p:nvPicPr>
        <p:blipFill rotWithShape="1">
          <a:blip r:embed="rId3">
            <a:alphaModFix amt="8000"/>
          </a:blip>
          <a:srcRect b="0" l="0" r="0" t="0"/>
          <a:stretch/>
        </p:blipFill>
        <p:spPr>
          <a:xfrm rot="5400000">
            <a:off x="3930650" y="-4006849"/>
            <a:ext cx="10299701" cy="1831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76200" y="10172700"/>
            <a:ext cx="184277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10172700"/>
            <a:ext cx="91440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0401" y="1079501"/>
            <a:ext cx="2095500" cy="259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18"/>
          <p:cNvPicPr preferRelativeResize="0"/>
          <p:nvPr/>
        </p:nvPicPr>
        <p:blipFill rotWithShape="1">
          <a:blip r:embed="rId7">
            <a:alphaModFix amt="20000"/>
          </a:blip>
          <a:srcRect b="0" l="0" r="0" t="0"/>
          <a:stretch/>
        </p:blipFill>
        <p:spPr>
          <a:xfrm rot="5400000">
            <a:off x="736601" y="5130800"/>
            <a:ext cx="8191500" cy="12701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18"/>
          <p:cNvSpPr txBox="1"/>
          <p:nvPr/>
        </p:nvSpPr>
        <p:spPr>
          <a:xfrm>
            <a:off x="368300" y="2819400"/>
            <a:ext cx="4457700" cy="2895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500">
                <a:solidFill>
                  <a:srgbClr val="44CCE5"/>
                </a:solidFill>
                <a:latin typeface="Arial"/>
                <a:ea typeface="Arial"/>
                <a:cs typeface="Arial"/>
                <a:sym typeface="Arial"/>
              </a:rPr>
              <a:t>NaruTalk</a:t>
            </a:r>
            <a:br>
              <a:rPr lang="ko-KR" sz="4500">
                <a:solidFill>
                  <a:srgbClr val="44CCE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-KR" sz="4500">
                <a:solidFill>
                  <a:srgbClr val="44CCE5"/>
                </a:solidFill>
                <a:latin typeface="Arial"/>
                <a:ea typeface="Arial"/>
                <a:cs typeface="Arial"/>
                <a:sym typeface="Arial"/>
              </a:rPr>
              <a:t>차별성</a:t>
            </a:r>
            <a:endParaRPr/>
          </a:p>
        </p:txBody>
      </p:sp>
      <p:pic>
        <p:nvPicPr>
          <p:cNvPr id="482" name="Google Shape;482;p18"/>
          <p:cNvPicPr preferRelativeResize="0"/>
          <p:nvPr/>
        </p:nvPicPr>
        <p:blipFill rotWithShape="1">
          <a:blip r:embed="rId8">
            <a:alphaModFix amt="54000"/>
          </a:blip>
          <a:srcRect b="0" l="0" r="0" t="0"/>
          <a:stretch/>
        </p:blipFill>
        <p:spPr>
          <a:xfrm rot="10800000">
            <a:off x="5664202" y="4813301"/>
            <a:ext cx="4711700" cy="12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p18"/>
          <p:cNvPicPr preferRelativeResize="0"/>
          <p:nvPr/>
        </p:nvPicPr>
        <p:blipFill rotWithShape="1">
          <a:blip r:embed="rId8">
            <a:alphaModFix amt="54000"/>
          </a:blip>
          <a:srcRect b="0" l="0" r="0" t="0"/>
          <a:stretch/>
        </p:blipFill>
        <p:spPr>
          <a:xfrm rot="10800000">
            <a:off x="12560302" y="4813301"/>
            <a:ext cx="4711700" cy="12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205983" y="6031666"/>
            <a:ext cx="12663938" cy="3671138"/>
          </a:xfrm>
          <a:prstGeom prst="rect">
            <a:avLst/>
          </a:prstGeom>
          <a:noFill/>
          <a:ln>
            <a:noFill/>
          </a:ln>
          <a:effectLst>
            <a:outerShdw blurRad="254833" dir="5400000" dist="207988">
              <a:srgbClr val="CDD9ED">
                <a:alpha val="40784"/>
              </a:srgbClr>
            </a:outerShdw>
          </a:effectLst>
        </p:spPr>
      </p:pic>
      <p:pic>
        <p:nvPicPr>
          <p:cNvPr descr="스크린샷, 직사각형, 도표, 사각형이(가) 표시된 사진&#10;&#10;AI 생성 콘텐츠는 정확하지 않을 수 있습니다." id="485" name="Google Shape;485;p18"/>
          <p:cNvPicPr preferRelativeResize="0"/>
          <p:nvPr/>
        </p:nvPicPr>
        <p:blipFill rotWithShape="1">
          <a:blip r:embed="rId10">
            <a:alphaModFix/>
          </a:blip>
          <a:srcRect b="0" l="0" r="2656" t="0"/>
          <a:stretch/>
        </p:blipFill>
        <p:spPr>
          <a:xfrm>
            <a:off x="11526177" y="934394"/>
            <a:ext cx="6304623" cy="4894907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18"/>
          <p:cNvSpPr txBox="1"/>
          <p:nvPr/>
        </p:nvSpPr>
        <p:spPr>
          <a:xfrm>
            <a:off x="5655732" y="7043021"/>
            <a:ext cx="9279468" cy="2342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57223" lvl="0" marL="457223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1"/>
              <a:buFont typeface="Arial"/>
              <a:buChar char="•"/>
            </a:pPr>
            <a:r>
              <a:rPr lang="ko-KR" sz="280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문서 생성부터 규정 검토까지, 전 과정 자동화</a:t>
            </a:r>
            <a:endParaRPr/>
          </a:p>
          <a:p>
            <a:pPr indent="-457223" lvl="0" marL="457223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1"/>
              <a:buFont typeface="Arial"/>
              <a:buChar char="•"/>
            </a:pPr>
            <a:r>
              <a:rPr lang="ko-KR" sz="280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자연어 기반 검색 + 최신 데이터 반영으로 정확도 향상</a:t>
            </a:r>
            <a:endParaRPr/>
          </a:p>
          <a:p>
            <a:pPr indent="-457223" lvl="0" marL="457223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1"/>
              <a:buFont typeface="Arial"/>
              <a:buChar char="•"/>
            </a:pPr>
            <a:r>
              <a:rPr lang="ko-KR" sz="280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직원·거래처 분석을 통한 전략 수립까지 지원</a:t>
            </a:r>
            <a:endParaRPr/>
          </a:p>
          <a:p>
            <a:pPr indent="-457223" lvl="0" marL="457223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1"/>
              <a:buFont typeface="Arial"/>
              <a:buChar char="•"/>
            </a:pPr>
            <a:r>
              <a:rPr lang="ko-KR" sz="280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기존 챗봇과 달리, ‘실행 중심’ 기능 구현</a:t>
            </a:r>
            <a:endParaRPr/>
          </a:p>
        </p:txBody>
      </p:sp>
      <p:sp>
        <p:nvSpPr>
          <p:cNvPr id="487" name="Google Shape;487;p18"/>
          <p:cNvSpPr txBox="1"/>
          <p:nvPr/>
        </p:nvSpPr>
        <p:spPr>
          <a:xfrm>
            <a:off x="4343401" y="6451601"/>
            <a:ext cx="6027077" cy="444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NaruTalk 장점</a:t>
            </a:r>
            <a:endParaRPr/>
          </a:p>
        </p:txBody>
      </p:sp>
      <p:pic>
        <p:nvPicPr>
          <p:cNvPr descr="텍스트, 스크린샷, 폰트, 번호이(가) 표시된 사진&#10;&#10;AI 생성 콘텐츠는 정확하지 않을 수 있습니다." id="488" name="Google Shape;488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240436" y="897359"/>
            <a:ext cx="6171441" cy="49319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19"/>
          <p:cNvPicPr preferRelativeResize="0"/>
          <p:nvPr/>
        </p:nvPicPr>
        <p:blipFill rotWithShape="1">
          <a:blip r:embed="rId3">
            <a:alphaModFix amt="8000"/>
          </a:blip>
          <a:srcRect b="0" l="0" r="0" t="0"/>
          <a:stretch/>
        </p:blipFill>
        <p:spPr>
          <a:xfrm rot="5400000">
            <a:off x="4000501" y="-4000500"/>
            <a:ext cx="10299701" cy="1831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p19"/>
          <p:cNvPicPr preferRelativeResize="0"/>
          <p:nvPr/>
        </p:nvPicPr>
        <p:blipFill rotWithShape="1">
          <a:blip r:embed="rId4">
            <a:alphaModFix amt="51000"/>
          </a:blip>
          <a:srcRect b="0" l="0" r="0" t="0"/>
          <a:stretch/>
        </p:blipFill>
        <p:spPr>
          <a:xfrm>
            <a:off x="4356101" y="-584200"/>
            <a:ext cx="11849100" cy="10071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76200" y="10172700"/>
            <a:ext cx="184277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10172700"/>
            <a:ext cx="91440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27101" y="673100"/>
            <a:ext cx="1993901" cy="2019300"/>
          </a:xfrm>
          <a:prstGeom prst="rect">
            <a:avLst/>
          </a:prstGeom>
          <a:noFill/>
          <a:ln>
            <a:noFill/>
          </a:ln>
          <a:effectLst>
            <a:outerShdw blurRad="39714" dir="5400000" dist="122887">
              <a:srgbClr val="344096">
                <a:alpha val="15686"/>
              </a:srgbClr>
            </a:outerShdw>
          </a:effectLst>
        </p:spPr>
      </p:pic>
      <p:sp>
        <p:nvSpPr>
          <p:cNvPr id="498" name="Google Shape;498;p19"/>
          <p:cNvSpPr txBox="1"/>
          <p:nvPr/>
        </p:nvSpPr>
        <p:spPr>
          <a:xfrm>
            <a:off x="11811000" y="5473702"/>
            <a:ext cx="4572000" cy="9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28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5301">
                <a:solidFill>
                  <a:srgbClr val="3958E3"/>
                </a:solidFill>
                <a:latin typeface="Arial"/>
                <a:ea typeface="Arial"/>
                <a:cs typeface="Arial"/>
                <a:sym typeface="Arial"/>
              </a:rPr>
              <a:t>진행 현황</a:t>
            </a:r>
            <a:endParaRPr/>
          </a:p>
        </p:txBody>
      </p:sp>
      <p:sp>
        <p:nvSpPr>
          <p:cNvPr id="499" name="Google Shape;499;p19"/>
          <p:cNvSpPr txBox="1"/>
          <p:nvPr/>
        </p:nvSpPr>
        <p:spPr>
          <a:xfrm>
            <a:off x="774701" y="4025902"/>
            <a:ext cx="15608300" cy="10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62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201">
                <a:solidFill>
                  <a:srgbClr val="3958E3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5" name="Google Shape;505;p20"/>
          <p:cNvPicPr preferRelativeResize="0"/>
          <p:nvPr/>
        </p:nvPicPr>
        <p:blipFill rotWithShape="1">
          <a:blip r:embed="rId3">
            <a:alphaModFix amt="8000"/>
          </a:blip>
          <a:srcRect b="0" l="0" r="0" t="0"/>
          <a:stretch/>
        </p:blipFill>
        <p:spPr>
          <a:xfrm rot="5400000">
            <a:off x="4000501" y="-4000500"/>
            <a:ext cx="10299701" cy="1831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p20"/>
          <p:cNvPicPr preferRelativeResize="0"/>
          <p:nvPr/>
        </p:nvPicPr>
        <p:blipFill rotWithShape="1">
          <a:blip r:embed="rId4">
            <a:alphaModFix amt="51000"/>
          </a:blip>
          <a:srcRect b="0" l="0" r="0" t="0"/>
          <a:stretch/>
        </p:blipFill>
        <p:spPr>
          <a:xfrm>
            <a:off x="4356101" y="-584200"/>
            <a:ext cx="11849100" cy="10071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76200" y="10172700"/>
            <a:ext cx="184277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10172700"/>
            <a:ext cx="91440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9" name="Google Shape;509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0401" y="723900"/>
            <a:ext cx="2095500" cy="259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p20"/>
          <p:cNvPicPr preferRelativeResize="0"/>
          <p:nvPr/>
        </p:nvPicPr>
        <p:blipFill rotWithShape="1">
          <a:blip r:embed="rId8">
            <a:alphaModFix amt="20000"/>
          </a:blip>
          <a:srcRect b="0" l="0" r="0" t="0"/>
          <a:stretch/>
        </p:blipFill>
        <p:spPr>
          <a:xfrm rot="5400000">
            <a:off x="736601" y="5130800"/>
            <a:ext cx="8191500" cy="12701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20"/>
          <p:cNvSpPr txBox="1"/>
          <p:nvPr/>
        </p:nvSpPr>
        <p:spPr>
          <a:xfrm>
            <a:off x="368302" y="3759200"/>
            <a:ext cx="4368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rgbClr val="44CCE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20"/>
          <p:cNvSpPr txBox="1"/>
          <p:nvPr/>
        </p:nvSpPr>
        <p:spPr>
          <a:xfrm>
            <a:off x="5448301" y="1333500"/>
            <a:ext cx="4902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3000">
                <a:solidFill>
                  <a:srgbClr val="344096"/>
                </a:solidFill>
                <a:latin typeface="Arial"/>
                <a:ea typeface="Arial"/>
                <a:cs typeface="Arial"/>
                <a:sym typeface="Arial"/>
              </a:rPr>
              <a:t>노션 기반으로 일정 관리</a:t>
            </a:r>
            <a:endParaRPr/>
          </a:p>
        </p:txBody>
      </p:sp>
      <p:pic>
        <p:nvPicPr>
          <p:cNvPr id="513" name="Google Shape;513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37119" y="5067301"/>
            <a:ext cx="4499982" cy="2240882"/>
          </a:xfrm>
          <a:prstGeom prst="rect">
            <a:avLst/>
          </a:prstGeom>
          <a:noFill/>
          <a:ln>
            <a:noFill/>
          </a:ln>
          <a:effectLst>
            <a:outerShdw blurRad="105336" dir="5400000" dist="133720">
              <a:srgbClr val="CDD9ED">
                <a:alpha val="40784"/>
              </a:srgbClr>
            </a:outerShdw>
          </a:effectLst>
        </p:spPr>
      </p:pic>
      <p:pic>
        <p:nvPicPr>
          <p:cNvPr id="514" name="Google Shape;514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105401" y="2331956"/>
            <a:ext cx="12933275" cy="7383545"/>
          </a:xfrm>
          <a:prstGeom prst="rect">
            <a:avLst/>
          </a:prstGeom>
          <a:noFill/>
          <a:ln>
            <a:noFill/>
          </a:ln>
          <a:effectLst>
            <a:outerShdw blurRad="105336" dir="5400000" dist="133720">
              <a:srgbClr val="CDD9ED">
                <a:alpha val="40784"/>
              </a:srgbClr>
            </a:outerShdw>
          </a:effectLst>
        </p:spPr>
      </p:pic>
      <p:pic>
        <p:nvPicPr>
          <p:cNvPr id="515" name="Google Shape;515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37119" y="7429502"/>
            <a:ext cx="4499982" cy="2278145"/>
          </a:xfrm>
          <a:prstGeom prst="rect">
            <a:avLst/>
          </a:prstGeom>
          <a:noFill/>
          <a:ln>
            <a:noFill/>
          </a:ln>
          <a:effectLst>
            <a:outerShdw blurRad="105336" dir="5400000" dist="133720">
              <a:srgbClr val="CDD9ED">
                <a:alpha val="40784"/>
              </a:srgbClr>
            </a:outerShdw>
          </a:effectLst>
        </p:spPr>
      </p:pic>
      <p:pic>
        <p:nvPicPr>
          <p:cNvPr descr="Notion/using - 인코덤, 생물정보 전문위키" id="516" name="Google Shape;516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1350" y="5201265"/>
            <a:ext cx="640902" cy="640902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20"/>
          <p:cNvSpPr txBox="1"/>
          <p:nvPr/>
        </p:nvSpPr>
        <p:spPr>
          <a:xfrm>
            <a:off x="406402" y="3543300"/>
            <a:ext cx="4368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000">
                <a:solidFill>
                  <a:srgbClr val="44CCE5"/>
                </a:solidFill>
                <a:latin typeface="Arial"/>
                <a:ea typeface="Arial"/>
                <a:cs typeface="Arial"/>
                <a:sym typeface="Arial"/>
              </a:rPr>
              <a:t>일정 관리</a:t>
            </a:r>
            <a:endParaRPr sz="6000">
              <a:solidFill>
                <a:srgbClr val="44CCE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21"/>
          <p:cNvPicPr preferRelativeResize="0"/>
          <p:nvPr/>
        </p:nvPicPr>
        <p:blipFill rotWithShape="1">
          <a:blip r:embed="rId3">
            <a:alphaModFix amt="8000"/>
          </a:blip>
          <a:srcRect b="0" l="0" r="0" t="0"/>
          <a:stretch/>
        </p:blipFill>
        <p:spPr>
          <a:xfrm rot="5400000">
            <a:off x="4000500" y="-4000500"/>
            <a:ext cx="10299700" cy="1831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4" name="Google Shape;524;p21"/>
          <p:cNvPicPr preferRelativeResize="0"/>
          <p:nvPr/>
        </p:nvPicPr>
        <p:blipFill rotWithShape="1">
          <a:blip r:embed="rId4">
            <a:alphaModFix amt="51000"/>
          </a:blip>
          <a:srcRect b="0" l="0" r="0" t="0"/>
          <a:stretch/>
        </p:blipFill>
        <p:spPr>
          <a:xfrm>
            <a:off x="4356100" y="-584200"/>
            <a:ext cx="11849100" cy="1007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5" name="Google Shape;52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76200" y="10172700"/>
            <a:ext cx="184277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10172700"/>
            <a:ext cx="91440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3100" y="1054100"/>
            <a:ext cx="1993900" cy="2019300"/>
          </a:xfrm>
          <a:prstGeom prst="rect">
            <a:avLst/>
          </a:prstGeom>
          <a:noFill/>
          <a:ln>
            <a:noFill/>
          </a:ln>
          <a:effectLst>
            <a:outerShdw blurRad="39714" dir="5400000" dist="122887">
              <a:srgbClr val="344096">
                <a:alpha val="15686"/>
              </a:srgbClr>
            </a:outerShdw>
          </a:effectLst>
        </p:spPr>
      </p:pic>
      <p:sp>
        <p:nvSpPr>
          <p:cNvPr id="528" name="Google Shape;528;p21"/>
          <p:cNvSpPr txBox="1"/>
          <p:nvPr/>
        </p:nvSpPr>
        <p:spPr>
          <a:xfrm>
            <a:off x="406400" y="4826000"/>
            <a:ext cx="52451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800" u="none" strike="noStrike">
              <a:solidFill>
                <a:srgbClr val="44CCE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21"/>
          <p:cNvSpPr txBox="1"/>
          <p:nvPr/>
        </p:nvSpPr>
        <p:spPr>
          <a:xfrm>
            <a:off x="4851400" y="1066800"/>
            <a:ext cx="9245600" cy="6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3800" u="none" strike="noStrike">
                <a:solidFill>
                  <a:srgbClr val="344096"/>
                </a:solidFill>
                <a:latin typeface="Arial"/>
                <a:ea typeface="Arial"/>
                <a:cs typeface="Arial"/>
                <a:sym typeface="Arial"/>
              </a:rPr>
              <a:t>솔루션 아키텍처</a:t>
            </a:r>
            <a:endParaRPr/>
          </a:p>
        </p:txBody>
      </p:sp>
      <p:pic>
        <p:nvPicPr>
          <p:cNvPr descr="텍스트, 도표, 평면도, 스크린샷이(가) 표시된 사진&#10;&#10;AI 생성 콘텐츠는 정확하지 않을 수 있습니다." id="530" name="Google Shape;530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994607" y="2363920"/>
            <a:ext cx="12680640" cy="6807198"/>
          </a:xfrm>
          <a:prstGeom prst="rect">
            <a:avLst/>
          </a:prstGeom>
          <a:noFill/>
          <a:ln>
            <a:noFill/>
          </a:ln>
          <a:effectLst>
            <a:outerShdw blurRad="105336" dir="5400000" dist="133720">
              <a:srgbClr val="CDD9ED">
                <a:alpha val="40784"/>
              </a:srgbClr>
            </a:outerShdw>
          </a:effectLst>
        </p:spPr>
      </p:pic>
      <p:sp>
        <p:nvSpPr>
          <p:cNvPr id="531" name="Google Shape;531;p21"/>
          <p:cNvSpPr txBox="1"/>
          <p:nvPr/>
        </p:nvSpPr>
        <p:spPr>
          <a:xfrm>
            <a:off x="368300" y="3759200"/>
            <a:ext cx="4368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000">
                <a:solidFill>
                  <a:srgbClr val="44CCE5"/>
                </a:solidFill>
                <a:latin typeface="Arial"/>
                <a:ea typeface="Arial"/>
                <a:cs typeface="Arial"/>
                <a:sym typeface="Arial"/>
              </a:rPr>
              <a:t>기술 구조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" name="Google Shape;536;p22"/>
          <p:cNvPicPr preferRelativeResize="0"/>
          <p:nvPr/>
        </p:nvPicPr>
        <p:blipFill rotWithShape="1">
          <a:blip r:embed="rId3">
            <a:alphaModFix amt="8000"/>
          </a:blip>
          <a:srcRect b="0" l="0" r="0" t="0"/>
          <a:stretch/>
        </p:blipFill>
        <p:spPr>
          <a:xfrm rot="5400000">
            <a:off x="4076591" y="-4013200"/>
            <a:ext cx="10299700" cy="1831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7" name="Google Shape;537;p22"/>
          <p:cNvPicPr preferRelativeResize="0"/>
          <p:nvPr/>
        </p:nvPicPr>
        <p:blipFill rotWithShape="1">
          <a:blip r:embed="rId4">
            <a:alphaModFix amt="51000"/>
          </a:blip>
          <a:srcRect b="0" l="0" r="0" t="0"/>
          <a:stretch/>
        </p:blipFill>
        <p:spPr>
          <a:xfrm>
            <a:off x="4356100" y="-584200"/>
            <a:ext cx="11849100" cy="1007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8" name="Google Shape;538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76200" y="10172700"/>
            <a:ext cx="184277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9" name="Google Shape;539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10172700"/>
            <a:ext cx="91440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0" name="Google Shape;540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3100" y="1054100"/>
            <a:ext cx="1993900" cy="2019300"/>
          </a:xfrm>
          <a:prstGeom prst="rect">
            <a:avLst/>
          </a:prstGeom>
          <a:noFill/>
          <a:ln>
            <a:noFill/>
          </a:ln>
          <a:effectLst>
            <a:outerShdw blurRad="39714" dir="5400000" dist="122887">
              <a:srgbClr val="344096">
                <a:alpha val="15686"/>
              </a:srgbClr>
            </a:outerShdw>
          </a:effectLst>
        </p:spPr>
      </p:pic>
      <p:sp>
        <p:nvSpPr>
          <p:cNvPr id="541" name="Google Shape;541;p22"/>
          <p:cNvSpPr txBox="1"/>
          <p:nvPr/>
        </p:nvSpPr>
        <p:spPr>
          <a:xfrm>
            <a:off x="4851400" y="1066800"/>
            <a:ext cx="9245600" cy="6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800">
                <a:solidFill>
                  <a:srgbClr val="344096"/>
                </a:solidFill>
                <a:latin typeface="Arial"/>
                <a:ea typeface="Arial"/>
                <a:cs typeface="Arial"/>
                <a:sym typeface="Arial"/>
              </a:rPr>
              <a:t>데이터베이스 구조</a:t>
            </a:r>
            <a:endParaRPr b="0" i="0" sz="3800" u="none" strike="noStrike">
              <a:solidFill>
                <a:srgbClr val="34409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2" name="Google Shape;542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417300" y="3009900"/>
            <a:ext cx="3530600" cy="5943600"/>
          </a:xfrm>
          <a:prstGeom prst="rect">
            <a:avLst/>
          </a:prstGeom>
          <a:noFill/>
          <a:ln>
            <a:noFill/>
          </a:ln>
          <a:effectLst>
            <a:outerShdw blurRad="105336" dir="5400000" dist="133720">
              <a:srgbClr val="CDD9ED">
                <a:alpha val="40784"/>
              </a:srgbClr>
            </a:outerShdw>
          </a:effectLst>
        </p:spPr>
      </p:pic>
      <p:pic>
        <p:nvPicPr>
          <p:cNvPr id="543" name="Google Shape;543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378700" y="3009900"/>
            <a:ext cx="3517900" cy="5943600"/>
          </a:xfrm>
          <a:prstGeom prst="rect">
            <a:avLst/>
          </a:prstGeom>
          <a:noFill/>
          <a:ln>
            <a:noFill/>
          </a:ln>
          <a:effectLst>
            <a:outerShdw blurRad="105336" dir="5400000" dist="133720">
              <a:srgbClr val="CDD9ED">
                <a:alpha val="40784"/>
              </a:srgbClr>
            </a:outerShdw>
          </a:effectLst>
        </p:spPr>
      </p:pic>
      <p:pic>
        <p:nvPicPr>
          <p:cNvPr id="544" name="Google Shape;544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340100" y="3009900"/>
            <a:ext cx="3530600" cy="5943600"/>
          </a:xfrm>
          <a:prstGeom prst="rect">
            <a:avLst/>
          </a:prstGeom>
          <a:noFill/>
          <a:ln>
            <a:noFill/>
          </a:ln>
          <a:effectLst>
            <a:outerShdw blurRad="105336" dir="5400000" dist="133720">
              <a:srgbClr val="CDD9ED">
                <a:alpha val="40784"/>
              </a:srgbClr>
            </a:outerShdw>
          </a:effectLst>
        </p:spPr>
      </p:pic>
      <p:sp>
        <p:nvSpPr>
          <p:cNvPr id="545" name="Google Shape;545;p22"/>
          <p:cNvSpPr txBox="1"/>
          <p:nvPr/>
        </p:nvSpPr>
        <p:spPr>
          <a:xfrm>
            <a:off x="11747500" y="6337300"/>
            <a:ext cx="2870100" cy="195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인사 및 실적 정보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22"/>
          <p:cNvSpPr txBox="1"/>
          <p:nvPr/>
        </p:nvSpPr>
        <p:spPr>
          <a:xfrm>
            <a:off x="11736925" y="5664200"/>
            <a:ext cx="30312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11359A"/>
              </a:buClr>
              <a:buSzPts val="2800"/>
              <a:buFont typeface="Arial"/>
              <a:buNone/>
            </a:pPr>
            <a:r>
              <a:rPr lang="ko-KR" sz="2800">
                <a:solidFill>
                  <a:srgbClr val="11359A"/>
                </a:solidFill>
                <a:latin typeface="Arial"/>
                <a:ea typeface="Arial"/>
                <a:cs typeface="Arial"/>
                <a:sym typeface="Arial"/>
              </a:rPr>
              <a:t>테이블 데이터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22"/>
          <p:cNvSpPr txBox="1"/>
          <p:nvPr/>
        </p:nvSpPr>
        <p:spPr>
          <a:xfrm>
            <a:off x="7708900" y="6337300"/>
            <a:ext cx="2870100" cy="195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답변 생성 시 원본 문서 참조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22"/>
          <p:cNvSpPr txBox="1"/>
          <p:nvPr/>
        </p:nvSpPr>
        <p:spPr>
          <a:xfrm>
            <a:off x="7696100" y="5600700"/>
            <a:ext cx="2883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11359A"/>
              </a:buClr>
              <a:buSzPts val="2800"/>
              <a:buFont typeface="Arial"/>
              <a:buNone/>
            </a:pPr>
            <a:r>
              <a:rPr lang="ko-KR" sz="2800">
                <a:solidFill>
                  <a:srgbClr val="11359A"/>
                </a:solidFill>
                <a:latin typeface="Arial"/>
                <a:ea typeface="Arial"/>
                <a:cs typeface="Arial"/>
                <a:sym typeface="Arial"/>
              </a:rPr>
              <a:t>원본 문서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22"/>
          <p:cNvSpPr txBox="1"/>
          <p:nvPr/>
        </p:nvSpPr>
        <p:spPr>
          <a:xfrm>
            <a:off x="3756900" y="6337300"/>
            <a:ext cx="2883000" cy="195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문서 기반 검색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22"/>
          <p:cNvSpPr txBox="1"/>
          <p:nvPr/>
        </p:nvSpPr>
        <p:spPr>
          <a:xfrm>
            <a:off x="3987800" y="5600700"/>
            <a:ext cx="2222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11359A"/>
              </a:buClr>
              <a:buSzPts val="2800"/>
              <a:buFont typeface="Arial"/>
              <a:buNone/>
            </a:pPr>
            <a:r>
              <a:rPr lang="ko-KR" sz="2800">
                <a:solidFill>
                  <a:srgbClr val="11359A"/>
                </a:solidFill>
                <a:latin typeface="Arial"/>
                <a:ea typeface="Arial"/>
                <a:cs typeface="Arial"/>
                <a:sym typeface="Arial"/>
              </a:rPr>
              <a:t>RAG 검색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5" name="Google Shape;555;p23"/>
          <p:cNvPicPr preferRelativeResize="0"/>
          <p:nvPr/>
        </p:nvPicPr>
        <p:blipFill rotWithShape="1">
          <a:blip r:embed="rId3">
            <a:alphaModFix amt="8000"/>
          </a:blip>
          <a:srcRect b="0" l="0" r="0" t="0"/>
          <a:stretch/>
        </p:blipFill>
        <p:spPr>
          <a:xfrm rot="5400000">
            <a:off x="4076591" y="-4013200"/>
            <a:ext cx="10299700" cy="1831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6" name="Google Shape;556;p23"/>
          <p:cNvPicPr preferRelativeResize="0"/>
          <p:nvPr/>
        </p:nvPicPr>
        <p:blipFill rotWithShape="1">
          <a:blip r:embed="rId4">
            <a:alphaModFix amt="51000"/>
          </a:blip>
          <a:srcRect b="0" l="0" r="0" t="0"/>
          <a:stretch/>
        </p:blipFill>
        <p:spPr>
          <a:xfrm>
            <a:off x="4356100" y="-584200"/>
            <a:ext cx="11849100" cy="1007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7" name="Google Shape;55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76200" y="10172700"/>
            <a:ext cx="184277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8" name="Google Shape;558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10172700"/>
            <a:ext cx="91440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9" name="Google Shape;559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3100" y="1054100"/>
            <a:ext cx="1993900" cy="2019300"/>
          </a:xfrm>
          <a:prstGeom prst="rect">
            <a:avLst/>
          </a:prstGeom>
          <a:noFill/>
          <a:ln>
            <a:noFill/>
          </a:ln>
          <a:effectLst>
            <a:outerShdw blurRad="39714" dir="5400000" dist="122887">
              <a:srgbClr val="344096">
                <a:alpha val="15686"/>
              </a:srgbClr>
            </a:outerShdw>
          </a:effectLst>
        </p:spPr>
      </p:pic>
      <p:sp>
        <p:nvSpPr>
          <p:cNvPr id="560" name="Google Shape;560;p23"/>
          <p:cNvSpPr txBox="1"/>
          <p:nvPr/>
        </p:nvSpPr>
        <p:spPr>
          <a:xfrm>
            <a:off x="4851400" y="1066800"/>
            <a:ext cx="9245600" cy="6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800">
                <a:solidFill>
                  <a:srgbClr val="344096"/>
                </a:solidFill>
                <a:latin typeface="Arial"/>
                <a:ea typeface="Arial"/>
                <a:cs typeface="Arial"/>
                <a:sym typeface="Arial"/>
              </a:rPr>
              <a:t>데이터베이스 구조</a:t>
            </a:r>
            <a:endParaRPr b="0" i="0" sz="3800" u="none" strike="noStrike">
              <a:solidFill>
                <a:srgbClr val="34409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1" name="Google Shape;561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417300" y="3009900"/>
            <a:ext cx="3530600" cy="5943600"/>
          </a:xfrm>
          <a:prstGeom prst="rect">
            <a:avLst/>
          </a:prstGeom>
          <a:noFill/>
          <a:ln>
            <a:noFill/>
          </a:ln>
          <a:effectLst>
            <a:outerShdw blurRad="105336" dir="5400000" dist="133720">
              <a:srgbClr val="CDD9ED">
                <a:alpha val="40784"/>
              </a:srgbClr>
            </a:outerShdw>
          </a:effectLst>
        </p:spPr>
      </p:pic>
      <p:pic>
        <p:nvPicPr>
          <p:cNvPr id="562" name="Google Shape;562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378700" y="3009900"/>
            <a:ext cx="3517900" cy="5943600"/>
          </a:xfrm>
          <a:prstGeom prst="rect">
            <a:avLst/>
          </a:prstGeom>
          <a:noFill/>
          <a:ln>
            <a:noFill/>
          </a:ln>
          <a:effectLst>
            <a:outerShdw blurRad="105336" dir="5400000" dist="133720">
              <a:srgbClr val="CDD9ED">
                <a:alpha val="40784"/>
              </a:srgbClr>
            </a:outerShdw>
          </a:effectLst>
        </p:spPr>
      </p:pic>
      <p:pic>
        <p:nvPicPr>
          <p:cNvPr id="563" name="Google Shape;563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340100" y="3009900"/>
            <a:ext cx="3530600" cy="5943600"/>
          </a:xfrm>
          <a:prstGeom prst="rect">
            <a:avLst/>
          </a:prstGeom>
          <a:noFill/>
          <a:ln>
            <a:noFill/>
          </a:ln>
          <a:effectLst>
            <a:outerShdw blurRad="105336" dir="5400000" dist="133720">
              <a:srgbClr val="CDD9ED">
                <a:alpha val="40784"/>
              </a:srgbClr>
            </a:outerShdw>
          </a:effectLst>
        </p:spPr>
      </p:pic>
      <p:pic>
        <p:nvPicPr>
          <p:cNvPr id="564" name="Google Shape;564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286762" y="3552849"/>
            <a:ext cx="1714500" cy="2051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565" name="Google Shape;565;p23"/>
          <p:cNvPicPr preferRelativeResize="0"/>
          <p:nvPr/>
        </p:nvPicPr>
        <p:blipFill rotWithShape="1">
          <a:blip r:embed="rId10">
            <a:alphaModFix/>
          </a:blip>
          <a:srcRect b="27651" l="0" r="0" t="0"/>
          <a:stretch/>
        </p:blipFill>
        <p:spPr>
          <a:xfrm>
            <a:off x="11785650" y="3351400"/>
            <a:ext cx="2781300" cy="224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6" name="Google Shape;566;p2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872825" y="3415625"/>
            <a:ext cx="2465150" cy="2465150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23"/>
          <p:cNvSpPr txBox="1"/>
          <p:nvPr/>
        </p:nvSpPr>
        <p:spPr>
          <a:xfrm>
            <a:off x="11747500" y="6337300"/>
            <a:ext cx="2870100" cy="195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정형 DB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테이블 데이터,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원본 문서 메타 데이터 저장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23"/>
          <p:cNvSpPr txBox="1"/>
          <p:nvPr/>
        </p:nvSpPr>
        <p:spPr>
          <a:xfrm>
            <a:off x="12141300" y="5664200"/>
            <a:ext cx="2222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11359A"/>
              </a:buClr>
              <a:buSzPts val="2800"/>
              <a:buFont typeface="Arial"/>
              <a:buNone/>
            </a:pPr>
            <a:r>
              <a:rPr lang="ko-KR" sz="2800">
                <a:solidFill>
                  <a:srgbClr val="11359A"/>
                </a:solidFill>
                <a:latin typeface="Arial"/>
                <a:ea typeface="Arial"/>
                <a:cs typeface="Arial"/>
                <a:sym typeface="Arial"/>
              </a:rPr>
              <a:t>postgreSQL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23"/>
          <p:cNvSpPr txBox="1"/>
          <p:nvPr/>
        </p:nvSpPr>
        <p:spPr>
          <a:xfrm>
            <a:off x="7708900" y="6337300"/>
            <a:ext cx="2870100" cy="195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비정형 DB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원본 문서 저장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23"/>
          <p:cNvSpPr txBox="1"/>
          <p:nvPr/>
        </p:nvSpPr>
        <p:spPr>
          <a:xfrm>
            <a:off x="8026400" y="5600700"/>
            <a:ext cx="2222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11359A"/>
              </a:buClr>
              <a:buSzPts val="2800"/>
              <a:buFont typeface="Arial"/>
              <a:buNone/>
            </a:pPr>
            <a:r>
              <a:rPr lang="ko-KR" sz="2800">
                <a:solidFill>
                  <a:srgbClr val="11359A"/>
                </a:solidFill>
                <a:latin typeface="Arial"/>
                <a:ea typeface="Arial"/>
                <a:cs typeface="Arial"/>
                <a:sym typeface="Arial"/>
              </a:rPr>
              <a:t>S3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23"/>
          <p:cNvSpPr txBox="1"/>
          <p:nvPr/>
        </p:nvSpPr>
        <p:spPr>
          <a:xfrm>
            <a:off x="3756900" y="6337300"/>
            <a:ext cx="2883000" cy="195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벡터 DB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유사도 + 키워드 검색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23"/>
          <p:cNvSpPr txBox="1"/>
          <p:nvPr/>
        </p:nvSpPr>
        <p:spPr>
          <a:xfrm>
            <a:off x="3714638" y="5600700"/>
            <a:ext cx="2768724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11359A"/>
              </a:buClr>
              <a:buSzPts val="2800"/>
              <a:buFont typeface="Arial"/>
              <a:buNone/>
            </a:pPr>
            <a:r>
              <a:rPr lang="ko-KR" sz="2800">
                <a:solidFill>
                  <a:srgbClr val="11359A"/>
                </a:solidFill>
                <a:latin typeface="Arial"/>
                <a:ea typeface="Arial"/>
                <a:cs typeface="Arial"/>
                <a:sym typeface="Arial"/>
              </a:rPr>
              <a:t>Open Search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7" name="Google Shape;577;p24"/>
          <p:cNvPicPr preferRelativeResize="0"/>
          <p:nvPr/>
        </p:nvPicPr>
        <p:blipFill rotWithShape="1">
          <a:blip r:embed="rId3">
            <a:alphaModFix amt="8000"/>
          </a:blip>
          <a:srcRect b="0" l="0" r="0" t="0"/>
          <a:stretch/>
        </p:blipFill>
        <p:spPr>
          <a:xfrm rot="5400000">
            <a:off x="4044950" y="-4006850"/>
            <a:ext cx="10299700" cy="1831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8" name="Google Shape;57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76200" y="10172700"/>
            <a:ext cx="184277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9" name="Google Shape;579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10172700"/>
            <a:ext cx="91440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0" name="Google Shape;580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3100" y="1054100"/>
            <a:ext cx="1993900" cy="2019300"/>
          </a:xfrm>
          <a:prstGeom prst="rect">
            <a:avLst/>
          </a:prstGeom>
          <a:noFill/>
          <a:ln>
            <a:noFill/>
          </a:ln>
          <a:effectLst>
            <a:outerShdw blurRad="39714" dir="5400000" dist="122887">
              <a:srgbClr val="344096">
                <a:alpha val="15686"/>
              </a:srgbClr>
            </a:outerShdw>
          </a:effectLst>
        </p:spPr>
      </p:pic>
      <p:sp>
        <p:nvSpPr>
          <p:cNvPr id="581" name="Google Shape;581;p24"/>
          <p:cNvSpPr/>
          <p:nvPr/>
        </p:nvSpPr>
        <p:spPr>
          <a:xfrm>
            <a:off x="4149717" y="2341566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2" name="Google Shape;582;p24"/>
          <p:cNvGrpSpPr/>
          <p:nvPr/>
        </p:nvGrpSpPr>
        <p:grpSpPr>
          <a:xfrm>
            <a:off x="3145055" y="2207330"/>
            <a:ext cx="2792986" cy="3144078"/>
            <a:chOff x="1670050" y="2527501"/>
            <a:chExt cx="3530600" cy="3974412"/>
          </a:xfrm>
        </p:grpSpPr>
        <p:pic>
          <p:nvPicPr>
            <p:cNvPr id="583" name="Google Shape;583;p2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670050" y="2527501"/>
              <a:ext cx="3530600" cy="3974412"/>
            </a:xfrm>
            <a:prstGeom prst="rect">
              <a:avLst/>
            </a:prstGeom>
            <a:noFill/>
            <a:ln>
              <a:noFill/>
            </a:ln>
            <a:effectLst>
              <a:outerShdw blurRad="105336" dir="5400000" dist="133720">
                <a:srgbClr val="CDD9ED">
                  <a:alpha val="40784"/>
                </a:srgbClr>
              </a:outerShdw>
            </a:effectLst>
          </p:spPr>
        </p:pic>
        <p:sp>
          <p:nvSpPr>
            <p:cNvPr id="584" name="Google Shape;584;p24"/>
            <p:cNvSpPr txBox="1"/>
            <p:nvPr/>
          </p:nvSpPr>
          <p:spPr>
            <a:xfrm>
              <a:off x="1688827" y="3038648"/>
              <a:ext cx="3493046" cy="5078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ko-KR" sz="1800" u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데이터베이스 자동 업데이트 및 검색</a:t>
              </a:r>
              <a:endParaRPr b="0" i="0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85" name="Google Shape;585;p24"/>
            <p:cNvGrpSpPr/>
            <p:nvPr/>
          </p:nvGrpSpPr>
          <p:grpSpPr>
            <a:xfrm>
              <a:off x="2585640" y="4190685"/>
              <a:ext cx="1699419" cy="1444508"/>
              <a:chOff x="2585640" y="4190685"/>
              <a:chExt cx="1699419" cy="1444508"/>
            </a:xfrm>
          </p:grpSpPr>
          <p:pic>
            <p:nvPicPr>
              <p:cNvPr id="586" name="Google Shape;586;p24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2585640" y="4410911"/>
                <a:ext cx="1224282" cy="122428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87" name="Google Shape;587;p24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3197781" y="4190685"/>
                <a:ext cx="1087278" cy="108727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588" name="Google Shape;588;p24"/>
          <p:cNvGrpSpPr/>
          <p:nvPr/>
        </p:nvGrpSpPr>
        <p:grpSpPr>
          <a:xfrm>
            <a:off x="3145055" y="5760100"/>
            <a:ext cx="2792986" cy="3144078"/>
            <a:chOff x="5658903" y="2535121"/>
            <a:chExt cx="3530600" cy="3974412"/>
          </a:xfrm>
        </p:grpSpPr>
        <p:pic>
          <p:nvPicPr>
            <p:cNvPr id="589" name="Google Shape;589;p2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658903" y="2535121"/>
              <a:ext cx="3530600" cy="3974412"/>
            </a:xfrm>
            <a:prstGeom prst="rect">
              <a:avLst/>
            </a:prstGeom>
            <a:noFill/>
            <a:ln>
              <a:noFill/>
            </a:ln>
            <a:effectLst>
              <a:outerShdw blurRad="105336" dir="5400000" dist="133720">
                <a:srgbClr val="CDD9ED">
                  <a:alpha val="40784"/>
                </a:srgbClr>
              </a:outerShdw>
            </a:effectLst>
          </p:spPr>
        </p:pic>
        <p:sp>
          <p:nvSpPr>
            <p:cNvPr id="590" name="Google Shape;590;p24"/>
            <p:cNvSpPr txBox="1"/>
            <p:nvPr/>
          </p:nvSpPr>
          <p:spPr>
            <a:xfrm>
              <a:off x="5677680" y="3019597"/>
              <a:ext cx="3493046" cy="5078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직원 실적 분석 및 보고서 작성</a:t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91" name="Google Shape;591;p24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6701949" y="4184679"/>
              <a:ext cx="1444508" cy="144450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92" name="Google Shape;592;p2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705284" y="3196019"/>
            <a:ext cx="8097082" cy="5011734"/>
          </a:xfrm>
          <a:prstGeom prst="rect">
            <a:avLst/>
          </a:prstGeom>
          <a:noFill/>
          <a:ln>
            <a:noFill/>
          </a:ln>
          <a:effectLst>
            <a:outerShdw blurRad="105336" dir="5400000" dist="133720">
              <a:srgbClr val="CDD9ED">
                <a:alpha val="40784"/>
              </a:srgbClr>
            </a:outerShdw>
          </a:effectLst>
        </p:spPr>
      </p:pic>
      <p:sp>
        <p:nvSpPr>
          <p:cNvPr id="593" name="Google Shape;593;p24"/>
          <p:cNvSpPr/>
          <p:nvPr/>
        </p:nvSpPr>
        <p:spPr>
          <a:xfrm>
            <a:off x="2926284" y="2042357"/>
            <a:ext cx="548232" cy="548232"/>
          </a:xfrm>
          <a:prstGeom prst="ellipse">
            <a:avLst/>
          </a:prstGeom>
          <a:solidFill>
            <a:srgbClr val="DAEEF3"/>
          </a:solidFill>
          <a:ln cap="flat" cmpd="sng" w="25400">
            <a:solidFill>
              <a:srgbClr val="B6DD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44CCE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400">
              <a:solidFill>
                <a:srgbClr val="44CCE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94" name="Google Shape;594;p24"/>
          <p:cNvGrpSpPr/>
          <p:nvPr/>
        </p:nvGrpSpPr>
        <p:grpSpPr>
          <a:xfrm>
            <a:off x="6332685" y="2269701"/>
            <a:ext cx="2792986" cy="3144078"/>
            <a:chOff x="13636609" y="2577032"/>
            <a:chExt cx="3530600" cy="3974412"/>
          </a:xfrm>
        </p:grpSpPr>
        <p:pic>
          <p:nvPicPr>
            <p:cNvPr id="595" name="Google Shape;595;p2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3636609" y="2577032"/>
              <a:ext cx="3530600" cy="3974412"/>
            </a:xfrm>
            <a:prstGeom prst="rect">
              <a:avLst/>
            </a:prstGeom>
            <a:noFill/>
            <a:ln>
              <a:noFill/>
            </a:ln>
            <a:effectLst>
              <a:outerShdw blurRad="105336" dir="5400000" dist="133720">
                <a:srgbClr val="CDD9ED">
                  <a:alpha val="40784"/>
                </a:srgbClr>
              </a:outerShdw>
            </a:effectLst>
          </p:spPr>
        </p:pic>
        <p:sp>
          <p:nvSpPr>
            <p:cNvPr id="596" name="Google Shape;596;p24"/>
            <p:cNvSpPr txBox="1"/>
            <p:nvPr/>
          </p:nvSpPr>
          <p:spPr>
            <a:xfrm>
              <a:off x="13655386" y="3061508"/>
              <a:ext cx="3493046" cy="5078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ko-KR" sz="1800" u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서류 자동화 및 규정 검토</a:t>
              </a:r>
              <a:endParaRPr/>
            </a:p>
          </p:txBody>
        </p:sp>
        <p:pic>
          <p:nvPicPr>
            <p:cNvPr id="597" name="Google Shape;597;p24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14679655" y="4184679"/>
              <a:ext cx="1444508" cy="144450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98" name="Google Shape;598;p24"/>
          <p:cNvSpPr/>
          <p:nvPr/>
        </p:nvSpPr>
        <p:spPr>
          <a:xfrm>
            <a:off x="6073423" y="1995585"/>
            <a:ext cx="548232" cy="548232"/>
          </a:xfrm>
          <a:prstGeom prst="ellipse">
            <a:avLst/>
          </a:prstGeom>
          <a:solidFill>
            <a:srgbClr val="DAEEF3"/>
          </a:solidFill>
          <a:ln cap="flat" cmpd="sng" w="25400">
            <a:solidFill>
              <a:srgbClr val="B6DD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44CCE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400">
              <a:solidFill>
                <a:srgbClr val="44CCE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99" name="Google Shape;599;p24"/>
          <p:cNvGrpSpPr/>
          <p:nvPr/>
        </p:nvGrpSpPr>
        <p:grpSpPr>
          <a:xfrm>
            <a:off x="6332685" y="5747399"/>
            <a:ext cx="2792986" cy="3144078"/>
            <a:chOff x="9647756" y="2542741"/>
            <a:chExt cx="3530600" cy="3974412"/>
          </a:xfrm>
        </p:grpSpPr>
        <p:pic>
          <p:nvPicPr>
            <p:cNvPr id="600" name="Google Shape;600;p2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9647756" y="2542741"/>
              <a:ext cx="3530600" cy="3974412"/>
            </a:xfrm>
            <a:prstGeom prst="rect">
              <a:avLst/>
            </a:prstGeom>
            <a:noFill/>
            <a:ln>
              <a:noFill/>
            </a:ln>
            <a:effectLst>
              <a:outerShdw blurRad="105336" dir="5400000" dist="133720">
                <a:srgbClr val="CDD9ED">
                  <a:alpha val="40784"/>
                </a:srgbClr>
              </a:outerShdw>
            </a:effectLst>
          </p:spPr>
        </p:pic>
        <p:sp>
          <p:nvSpPr>
            <p:cNvPr id="601" name="Google Shape;601;p24"/>
            <p:cNvSpPr txBox="1"/>
            <p:nvPr/>
          </p:nvSpPr>
          <p:spPr>
            <a:xfrm>
              <a:off x="9666533" y="3027217"/>
              <a:ext cx="3493046" cy="5078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ko-KR" sz="1800" u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거래처 실적 분석 및 등급 분류</a:t>
              </a:r>
              <a:endParaRPr/>
            </a:p>
          </p:txBody>
        </p:sp>
        <p:pic>
          <p:nvPicPr>
            <p:cNvPr id="602" name="Google Shape;602;p24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10690802" y="4184679"/>
              <a:ext cx="1444508" cy="144450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03" name="Google Shape;603;p24"/>
          <p:cNvSpPr/>
          <p:nvPr/>
        </p:nvSpPr>
        <p:spPr>
          <a:xfrm>
            <a:off x="6073423" y="5485984"/>
            <a:ext cx="548232" cy="548232"/>
          </a:xfrm>
          <a:prstGeom prst="ellipse">
            <a:avLst/>
          </a:prstGeom>
          <a:solidFill>
            <a:srgbClr val="DAEEF3"/>
          </a:solidFill>
          <a:ln cap="flat" cmpd="sng" w="25400">
            <a:solidFill>
              <a:srgbClr val="B6DD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44CCE5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2400">
              <a:solidFill>
                <a:srgbClr val="44CCE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24"/>
          <p:cNvSpPr/>
          <p:nvPr/>
        </p:nvSpPr>
        <p:spPr>
          <a:xfrm>
            <a:off x="2926284" y="5473283"/>
            <a:ext cx="548232" cy="548232"/>
          </a:xfrm>
          <a:prstGeom prst="ellipse">
            <a:avLst/>
          </a:prstGeom>
          <a:solidFill>
            <a:srgbClr val="DAEEF3"/>
          </a:solidFill>
          <a:ln cap="flat" cmpd="sng" w="25400">
            <a:solidFill>
              <a:srgbClr val="B6DD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44CCE5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2400">
              <a:solidFill>
                <a:srgbClr val="44CCE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24"/>
          <p:cNvSpPr/>
          <p:nvPr/>
        </p:nvSpPr>
        <p:spPr>
          <a:xfrm>
            <a:off x="15331109" y="3054695"/>
            <a:ext cx="548232" cy="548232"/>
          </a:xfrm>
          <a:prstGeom prst="ellipse">
            <a:avLst/>
          </a:prstGeom>
          <a:solidFill>
            <a:srgbClr val="DAEEF3"/>
          </a:solidFill>
          <a:ln cap="flat" cmpd="sng" w="25400">
            <a:solidFill>
              <a:srgbClr val="B6DD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D99593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400">
              <a:solidFill>
                <a:srgbClr val="D9959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24"/>
          <p:cNvSpPr/>
          <p:nvPr/>
        </p:nvSpPr>
        <p:spPr>
          <a:xfrm>
            <a:off x="15341199" y="4311284"/>
            <a:ext cx="548232" cy="548232"/>
          </a:xfrm>
          <a:prstGeom prst="ellipse">
            <a:avLst/>
          </a:prstGeom>
          <a:solidFill>
            <a:srgbClr val="DAEEF3"/>
          </a:solidFill>
          <a:ln cap="flat" cmpd="sng" w="25400">
            <a:solidFill>
              <a:srgbClr val="B6DD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D9959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400">
              <a:solidFill>
                <a:srgbClr val="D9959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24"/>
          <p:cNvSpPr/>
          <p:nvPr/>
        </p:nvSpPr>
        <p:spPr>
          <a:xfrm>
            <a:off x="15316255" y="5676669"/>
            <a:ext cx="548232" cy="548232"/>
          </a:xfrm>
          <a:prstGeom prst="ellipse">
            <a:avLst/>
          </a:prstGeom>
          <a:solidFill>
            <a:srgbClr val="DAEEF3"/>
          </a:solidFill>
          <a:ln cap="flat" cmpd="sng" w="25400">
            <a:solidFill>
              <a:srgbClr val="B6DD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D99593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2400">
              <a:solidFill>
                <a:srgbClr val="D9959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24"/>
          <p:cNvSpPr/>
          <p:nvPr/>
        </p:nvSpPr>
        <p:spPr>
          <a:xfrm>
            <a:off x="15316255" y="7042054"/>
            <a:ext cx="548232" cy="548232"/>
          </a:xfrm>
          <a:prstGeom prst="ellipse">
            <a:avLst/>
          </a:prstGeom>
          <a:solidFill>
            <a:srgbClr val="DAEEF3"/>
          </a:solidFill>
          <a:ln cap="flat" cmpd="sng" w="25400">
            <a:solidFill>
              <a:srgbClr val="B6DD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D99593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2400">
              <a:solidFill>
                <a:srgbClr val="D9959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24"/>
          <p:cNvSpPr txBox="1"/>
          <p:nvPr/>
        </p:nvSpPr>
        <p:spPr>
          <a:xfrm>
            <a:off x="4851400" y="1066800"/>
            <a:ext cx="9245600" cy="6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800">
                <a:solidFill>
                  <a:srgbClr val="344096"/>
                </a:solidFill>
                <a:latin typeface="Arial"/>
                <a:ea typeface="Arial"/>
                <a:cs typeface="Arial"/>
                <a:sym typeface="Arial"/>
              </a:rPr>
              <a:t>에이전트</a:t>
            </a:r>
            <a:endParaRPr b="0" i="0" sz="3800" u="none" strike="noStrike">
              <a:solidFill>
                <a:srgbClr val="34409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" name="Google Shape;614;p25"/>
          <p:cNvPicPr preferRelativeResize="0"/>
          <p:nvPr/>
        </p:nvPicPr>
        <p:blipFill rotWithShape="1">
          <a:blip r:embed="rId3">
            <a:alphaModFix amt="8000"/>
          </a:blip>
          <a:srcRect b="0" l="0" r="0" t="0"/>
          <a:stretch/>
        </p:blipFill>
        <p:spPr>
          <a:xfrm rot="5400000">
            <a:off x="4000500" y="-4000500"/>
            <a:ext cx="10299700" cy="1831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5" name="Google Shape;615;p25"/>
          <p:cNvPicPr preferRelativeResize="0"/>
          <p:nvPr/>
        </p:nvPicPr>
        <p:blipFill rotWithShape="1">
          <a:blip r:embed="rId4">
            <a:alphaModFix amt="51000"/>
          </a:blip>
          <a:srcRect b="0" l="0" r="0" t="0"/>
          <a:stretch/>
        </p:blipFill>
        <p:spPr>
          <a:xfrm>
            <a:off x="4356100" y="-584200"/>
            <a:ext cx="11849100" cy="1007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6" name="Google Shape;616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76200" y="10172700"/>
            <a:ext cx="184277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" name="Google Shape;617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10172700"/>
            <a:ext cx="91440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8" name="Google Shape;618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3100" y="1054100"/>
            <a:ext cx="1993900" cy="2019300"/>
          </a:xfrm>
          <a:prstGeom prst="rect">
            <a:avLst/>
          </a:prstGeom>
          <a:noFill/>
          <a:ln>
            <a:noFill/>
          </a:ln>
          <a:effectLst>
            <a:outerShdw blurRad="39714" dir="5400000" dist="122887">
              <a:srgbClr val="344096">
                <a:alpha val="15686"/>
              </a:srgbClr>
            </a:outerShdw>
          </a:effectLst>
        </p:spPr>
      </p:pic>
      <p:sp>
        <p:nvSpPr>
          <p:cNvPr id="619" name="Google Shape;619;p25"/>
          <p:cNvSpPr txBox="1"/>
          <p:nvPr/>
        </p:nvSpPr>
        <p:spPr>
          <a:xfrm>
            <a:off x="5101861" y="1271590"/>
            <a:ext cx="10033000" cy="6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500">
                <a:solidFill>
                  <a:srgbClr val="344096"/>
                </a:solidFill>
                <a:latin typeface="Arial"/>
                <a:ea typeface="Arial"/>
                <a:cs typeface="Arial"/>
                <a:sym typeface="Arial"/>
              </a:rPr>
              <a:t>문서</a:t>
            </a:r>
            <a:r>
              <a:rPr b="0" i="0" lang="ko-KR" sz="3500" u="none" strike="noStrike">
                <a:solidFill>
                  <a:srgbClr val="344096"/>
                </a:solidFill>
                <a:latin typeface="Arial"/>
                <a:ea typeface="Arial"/>
                <a:cs typeface="Arial"/>
                <a:sym typeface="Arial"/>
              </a:rPr>
              <a:t> 검색 에이전트</a:t>
            </a:r>
            <a:endParaRPr/>
          </a:p>
        </p:txBody>
      </p:sp>
      <p:sp>
        <p:nvSpPr>
          <p:cNvPr id="620" name="Google Shape;620;p25"/>
          <p:cNvSpPr txBox="1"/>
          <p:nvPr/>
        </p:nvSpPr>
        <p:spPr>
          <a:xfrm>
            <a:off x="4959350" y="8010526"/>
            <a:ext cx="10642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000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rPr>
              <a:t>내부, 외부 문서 검색을 할 수 있는 에이전트</a:t>
            </a:r>
            <a:endParaRPr b="0" i="0" sz="3000" u="none" strike="noStrike">
              <a:solidFill>
                <a:srgbClr val="78787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텍스트, 도표, 라인, 폰트이(가) 표시된 사진&#10;&#10;AI 생성 콘텐츠는 정확하지 않을 수 있습니다." id="621" name="Google Shape;621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928366" y="2371270"/>
            <a:ext cx="12729123" cy="47653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6" name="Google Shape;626;p26"/>
          <p:cNvPicPr preferRelativeResize="0"/>
          <p:nvPr/>
        </p:nvPicPr>
        <p:blipFill rotWithShape="1">
          <a:blip r:embed="rId3">
            <a:alphaModFix amt="8000"/>
          </a:blip>
          <a:srcRect b="0" l="0" r="0" t="0"/>
          <a:stretch/>
        </p:blipFill>
        <p:spPr>
          <a:xfrm rot="5400000">
            <a:off x="3930650" y="-4013200"/>
            <a:ext cx="10299700" cy="1831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7" name="Google Shape;62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76200" y="10172700"/>
            <a:ext cx="184277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8" name="Google Shape;628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10172700"/>
            <a:ext cx="91440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9" name="Google Shape;629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3100" y="1054100"/>
            <a:ext cx="1993900" cy="2019300"/>
          </a:xfrm>
          <a:prstGeom prst="rect">
            <a:avLst/>
          </a:prstGeom>
          <a:noFill/>
          <a:ln>
            <a:noFill/>
          </a:ln>
          <a:effectLst>
            <a:outerShdw blurRad="39714" dir="5400000" dist="122887">
              <a:srgbClr val="344096">
                <a:alpha val="15686"/>
              </a:srgbClr>
            </a:outerShdw>
          </a:effectLst>
        </p:spPr>
      </p:pic>
      <p:sp>
        <p:nvSpPr>
          <p:cNvPr id="630" name="Google Shape;630;p26"/>
          <p:cNvSpPr txBox="1"/>
          <p:nvPr/>
        </p:nvSpPr>
        <p:spPr>
          <a:xfrm>
            <a:off x="5549900" y="8412164"/>
            <a:ext cx="100203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3000" u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rPr>
              <a:t>보고서, 계획서, 전표, 계약서 등 주요 문서를 자동 생성하고</a:t>
            </a:r>
            <a:endParaRPr sz="3000">
              <a:solidFill>
                <a:srgbClr val="78787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3000" u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rPr>
              <a:t>내부 규정 및 의약법 위반 여부 검토</a:t>
            </a:r>
            <a:endParaRPr/>
          </a:p>
        </p:txBody>
      </p:sp>
      <p:pic>
        <p:nvPicPr>
          <p:cNvPr id="631" name="Google Shape;631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78021" y="3190792"/>
            <a:ext cx="14228980" cy="3905416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26"/>
          <p:cNvSpPr txBox="1"/>
          <p:nvPr/>
        </p:nvSpPr>
        <p:spPr>
          <a:xfrm>
            <a:off x="5101861" y="1271590"/>
            <a:ext cx="10033000" cy="6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500">
                <a:solidFill>
                  <a:srgbClr val="344096"/>
                </a:solidFill>
                <a:latin typeface="Arial"/>
                <a:ea typeface="Arial"/>
                <a:cs typeface="Arial"/>
                <a:sym typeface="Arial"/>
              </a:rPr>
              <a:t>문서 초안 작성 에이전트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7" name="Google Shape;637;p27"/>
          <p:cNvPicPr preferRelativeResize="0"/>
          <p:nvPr/>
        </p:nvPicPr>
        <p:blipFill rotWithShape="1">
          <a:blip r:embed="rId3">
            <a:alphaModFix amt="8000"/>
          </a:blip>
          <a:srcRect b="0" l="0" r="0" t="0"/>
          <a:stretch/>
        </p:blipFill>
        <p:spPr>
          <a:xfrm rot="5400000">
            <a:off x="4121150" y="-3816350"/>
            <a:ext cx="10299700" cy="1831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8" name="Google Shape;63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76200" y="10172700"/>
            <a:ext cx="184277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9" name="Google Shape;639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10172700"/>
            <a:ext cx="91440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0" name="Google Shape;640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3100" y="1054100"/>
            <a:ext cx="1993900" cy="2019300"/>
          </a:xfrm>
          <a:prstGeom prst="rect">
            <a:avLst/>
          </a:prstGeom>
          <a:noFill/>
          <a:ln>
            <a:noFill/>
          </a:ln>
          <a:effectLst>
            <a:outerShdw blurRad="39714" dir="5400000" dist="122887">
              <a:srgbClr val="344096">
                <a:alpha val="15686"/>
              </a:srgbClr>
            </a:outerShdw>
          </a:effectLst>
        </p:spPr>
      </p:pic>
      <p:sp>
        <p:nvSpPr>
          <p:cNvPr id="641" name="Google Shape;641;p27"/>
          <p:cNvSpPr txBox="1"/>
          <p:nvPr/>
        </p:nvSpPr>
        <p:spPr>
          <a:xfrm>
            <a:off x="4572000" y="7371079"/>
            <a:ext cx="100203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000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rPr>
              <a:t>직원 실적을 분석하고 실적 분석 보고서를 작성해주는 에이전트</a:t>
            </a:r>
            <a:endParaRPr/>
          </a:p>
        </p:txBody>
      </p:sp>
      <p:pic>
        <p:nvPicPr>
          <p:cNvPr descr="텍스트, 도표, 폰트, 스크린샷이(가) 표시된 사진&#10;&#10;AI 생성 콘텐츠는 정확하지 않을 수 있습니다." id="642" name="Google Shape;642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592127" y="3377643"/>
            <a:ext cx="14289473" cy="3327956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27"/>
          <p:cNvSpPr txBox="1"/>
          <p:nvPr/>
        </p:nvSpPr>
        <p:spPr>
          <a:xfrm>
            <a:off x="5101861" y="1271590"/>
            <a:ext cx="10033000" cy="6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500">
                <a:solidFill>
                  <a:srgbClr val="344096"/>
                </a:solidFill>
                <a:latin typeface="Arial"/>
                <a:ea typeface="Arial"/>
                <a:cs typeface="Arial"/>
                <a:sym typeface="Arial"/>
              </a:rPr>
              <a:t>직원 실적 분석 에이전트</a:t>
            </a:r>
            <a:endParaRPr sz="3500">
              <a:solidFill>
                <a:srgbClr val="34409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8" name="Google Shape;648;p28"/>
          <p:cNvPicPr preferRelativeResize="0"/>
          <p:nvPr/>
        </p:nvPicPr>
        <p:blipFill rotWithShape="1">
          <a:blip r:embed="rId3">
            <a:alphaModFix amt="8000"/>
          </a:blip>
          <a:srcRect b="0" l="0" r="0" t="0"/>
          <a:stretch/>
        </p:blipFill>
        <p:spPr>
          <a:xfrm rot="5400000">
            <a:off x="4000500" y="-4000500"/>
            <a:ext cx="10299700" cy="1831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9" name="Google Shape;649;p28"/>
          <p:cNvPicPr preferRelativeResize="0"/>
          <p:nvPr/>
        </p:nvPicPr>
        <p:blipFill rotWithShape="1">
          <a:blip r:embed="rId4">
            <a:alphaModFix amt="51000"/>
          </a:blip>
          <a:srcRect b="0" l="0" r="0" t="0"/>
          <a:stretch/>
        </p:blipFill>
        <p:spPr>
          <a:xfrm>
            <a:off x="4356100" y="-584200"/>
            <a:ext cx="11849100" cy="1007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0" name="Google Shape;650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76200" y="10172700"/>
            <a:ext cx="184277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1" name="Google Shape;651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10172700"/>
            <a:ext cx="91440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2" name="Google Shape;652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3100" y="1054100"/>
            <a:ext cx="1993900" cy="2019300"/>
          </a:xfrm>
          <a:prstGeom prst="rect">
            <a:avLst/>
          </a:prstGeom>
          <a:noFill/>
          <a:ln>
            <a:noFill/>
          </a:ln>
          <a:effectLst>
            <a:outerShdw blurRad="39714" dir="5400000" dist="122887">
              <a:srgbClr val="344096">
                <a:alpha val="15686"/>
              </a:srgbClr>
            </a:outerShdw>
          </a:effectLst>
        </p:spPr>
      </p:pic>
      <p:sp>
        <p:nvSpPr>
          <p:cNvPr id="653" name="Google Shape;653;p28"/>
          <p:cNvSpPr txBox="1"/>
          <p:nvPr/>
        </p:nvSpPr>
        <p:spPr>
          <a:xfrm>
            <a:off x="5101861" y="8336280"/>
            <a:ext cx="10642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3000" u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rPr>
              <a:t>거래처 등급을 분석하여 분류하고,</a:t>
            </a:r>
            <a:endParaRPr/>
          </a:p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3000" u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rPr>
              <a:t>영업 리소스 배분 최적화 및 필요한 문서/절차 자동 제시</a:t>
            </a:r>
            <a:endParaRPr/>
          </a:p>
        </p:txBody>
      </p:sp>
      <p:pic>
        <p:nvPicPr>
          <p:cNvPr descr="텍스트, 도표, 라인, 폰트이(가) 표시된 사진&#10;&#10;AI 생성 콘텐츠는 정확하지 않을 수 있습니다." id="654" name="Google Shape;654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502115" y="3496870"/>
            <a:ext cx="14379485" cy="3665930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p28"/>
          <p:cNvSpPr txBox="1"/>
          <p:nvPr/>
        </p:nvSpPr>
        <p:spPr>
          <a:xfrm>
            <a:off x="5254261" y="1423990"/>
            <a:ext cx="10033000" cy="6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500">
                <a:solidFill>
                  <a:srgbClr val="344096"/>
                </a:solidFill>
                <a:latin typeface="Arial"/>
                <a:ea typeface="Arial"/>
                <a:cs typeface="Arial"/>
                <a:sym typeface="Arial"/>
              </a:rPr>
              <a:t>거래처 분석 에이전트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0" name="Google Shape;660;p29"/>
          <p:cNvPicPr preferRelativeResize="0"/>
          <p:nvPr/>
        </p:nvPicPr>
        <p:blipFill rotWithShape="1">
          <a:blip r:embed="rId3">
            <a:alphaModFix amt="8000"/>
          </a:blip>
          <a:srcRect b="0" l="0" r="0" t="0"/>
          <a:stretch/>
        </p:blipFill>
        <p:spPr>
          <a:xfrm rot="5400000">
            <a:off x="4000500" y="-4000500"/>
            <a:ext cx="10299700" cy="1831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1" name="Google Shape;661;p29"/>
          <p:cNvPicPr preferRelativeResize="0"/>
          <p:nvPr/>
        </p:nvPicPr>
        <p:blipFill rotWithShape="1">
          <a:blip r:embed="rId4">
            <a:alphaModFix amt="51000"/>
          </a:blip>
          <a:srcRect b="0" l="0" r="0" t="0"/>
          <a:stretch/>
        </p:blipFill>
        <p:spPr>
          <a:xfrm>
            <a:off x="4356100" y="-584200"/>
            <a:ext cx="11849100" cy="1007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2" name="Google Shape;662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76200" y="10172700"/>
            <a:ext cx="184277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3" name="Google Shape;663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10172700"/>
            <a:ext cx="91440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4" name="Google Shape;664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27100" y="673100"/>
            <a:ext cx="1993900" cy="2019300"/>
          </a:xfrm>
          <a:prstGeom prst="rect">
            <a:avLst/>
          </a:prstGeom>
          <a:noFill/>
          <a:ln>
            <a:noFill/>
          </a:ln>
          <a:effectLst>
            <a:outerShdw blurRad="39714" dir="5400000" dist="122887">
              <a:srgbClr val="344096">
                <a:alpha val="15686"/>
              </a:srgbClr>
            </a:outerShdw>
          </a:effectLst>
        </p:spPr>
      </p:pic>
      <p:sp>
        <p:nvSpPr>
          <p:cNvPr id="665" name="Google Shape;665;p29"/>
          <p:cNvSpPr txBox="1"/>
          <p:nvPr/>
        </p:nvSpPr>
        <p:spPr>
          <a:xfrm>
            <a:off x="11811000" y="5473700"/>
            <a:ext cx="4572000" cy="9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28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5300" u="none" strike="noStrike">
                <a:solidFill>
                  <a:srgbClr val="3958E3"/>
                </a:solidFill>
                <a:latin typeface="Arial"/>
                <a:ea typeface="Arial"/>
                <a:cs typeface="Arial"/>
                <a:sym typeface="Arial"/>
              </a:rPr>
              <a:t>데이터 수집</a:t>
            </a:r>
            <a:endParaRPr/>
          </a:p>
        </p:txBody>
      </p:sp>
      <p:sp>
        <p:nvSpPr>
          <p:cNvPr id="666" name="Google Shape;666;p29"/>
          <p:cNvSpPr txBox="1"/>
          <p:nvPr/>
        </p:nvSpPr>
        <p:spPr>
          <a:xfrm>
            <a:off x="15278100" y="3924300"/>
            <a:ext cx="1104900" cy="10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62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6200" u="none" strike="noStrike">
                <a:solidFill>
                  <a:srgbClr val="3958E3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1" name="Google Shape;671;p30"/>
          <p:cNvPicPr preferRelativeResize="0"/>
          <p:nvPr/>
        </p:nvPicPr>
        <p:blipFill rotWithShape="1">
          <a:blip r:embed="rId3">
            <a:alphaModFix amt="8000"/>
          </a:blip>
          <a:srcRect b="0" l="0" r="0" t="0"/>
          <a:stretch/>
        </p:blipFill>
        <p:spPr>
          <a:xfrm rot="5400000">
            <a:off x="3930650" y="-4227369"/>
            <a:ext cx="10299701" cy="1831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2" name="Google Shape;67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76200" y="10172700"/>
            <a:ext cx="184277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3" name="Google Shape;673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10172700"/>
            <a:ext cx="91440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4" name="Google Shape;674;p30"/>
          <p:cNvPicPr preferRelativeResize="0"/>
          <p:nvPr/>
        </p:nvPicPr>
        <p:blipFill rotWithShape="1">
          <a:blip r:embed="rId6">
            <a:alphaModFix amt="20000"/>
          </a:blip>
          <a:srcRect b="0" l="0" r="0" t="0"/>
          <a:stretch/>
        </p:blipFill>
        <p:spPr>
          <a:xfrm rot="5400000">
            <a:off x="825500" y="5130800"/>
            <a:ext cx="9004301" cy="12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75" name="Google Shape;675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95326" y="622301"/>
            <a:ext cx="1993901" cy="2019300"/>
          </a:xfrm>
          <a:prstGeom prst="rect">
            <a:avLst/>
          </a:prstGeom>
          <a:noFill/>
          <a:ln>
            <a:noFill/>
          </a:ln>
          <a:effectLst>
            <a:outerShdw blurRad="39714" dir="5400000" dist="122887">
              <a:srgbClr val="344096">
                <a:alpha val="15686"/>
              </a:srgbClr>
            </a:outerShdw>
          </a:effectLst>
        </p:spPr>
      </p:pic>
      <p:sp>
        <p:nvSpPr>
          <p:cNvPr id="676" name="Google Shape;676;p30"/>
          <p:cNvSpPr txBox="1"/>
          <p:nvPr/>
        </p:nvSpPr>
        <p:spPr>
          <a:xfrm>
            <a:off x="533401" y="5448300"/>
            <a:ext cx="52451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5400">
                <a:solidFill>
                  <a:srgbClr val="44CCE5"/>
                </a:solidFill>
                <a:latin typeface="Arial"/>
                <a:ea typeface="Arial"/>
                <a:cs typeface="Arial"/>
                <a:sym typeface="Arial"/>
              </a:rPr>
              <a:t>데이터 수집</a:t>
            </a:r>
            <a:endParaRPr b="1" sz="5400">
              <a:solidFill>
                <a:srgbClr val="44CCE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5400">
                <a:solidFill>
                  <a:srgbClr val="44CCE5"/>
                </a:solidFill>
                <a:latin typeface="Arial"/>
                <a:ea typeface="Arial"/>
                <a:cs typeface="Arial"/>
                <a:sym typeface="Arial"/>
              </a:rPr>
              <a:t>및 활용 계획</a:t>
            </a:r>
            <a:endParaRPr b="1" sz="5400">
              <a:solidFill>
                <a:srgbClr val="44CCE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30"/>
          <p:cNvSpPr txBox="1"/>
          <p:nvPr/>
        </p:nvSpPr>
        <p:spPr>
          <a:xfrm>
            <a:off x="596900" y="3390900"/>
            <a:ext cx="2070101" cy="1028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6600">
                <a:solidFill>
                  <a:srgbClr val="44CCE5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678" name="Google Shape;678;p30"/>
          <p:cNvSpPr txBox="1"/>
          <p:nvPr/>
        </p:nvSpPr>
        <p:spPr>
          <a:xfrm>
            <a:off x="12115800" y="4191001"/>
            <a:ext cx="6248400" cy="13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rgbClr val="34409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텍스트, 스크린샷, 번호, 폰트이(가) 표시된 사진&#10;&#10;AI 생성 콘텐츠는 정확하지 않을 수 있습니다." id="679" name="Google Shape;679;p3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00395" y="1790551"/>
            <a:ext cx="7049093" cy="7336517"/>
          </a:xfrm>
          <a:prstGeom prst="rect">
            <a:avLst/>
          </a:prstGeom>
          <a:noFill/>
          <a:ln>
            <a:noFill/>
          </a:ln>
        </p:spPr>
      </p:pic>
      <p:sp>
        <p:nvSpPr>
          <p:cNvPr id="680" name="Google Shape;680;p30"/>
          <p:cNvSpPr txBox="1"/>
          <p:nvPr/>
        </p:nvSpPr>
        <p:spPr>
          <a:xfrm>
            <a:off x="5359004" y="361079"/>
            <a:ext cx="13182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000">
                <a:solidFill>
                  <a:srgbClr val="6FA0DC"/>
                </a:solidFill>
                <a:latin typeface="Arial"/>
                <a:ea typeface="Arial"/>
                <a:cs typeface="Arial"/>
                <a:sym typeface="Arial"/>
              </a:rPr>
              <a:t> 주요 수집 데이터 </a:t>
            </a:r>
            <a:endParaRPr sz="6000">
              <a:solidFill>
                <a:srgbClr val="6FA0D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30"/>
          <p:cNvSpPr txBox="1"/>
          <p:nvPr/>
        </p:nvSpPr>
        <p:spPr>
          <a:xfrm>
            <a:off x="13013273" y="1864531"/>
            <a:ext cx="4267196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65" lvl="0" marL="28576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</a:pP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도메인 지식을 활용한 각종 데이터 증강 및 생성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65" lvl="0" marL="28576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65" lvl="0" marL="28576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</a:pP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4가지 에이전트에서 필요한 데이터를 구축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65" lvl="0" marL="28576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65" lvl="0" marL="28576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65" lvl="0" marL="28576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65" lvl="0" marL="28576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65" lvl="0" marL="28576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65" lvl="0" marL="28576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" name="Google Shape;68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1" y="495300"/>
            <a:ext cx="2085014" cy="2182557"/>
          </a:xfrm>
          <a:prstGeom prst="rect">
            <a:avLst/>
          </a:prstGeom>
          <a:noFill/>
          <a:ln>
            <a:noFill/>
          </a:ln>
        </p:spPr>
      </p:pic>
      <p:pic>
        <p:nvPicPr>
          <p:cNvPr id="687" name="Google Shape;687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" y="10050184"/>
            <a:ext cx="8456847" cy="154148"/>
          </a:xfrm>
          <a:prstGeom prst="rect">
            <a:avLst/>
          </a:prstGeom>
          <a:noFill/>
          <a:ln>
            <a:noFill/>
          </a:ln>
        </p:spPr>
      </p:pic>
      <p:pic>
        <p:nvPicPr>
          <p:cNvPr id="688" name="Google Shape;688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34400" y="10050184"/>
            <a:ext cx="9753600" cy="148592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p31"/>
          <p:cNvSpPr txBox="1"/>
          <p:nvPr/>
        </p:nvSpPr>
        <p:spPr>
          <a:xfrm>
            <a:off x="4892963" y="1832547"/>
            <a:ext cx="12912437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0C0C0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3000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타 회사 벤치마킹 &amp; 도메인 지식 활용(보안, 개인정보 보호원칙유지)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0C0C0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rgbClr val="0C0C0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65" lvl="0" marL="285765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700"/>
              <a:buFont typeface="Noto Sans Symbols"/>
              <a:buChar char="●"/>
            </a:pPr>
            <a:r>
              <a:rPr lang="ko-KR" sz="2700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2400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가상의 회사를 설정하여 내부 규정 데이터 생성</a:t>
            </a:r>
            <a:endParaRPr sz="2400">
              <a:solidFill>
                <a:srgbClr val="0C0C0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C0C0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17" lvl="0" marL="342917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Noto Sans Symbols"/>
              <a:buChar char="●"/>
            </a:pPr>
            <a:r>
              <a:rPr lang="ko-KR" sz="2400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현존 제약회사 데이터를 참고 형식, 흐름 동일하게 유지, 거래처명 및 인명은 모두 변경, 수치 또한 일부 조정. 거래 구조, 판매 흐름, 실적 지표 등은 도메인 지식을 기반으로 유지</a:t>
            </a:r>
            <a:endParaRPr sz="2400">
              <a:solidFill>
                <a:srgbClr val="0C0C0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C0C0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65" lvl="0" marL="285765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Noto Sans Symbols"/>
              <a:buChar char="●"/>
            </a:pPr>
            <a:r>
              <a:rPr lang="ko-KR" sz="2400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 실제 제약업계의 조직 구조와 직책 체계 분석, 현실성 있는 인사 정보 및 조직도를 구축. 직책 및 부서 명칭은 도메인 지식기반, 가상의 이름 및 역할을 부여</a:t>
            </a:r>
            <a:endParaRPr sz="2400">
              <a:solidFill>
                <a:srgbClr val="0C0C0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31"/>
          <p:cNvSpPr txBox="1"/>
          <p:nvPr/>
        </p:nvSpPr>
        <p:spPr>
          <a:xfrm>
            <a:off x="5135042" y="6767814"/>
            <a:ext cx="9952559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7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실제성과 도메인 일치도를 유지, </a:t>
            </a:r>
            <a:br>
              <a:rPr lang="ko-KR" sz="27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-KR" sz="27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보안과 개인정보 보호를 철저히 반영, </a:t>
            </a:r>
            <a:br>
              <a:rPr lang="ko-KR" sz="27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-KR" sz="27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테스트, 프로토타입 검증에 적합하게 설계</a:t>
            </a:r>
            <a:endParaRPr sz="2700">
              <a:solidFill>
                <a:srgbClr val="36609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rgbClr val="3660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31"/>
          <p:cNvSpPr txBox="1"/>
          <p:nvPr/>
        </p:nvSpPr>
        <p:spPr>
          <a:xfrm>
            <a:off x="6024796" y="8425262"/>
            <a:ext cx="708782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366092"/>
                </a:solidFill>
                <a:latin typeface="Arial"/>
                <a:ea typeface="Arial"/>
                <a:cs typeface="Arial"/>
                <a:sym typeface="Arial"/>
              </a:rPr>
              <a:t>현실성, 재현성(도메인 일치도) 구현</a:t>
            </a:r>
            <a:endParaRPr/>
          </a:p>
        </p:txBody>
      </p:sp>
      <p:sp>
        <p:nvSpPr>
          <p:cNvPr id="692" name="Google Shape;692;p31"/>
          <p:cNvSpPr/>
          <p:nvPr/>
        </p:nvSpPr>
        <p:spPr>
          <a:xfrm>
            <a:off x="5292437" y="8551238"/>
            <a:ext cx="574964" cy="3078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21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31"/>
          <p:cNvSpPr txBox="1"/>
          <p:nvPr/>
        </p:nvSpPr>
        <p:spPr>
          <a:xfrm>
            <a:off x="533401" y="5448300"/>
            <a:ext cx="52451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5400">
                <a:solidFill>
                  <a:srgbClr val="44CCE5"/>
                </a:solidFill>
                <a:latin typeface="Arial"/>
                <a:ea typeface="Arial"/>
                <a:cs typeface="Arial"/>
                <a:sym typeface="Arial"/>
              </a:rPr>
              <a:t>데이터 수집</a:t>
            </a:r>
            <a:endParaRPr b="1" sz="5400">
              <a:solidFill>
                <a:srgbClr val="44CCE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5400">
                <a:solidFill>
                  <a:srgbClr val="44CCE5"/>
                </a:solidFill>
                <a:latin typeface="Arial"/>
                <a:ea typeface="Arial"/>
                <a:cs typeface="Arial"/>
                <a:sym typeface="Arial"/>
              </a:rPr>
              <a:t>및 활용 계획</a:t>
            </a:r>
            <a:endParaRPr b="1" sz="5400">
              <a:solidFill>
                <a:srgbClr val="44CCE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31"/>
          <p:cNvSpPr txBox="1"/>
          <p:nvPr/>
        </p:nvSpPr>
        <p:spPr>
          <a:xfrm>
            <a:off x="596900" y="3390900"/>
            <a:ext cx="2070101" cy="1028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6600">
                <a:solidFill>
                  <a:srgbClr val="44CCE5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695" name="Google Shape;695;p31"/>
          <p:cNvSpPr txBox="1"/>
          <p:nvPr/>
        </p:nvSpPr>
        <p:spPr>
          <a:xfrm>
            <a:off x="4757880" y="361079"/>
            <a:ext cx="13182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000">
                <a:solidFill>
                  <a:srgbClr val="6FA0DC"/>
                </a:solidFill>
                <a:latin typeface="Arial"/>
                <a:ea typeface="Arial"/>
                <a:cs typeface="Arial"/>
                <a:sym typeface="Arial"/>
              </a:rPr>
              <a:t> 내부 데이터 수집 및 증강</a:t>
            </a:r>
            <a:endParaRPr sz="6000">
              <a:solidFill>
                <a:srgbClr val="6FA0D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0" name="Google Shape;700;p32"/>
          <p:cNvPicPr preferRelativeResize="0"/>
          <p:nvPr/>
        </p:nvPicPr>
        <p:blipFill rotWithShape="1">
          <a:blip r:embed="rId3">
            <a:alphaModFix amt="8000"/>
          </a:blip>
          <a:srcRect b="0" l="0" r="0" t="0"/>
          <a:stretch/>
        </p:blipFill>
        <p:spPr>
          <a:xfrm rot="5400000">
            <a:off x="4145063" y="-4106962"/>
            <a:ext cx="10299701" cy="18589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01" name="Google Shape;701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76200" y="10172700"/>
            <a:ext cx="184277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2" name="Google Shape;702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10172700"/>
            <a:ext cx="91440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3" name="Google Shape;703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1092" y="772767"/>
            <a:ext cx="1993901" cy="2019300"/>
          </a:xfrm>
          <a:prstGeom prst="rect">
            <a:avLst/>
          </a:prstGeom>
          <a:noFill/>
          <a:ln>
            <a:noFill/>
          </a:ln>
          <a:effectLst>
            <a:outerShdw blurRad="39714" dir="5400000" dist="122887">
              <a:srgbClr val="344096">
                <a:alpha val="15686"/>
              </a:srgbClr>
            </a:outerShdw>
          </a:effectLst>
        </p:spPr>
      </p:pic>
      <p:sp>
        <p:nvSpPr>
          <p:cNvPr id="704" name="Google Shape;704;p32"/>
          <p:cNvSpPr txBox="1"/>
          <p:nvPr/>
        </p:nvSpPr>
        <p:spPr>
          <a:xfrm>
            <a:off x="5088465" y="2200811"/>
            <a:ext cx="100584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3000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웹 데이터 수집이나 웹 크롤링을 활용 </a:t>
            </a:r>
            <a:endParaRPr/>
          </a:p>
        </p:txBody>
      </p:sp>
      <p:sp>
        <p:nvSpPr>
          <p:cNvPr id="705" name="Google Shape;705;p32"/>
          <p:cNvSpPr txBox="1"/>
          <p:nvPr/>
        </p:nvSpPr>
        <p:spPr>
          <a:xfrm>
            <a:off x="4969939" y="3523998"/>
            <a:ext cx="12521663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65" lvl="0" marL="28576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●"/>
            </a:pPr>
            <a:r>
              <a:rPr lang="ko-K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제약사업관련 법률조항, 위반시 법적 제재 등 실질적인 법률 데이터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3365" lvl="0" marL="28576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65" lvl="0" marL="28576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●"/>
            </a:pPr>
            <a:r>
              <a:rPr lang="ko-K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여러 품목의 약품사용 매뉴얼로  영업사원의 전문성 향상에 필요한 데이터 수집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3365" lvl="0" marL="28576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65" lvl="0" marL="28576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●"/>
            </a:pPr>
            <a:r>
              <a:rPr lang="ko-K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지출 보고서 등 제약업계에 요하는 가이드라인 데이터를 통해 필요한 서류양식과 지침을 수집 </a:t>
            </a:r>
            <a:endParaRPr/>
          </a:p>
        </p:txBody>
      </p:sp>
      <p:sp>
        <p:nvSpPr>
          <p:cNvPr id="706" name="Google Shape;706;p32"/>
          <p:cNvSpPr txBox="1"/>
          <p:nvPr/>
        </p:nvSpPr>
        <p:spPr>
          <a:xfrm>
            <a:off x="7823204" y="6140793"/>
            <a:ext cx="93726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200">
                <a:solidFill>
                  <a:srgbClr val="E36C09"/>
                </a:solidFill>
                <a:latin typeface="Arial"/>
                <a:ea typeface="Arial"/>
                <a:cs typeface="Arial"/>
                <a:sym typeface="Arial"/>
              </a:rPr>
              <a:t>PDF등 텍스트 추출이 필요한 파일은 OCR활용</a:t>
            </a:r>
            <a:endParaRPr/>
          </a:p>
        </p:txBody>
      </p:sp>
      <p:sp>
        <p:nvSpPr>
          <p:cNvPr id="707" name="Google Shape;707;p32"/>
          <p:cNvSpPr txBox="1"/>
          <p:nvPr/>
        </p:nvSpPr>
        <p:spPr>
          <a:xfrm>
            <a:off x="533401" y="5448300"/>
            <a:ext cx="52451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5400">
                <a:solidFill>
                  <a:srgbClr val="44CCE5"/>
                </a:solidFill>
                <a:latin typeface="Arial"/>
                <a:ea typeface="Arial"/>
                <a:cs typeface="Arial"/>
                <a:sym typeface="Arial"/>
              </a:rPr>
              <a:t>데이터 수집</a:t>
            </a:r>
            <a:endParaRPr b="1" sz="5400">
              <a:solidFill>
                <a:srgbClr val="44CCE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5400">
                <a:solidFill>
                  <a:srgbClr val="44CCE5"/>
                </a:solidFill>
                <a:latin typeface="Arial"/>
                <a:ea typeface="Arial"/>
                <a:cs typeface="Arial"/>
                <a:sym typeface="Arial"/>
              </a:rPr>
              <a:t>및 활용 계획</a:t>
            </a:r>
            <a:endParaRPr b="1" sz="5400">
              <a:solidFill>
                <a:srgbClr val="44CCE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32"/>
          <p:cNvSpPr txBox="1"/>
          <p:nvPr/>
        </p:nvSpPr>
        <p:spPr>
          <a:xfrm>
            <a:off x="596900" y="3390900"/>
            <a:ext cx="2070101" cy="1028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6600">
                <a:solidFill>
                  <a:srgbClr val="44CCE5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709" name="Google Shape;709;p32"/>
          <p:cNvSpPr txBox="1"/>
          <p:nvPr/>
        </p:nvSpPr>
        <p:spPr>
          <a:xfrm>
            <a:off x="4757880" y="361079"/>
            <a:ext cx="13182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000">
                <a:solidFill>
                  <a:srgbClr val="6FA0DC"/>
                </a:solidFill>
                <a:latin typeface="Arial"/>
                <a:ea typeface="Arial"/>
                <a:cs typeface="Arial"/>
                <a:sym typeface="Arial"/>
              </a:rPr>
              <a:t> 외부 데이터 수집</a:t>
            </a:r>
            <a:endParaRPr sz="6000">
              <a:solidFill>
                <a:srgbClr val="6FA0D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0" name="Google Shape;710;p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194306" y="6140793"/>
            <a:ext cx="2408762" cy="3496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5" name="Google Shape;715;p33"/>
          <p:cNvPicPr preferRelativeResize="0"/>
          <p:nvPr/>
        </p:nvPicPr>
        <p:blipFill rotWithShape="1">
          <a:blip r:embed="rId3">
            <a:alphaModFix amt="8000"/>
          </a:blip>
          <a:srcRect b="0" l="0" r="0" t="0"/>
          <a:stretch/>
        </p:blipFill>
        <p:spPr>
          <a:xfrm rot="5400000">
            <a:off x="4000500" y="-4000500"/>
            <a:ext cx="10299700" cy="1831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6" name="Google Shape;716;p33"/>
          <p:cNvPicPr preferRelativeResize="0"/>
          <p:nvPr/>
        </p:nvPicPr>
        <p:blipFill rotWithShape="1">
          <a:blip r:embed="rId4">
            <a:alphaModFix amt="51000"/>
          </a:blip>
          <a:srcRect b="0" l="0" r="0" t="0"/>
          <a:stretch/>
        </p:blipFill>
        <p:spPr>
          <a:xfrm>
            <a:off x="4356100" y="-584200"/>
            <a:ext cx="11849100" cy="1007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7" name="Google Shape;717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76200" y="10172700"/>
            <a:ext cx="184277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8" name="Google Shape;718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10172700"/>
            <a:ext cx="91440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9" name="Google Shape;719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27100" y="673100"/>
            <a:ext cx="1993900" cy="2019300"/>
          </a:xfrm>
          <a:prstGeom prst="rect">
            <a:avLst/>
          </a:prstGeom>
          <a:noFill/>
          <a:ln>
            <a:noFill/>
          </a:ln>
          <a:effectLst>
            <a:outerShdw blurRad="39714" dir="5400000" dist="122887">
              <a:srgbClr val="344096">
                <a:alpha val="15686"/>
              </a:srgbClr>
            </a:outerShdw>
          </a:effectLst>
        </p:spPr>
      </p:pic>
      <p:sp>
        <p:nvSpPr>
          <p:cNvPr id="720" name="Google Shape;720;p33"/>
          <p:cNvSpPr txBox="1"/>
          <p:nvPr/>
        </p:nvSpPr>
        <p:spPr>
          <a:xfrm>
            <a:off x="11811000" y="5473700"/>
            <a:ext cx="4572000" cy="9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28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5300" u="none" strike="noStrike">
                <a:solidFill>
                  <a:srgbClr val="3958E3"/>
                </a:solidFill>
                <a:latin typeface="Arial"/>
                <a:ea typeface="Arial"/>
                <a:cs typeface="Arial"/>
                <a:sym typeface="Arial"/>
              </a:rPr>
              <a:t>시연 영상</a:t>
            </a:r>
            <a:endParaRPr/>
          </a:p>
        </p:txBody>
      </p:sp>
      <p:sp>
        <p:nvSpPr>
          <p:cNvPr id="721" name="Google Shape;721;p33"/>
          <p:cNvSpPr txBox="1"/>
          <p:nvPr/>
        </p:nvSpPr>
        <p:spPr>
          <a:xfrm>
            <a:off x="15278100" y="3924300"/>
            <a:ext cx="1104900" cy="10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62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6200" u="none" strike="noStrike">
                <a:solidFill>
                  <a:srgbClr val="3958E3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6" name="Google Shape;726;p34"/>
          <p:cNvPicPr preferRelativeResize="0"/>
          <p:nvPr/>
        </p:nvPicPr>
        <p:blipFill rotWithShape="1">
          <a:blip r:embed="rId3">
            <a:alphaModFix amt="8000"/>
          </a:blip>
          <a:srcRect b="0" l="0" r="0" t="0"/>
          <a:stretch/>
        </p:blipFill>
        <p:spPr>
          <a:xfrm rot="5400000">
            <a:off x="4000500" y="-4000500"/>
            <a:ext cx="10299700" cy="1831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7" name="Google Shape;727;p34"/>
          <p:cNvPicPr preferRelativeResize="0"/>
          <p:nvPr/>
        </p:nvPicPr>
        <p:blipFill rotWithShape="1">
          <a:blip r:embed="rId4">
            <a:alphaModFix amt="51000"/>
          </a:blip>
          <a:srcRect b="0" l="0" r="0" t="0"/>
          <a:stretch/>
        </p:blipFill>
        <p:spPr>
          <a:xfrm>
            <a:off x="4356100" y="-584200"/>
            <a:ext cx="11849100" cy="1007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8" name="Google Shape;728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76200" y="10172700"/>
            <a:ext cx="184277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9" name="Google Shape;729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10172700"/>
            <a:ext cx="91440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0" name="Google Shape;730;p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28800" y="1257300"/>
            <a:ext cx="14630400" cy="77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5" name="Google Shape;735;p35"/>
          <p:cNvPicPr preferRelativeResize="0"/>
          <p:nvPr/>
        </p:nvPicPr>
        <p:blipFill rotWithShape="1">
          <a:blip r:embed="rId3">
            <a:alphaModFix amt="8000"/>
          </a:blip>
          <a:srcRect b="0" l="0" r="0" t="0"/>
          <a:stretch/>
        </p:blipFill>
        <p:spPr>
          <a:xfrm rot="5400000">
            <a:off x="4000500" y="-4000500"/>
            <a:ext cx="10299700" cy="1831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6" name="Google Shape;736;p35"/>
          <p:cNvPicPr preferRelativeResize="0"/>
          <p:nvPr/>
        </p:nvPicPr>
        <p:blipFill rotWithShape="1">
          <a:blip r:embed="rId4">
            <a:alphaModFix amt="51000"/>
          </a:blip>
          <a:srcRect b="0" l="0" r="0" t="0"/>
          <a:stretch/>
        </p:blipFill>
        <p:spPr>
          <a:xfrm>
            <a:off x="4356100" y="-584200"/>
            <a:ext cx="11849100" cy="1007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7" name="Google Shape;737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76200" y="10172700"/>
            <a:ext cx="184277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8" name="Google Shape;738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10172700"/>
            <a:ext cx="91440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9" name="Google Shape;739;p3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27100" y="673100"/>
            <a:ext cx="1993900" cy="2019300"/>
          </a:xfrm>
          <a:prstGeom prst="rect">
            <a:avLst/>
          </a:prstGeom>
          <a:noFill/>
          <a:ln>
            <a:noFill/>
          </a:ln>
          <a:effectLst>
            <a:outerShdw blurRad="39714" dir="5400000" dist="122887">
              <a:srgbClr val="344096">
                <a:alpha val="15686"/>
              </a:srgbClr>
            </a:outerShdw>
          </a:effectLst>
        </p:spPr>
      </p:pic>
      <p:sp>
        <p:nvSpPr>
          <p:cNvPr id="740" name="Google Shape;740;p35"/>
          <p:cNvSpPr txBox="1"/>
          <p:nvPr/>
        </p:nvSpPr>
        <p:spPr>
          <a:xfrm>
            <a:off x="11811000" y="5473700"/>
            <a:ext cx="4572000" cy="9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28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5300">
                <a:solidFill>
                  <a:srgbClr val="3958E3"/>
                </a:solidFill>
                <a:latin typeface="Arial"/>
                <a:ea typeface="Arial"/>
                <a:cs typeface="Arial"/>
                <a:sym typeface="Arial"/>
              </a:rPr>
              <a:t>향후 계획</a:t>
            </a:r>
            <a:endParaRPr b="0" i="0" sz="5300" u="none" strike="noStrike">
              <a:solidFill>
                <a:srgbClr val="3958E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35"/>
          <p:cNvSpPr txBox="1"/>
          <p:nvPr/>
        </p:nvSpPr>
        <p:spPr>
          <a:xfrm>
            <a:off x="15278100" y="3924300"/>
            <a:ext cx="1104900" cy="10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62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6200" u="none" strike="noStrike">
                <a:solidFill>
                  <a:srgbClr val="3958E3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6" name="Google Shape;746;p36"/>
          <p:cNvPicPr preferRelativeResize="0"/>
          <p:nvPr/>
        </p:nvPicPr>
        <p:blipFill rotWithShape="1">
          <a:blip r:embed="rId3">
            <a:alphaModFix amt="8000"/>
          </a:blip>
          <a:srcRect b="0" l="0" r="0" t="0"/>
          <a:stretch/>
        </p:blipFill>
        <p:spPr>
          <a:xfrm rot="5400000">
            <a:off x="4044950" y="-4033521"/>
            <a:ext cx="10299701" cy="1831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7" name="Google Shape;747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76200" y="10172700"/>
            <a:ext cx="184277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8" name="Google Shape;748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10172700"/>
            <a:ext cx="91440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9" name="Google Shape;749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95422" y="3239769"/>
            <a:ext cx="3530600" cy="5943600"/>
          </a:xfrm>
          <a:prstGeom prst="rect">
            <a:avLst/>
          </a:prstGeom>
          <a:noFill/>
          <a:ln>
            <a:noFill/>
          </a:ln>
          <a:effectLst>
            <a:outerShdw blurRad="105336" dir="5400000" dist="133720">
              <a:srgbClr val="CDD9ED">
                <a:alpha val="40784"/>
              </a:srgbClr>
            </a:outerShdw>
          </a:effectLst>
        </p:spPr>
      </p:pic>
      <p:sp>
        <p:nvSpPr>
          <p:cNvPr id="750" name="Google Shape;750;p36"/>
          <p:cNvSpPr txBox="1"/>
          <p:nvPr/>
        </p:nvSpPr>
        <p:spPr>
          <a:xfrm>
            <a:off x="1414199" y="3818320"/>
            <a:ext cx="3493046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ko-K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프롬프트 고도화 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36"/>
          <p:cNvSpPr txBox="1"/>
          <p:nvPr/>
        </p:nvSpPr>
        <p:spPr>
          <a:xfrm>
            <a:off x="1698718" y="6484289"/>
            <a:ext cx="2924009" cy="12009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65" lvl="0" marL="28576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1"/>
              <a:buFont typeface="Arial"/>
              <a:buChar char="•"/>
            </a:pPr>
            <a:r>
              <a:rPr lang="ko-KR" sz="160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테스트를 진행하면서 고도화.</a:t>
            </a:r>
            <a:endParaRPr/>
          </a:p>
          <a:p>
            <a:pPr indent="-285765" lvl="0" marL="28576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1"/>
              <a:buFont typeface="Arial"/>
              <a:buChar char="•"/>
            </a:pPr>
            <a:r>
              <a:rPr lang="ko-KR" sz="160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제약이나 규칙을 추가하여 원하는 형식으로 일관성 있게 유도.</a:t>
            </a:r>
            <a:endParaRPr/>
          </a:p>
        </p:txBody>
      </p:sp>
      <p:pic>
        <p:nvPicPr>
          <p:cNvPr id="752" name="Google Shape;752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84275" y="3247389"/>
            <a:ext cx="3530600" cy="5943600"/>
          </a:xfrm>
          <a:prstGeom prst="rect">
            <a:avLst/>
          </a:prstGeom>
          <a:noFill/>
          <a:ln>
            <a:noFill/>
          </a:ln>
          <a:effectLst>
            <a:outerShdw blurRad="105336" dir="5400000" dist="133720">
              <a:srgbClr val="CDD9ED">
                <a:alpha val="40784"/>
              </a:srgbClr>
            </a:outerShdw>
          </a:effectLst>
        </p:spPr>
      </p:pic>
      <p:sp>
        <p:nvSpPr>
          <p:cNvPr id="753" name="Google Shape;753;p36"/>
          <p:cNvSpPr txBox="1"/>
          <p:nvPr/>
        </p:nvSpPr>
        <p:spPr>
          <a:xfrm>
            <a:off x="5403052" y="3818320"/>
            <a:ext cx="3493046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UI/UX 개선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4" name="Google Shape;754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73129" y="3255009"/>
            <a:ext cx="3530600" cy="5943600"/>
          </a:xfrm>
          <a:prstGeom prst="rect">
            <a:avLst/>
          </a:prstGeom>
          <a:noFill/>
          <a:ln>
            <a:noFill/>
          </a:ln>
          <a:effectLst>
            <a:outerShdw blurRad="105336" dir="5400000" dist="133720">
              <a:srgbClr val="CDD9ED">
                <a:alpha val="40784"/>
              </a:srgbClr>
            </a:outerShdw>
          </a:effectLst>
        </p:spPr>
      </p:pic>
      <p:sp>
        <p:nvSpPr>
          <p:cNvPr id="755" name="Google Shape;755;p36"/>
          <p:cNvSpPr txBox="1"/>
          <p:nvPr/>
        </p:nvSpPr>
        <p:spPr>
          <a:xfrm>
            <a:off x="9391906" y="3610570"/>
            <a:ext cx="349304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주기별 데이터 자동 수집( 에어플로우 ) 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6" name="Google Shape;756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361981" y="3289301"/>
            <a:ext cx="3530600" cy="5943600"/>
          </a:xfrm>
          <a:prstGeom prst="rect">
            <a:avLst/>
          </a:prstGeom>
          <a:noFill/>
          <a:ln>
            <a:noFill/>
          </a:ln>
          <a:effectLst>
            <a:outerShdw blurRad="105336" dir="5400000" dist="133720">
              <a:srgbClr val="CDD9ED">
                <a:alpha val="40784"/>
              </a:srgbClr>
            </a:outerShdw>
          </a:effectLst>
        </p:spPr>
      </p:pic>
      <p:sp>
        <p:nvSpPr>
          <p:cNvPr id="757" name="Google Shape;757;p36"/>
          <p:cNvSpPr txBox="1"/>
          <p:nvPr/>
        </p:nvSpPr>
        <p:spPr>
          <a:xfrm>
            <a:off x="13380758" y="3818320"/>
            <a:ext cx="3493046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ko-K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 고도화 </a:t>
            </a:r>
            <a:endParaRPr/>
          </a:p>
        </p:txBody>
      </p:sp>
      <p:sp>
        <p:nvSpPr>
          <p:cNvPr id="758" name="Google Shape;758;p36"/>
          <p:cNvSpPr txBox="1"/>
          <p:nvPr/>
        </p:nvSpPr>
        <p:spPr>
          <a:xfrm>
            <a:off x="5686592" y="6484289"/>
            <a:ext cx="2924009" cy="8313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65" lvl="0" marL="28576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1"/>
              <a:buFont typeface="Arial"/>
              <a:buChar char="•"/>
            </a:pPr>
            <a:r>
              <a:rPr lang="ko-KR" sz="160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사용자 로그를 남겨 개선사항 추적</a:t>
            </a:r>
            <a:endParaRPr sz="160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36"/>
          <p:cNvSpPr txBox="1"/>
          <p:nvPr/>
        </p:nvSpPr>
        <p:spPr>
          <a:xfrm>
            <a:off x="9674468" y="6484289"/>
            <a:ext cx="2924009" cy="19399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65" lvl="0" marL="28576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1"/>
              <a:buFont typeface="Arial"/>
              <a:buChar char="•"/>
            </a:pPr>
            <a:r>
              <a:rPr lang="ko-KR" sz="160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최신 뉴스 하루에 두  번 수집</a:t>
            </a:r>
            <a:endParaRPr sz="160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65" lvl="0" marL="28576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1"/>
              <a:buFont typeface="Arial"/>
              <a:buChar char="•"/>
            </a:pPr>
            <a:r>
              <a:rPr lang="ko-KR" sz="160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법률이나 규정은 일주일에 한 번 수집.</a:t>
            </a:r>
            <a:endParaRPr/>
          </a:p>
          <a:p>
            <a:pPr indent="-285765" lvl="0" marL="28576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1"/>
              <a:buFont typeface="Arial"/>
              <a:buChar char="•"/>
            </a:pPr>
            <a:r>
              <a:rPr lang="ko-KR" sz="160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법률 관련 업데이트 공지를 보고 해당 일정에 맞게 추가 업데이트.</a:t>
            </a:r>
            <a:endParaRPr/>
          </a:p>
        </p:txBody>
      </p:sp>
      <p:sp>
        <p:nvSpPr>
          <p:cNvPr id="760" name="Google Shape;760;p36"/>
          <p:cNvSpPr txBox="1"/>
          <p:nvPr/>
        </p:nvSpPr>
        <p:spPr>
          <a:xfrm>
            <a:off x="13662343" y="6484289"/>
            <a:ext cx="2924009" cy="12009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65" lvl="0" marL="28576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1"/>
              <a:buFont typeface="Arial"/>
              <a:buChar char="•"/>
            </a:pPr>
            <a:r>
              <a:rPr lang="ko-KR" sz="160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구현된 기능을 테스트 하면서 최대한 도메인 지식을 살려 고도화.</a:t>
            </a:r>
            <a:endParaRPr/>
          </a:p>
        </p:txBody>
      </p:sp>
      <p:pic>
        <p:nvPicPr>
          <p:cNvPr id="761" name="Google Shape;761;p3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27101" y="673100"/>
            <a:ext cx="1993901" cy="2019300"/>
          </a:xfrm>
          <a:prstGeom prst="rect">
            <a:avLst/>
          </a:prstGeom>
          <a:noFill/>
          <a:ln>
            <a:noFill/>
          </a:ln>
          <a:effectLst>
            <a:outerShdw blurRad="39714" dir="5400000" dist="122887">
              <a:srgbClr val="344096">
                <a:alpha val="15686"/>
              </a:srgbClr>
            </a:outerShdw>
          </a:effectLst>
        </p:spPr>
      </p:pic>
      <p:sp>
        <p:nvSpPr>
          <p:cNvPr id="762" name="Google Shape;762;p36"/>
          <p:cNvSpPr txBox="1"/>
          <p:nvPr/>
        </p:nvSpPr>
        <p:spPr>
          <a:xfrm>
            <a:off x="3048000" y="1181100"/>
            <a:ext cx="13182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0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NaruTalk</a:t>
            </a:r>
            <a:r>
              <a:rPr lang="ko-KR" sz="6000">
                <a:solidFill>
                  <a:srgbClr val="44CCE5"/>
                </a:solidFill>
                <a:latin typeface="Arial"/>
                <a:ea typeface="Arial"/>
                <a:cs typeface="Arial"/>
                <a:sym typeface="Arial"/>
              </a:rPr>
              <a:t>의 솔루션 </a:t>
            </a:r>
            <a:endParaRPr sz="6000">
              <a:solidFill>
                <a:srgbClr val="44CCE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3" name="Google Shape;763;p3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277673" y="4738739"/>
            <a:ext cx="1760928" cy="1760928"/>
          </a:xfrm>
          <a:prstGeom prst="rect">
            <a:avLst/>
          </a:prstGeom>
          <a:noFill/>
          <a:ln>
            <a:noFill/>
          </a:ln>
        </p:spPr>
      </p:pic>
      <p:pic>
        <p:nvPicPr>
          <p:cNvPr id="764" name="Google Shape;764;p3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138363" y="4608970"/>
            <a:ext cx="2020466" cy="2020466"/>
          </a:xfrm>
          <a:prstGeom prst="rect">
            <a:avLst/>
          </a:prstGeom>
          <a:noFill/>
          <a:ln>
            <a:noFill/>
          </a:ln>
        </p:spPr>
      </p:pic>
      <p:pic>
        <p:nvPicPr>
          <p:cNvPr id="765" name="Google Shape;765;p3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412261" y="4894992"/>
            <a:ext cx="1448422" cy="1448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66" name="Google Shape;766;p3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4399159" y="4894015"/>
            <a:ext cx="1450376" cy="1450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1" name="Google Shape;771;p37"/>
          <p:cNvPicPr preferRelativeResize="0"/>
          <p:nvPr/>
        </p:nvPicPr>
        <p:blipFill rotWithShape="1">
          <a:blip r:embed="rId3">
            <a:alphaModFix amt="8000"/>
          </a:blip>
          <a:srcRect b="0" l="0" r="0" t="0"/>
          <a:stretch/>
        </p:blipFill>
        <p:spPr>
          <a:xfrm rot="5400000">
            <a:off x="4000500" y="-4000500"/>
            <a:ext cx="10299700" cy="1831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2" name="Google Shape;772;p37"/>
          <p:cNvPicPr preferRelativeResize="0"/>
          <p:nvPr/>
        </p:nvPicPr>
        <p:blipFill rotWithShape="1">
          <a:blip r:embed="rId4">
            <a:alphaModFix amt="51000"/>
          </a:blip>
          <a:srcRect b="0" l="0" r="0" t="0"/>
          <a:stretch/>
        </p:blipFill>
        <p:spPr>
          <a:xfrm>
            <a:off x="4356100" y="-584200"/>
            <a:ext cx="11849100" cy="1007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3" name="Google Shape;773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76200" y="10172700"/>
            <a:ext cx="184277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4" name="Google Shape;774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10172700"/>
            <a:ext cx="91440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5" name="Google Shape;775;p3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27100" y="673100"/>
            <a:ext cx="1993900" cy="2019300"/>
          </a:xfrm>
          <a:prstGeom prst="rect">
            <a:avLst/>
          </a:prstGeom>
          <a:noFill/>
          <a:ln>
            <a:noFill/>
          </a:ln>
          <a:effectLst>
            <a:outerShdw blurRad="39714" dir="5400000" dist="122887">
              <a:srgbClr val="344096">
                <a:alpha val="15686"/>
              </a:srgbClr>
            </a:outerShdw>
          </a:effectLst>
        </p:spPr>
      </p:pic>
      <p:sp>
        <p:nvSpPr>
          <p:cNvPr id="776" name="Google Shape;776;p37"/>
          <p:cNvSpPr txBox="1"/>
          <p:nvPr/>
        </p:nvSpPr>
        <p:spPr>
          <a:xfrm>
            <a:off x="9601200" y="5473700"/>
            <a:ext cx="6781800" cy="15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28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0">
                <a:solidFill>
                  <a:srgbClr val="3958E3"/>
                </a:solidFill>
                <a:latin typeface="Arial"/>
                <a:ea typeface="Arial"/>
                <a:cs typeface="Arial"/>
                <a:sym typeface="Arial"/>
              </a:rPr>
              <a:t>감사합니다</a:t>
            </a:r>
            <a:endParaRPr b="0" i="0" sz="8000" u="none" strike="noStrike">
              <a:solidFill>
                <a:srgbClr val="3958E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