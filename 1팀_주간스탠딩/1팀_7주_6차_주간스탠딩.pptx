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Oswald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wAgPaYPw+SFFuQ9qud0iIEnA9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swaldSemiBold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swald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43df644b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743df644b4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610ac0a13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7610ac0a13_3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610ac0a13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7610ac0a13_3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610ac0a13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7610ac0a13_3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610ac0a13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7610ac0a13_3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610ac0a13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7610ac0a13_3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7800" y="1206500"/>
            <a:ext cx="2108200" cy="2159000"/>
          </a:xfrm>
          <a:prstGeom prst="rect">
            <a:avLst/>
          </a:prstGeom>
          <a:noFill/>
          <a:ln>
            <a:noFill/>
          </a:ln>
          <a:effectLst>
            <a:outerShdw blurRad="27558" dir="1800000" dist="32371">
              <a:srgbClr val="000000">
                <a:alpha val="9411"/>
              </a:srgbClr>
            </a:outerShdw>
          </a:effectLst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7800" y="1206500"/>
            <a:ext cx="2108200" cy="2159000"/>
          </a:xfrm>
          <a:prstGeom prst="rect">
            <a:avLst/>
          </a:prstGeom>
          <a:noFill/>
          <a:ln>
            <a:noFill/>
          </a:ln>
          <a:effectLst>
            <a:outerShdw blurRad="27558" dir="12600000" dist="48557">
              <a:srgbClr val="FFFFFF">
                <a:alpha val="60000"/>
              </a:srgbClr>
            </a:outerShdw>
          </a:effectLst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054100" y="3937000"/>
            <a:ext cx="104775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</a:t>
            </a: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_JJS</a:t>
            </a:r>
            <a:b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7주차_6차_주간</a:t>
            </a: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스탠딩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54100" y="3384550"/>
            <a:ext cx="10172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SKN12</a:t>
            </a:r>
            <a:r>
              <a:rPr b="0" i="0" lang="en-US" sz="3000" u="none" cap="none" strike="noStrike">
                <a:solidFill>
                  <a:srgbClr val="11359A"/>
                </a:solidFill>
                <a:latin typeface="Calibri"/>
                <a:ea typeface="Calibri"/>
                <a:cs typeface="Calibri"/>
                <a:sym typeface="Calibri"/>
              </a:rPr>
              <a:t>기</a:t>
            </a:r>
            <a:r>
              <a:rPr b="0" i="0" lang="en-US" sz="3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FIANL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103886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70485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37084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2992099" y="6096000"/>
            <a:ext cx="2748643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금주 진행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137649" y="6096000"/>
            <a:ext cx="3314699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테스트 및 서류 작성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822951" y="5834550"/>
            <a:ext cx="3314699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어플리케이션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기능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959100" y="6083300"/>
            <a:ext cx="2608350" cy="7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에이전트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고도화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29921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96520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2992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9591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에이전트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거래처분석 에이전트 고도화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88475" y="2508300"/>
            <a:ext cx="1677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/>
              <a:t>거래처 영업전략 프롬프트 수정: 기존 영업전략 프롬프트가 세가지 방향으로 인사이트를 도출하도록 구성하였는데, 다섯가지 인사이트 옵션으로 수정하여 거래처 영업전략 레포트 결과를 더 다양하게 담아낼수 있도록 프롬프트 수정</a:t>
            </a:r>
            <a:r>
              <a:rPr lang="en-US" sz="1800"/>
              <a:t> 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17375" y="4297625"/>
            <a:ext cx="169218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동일 등급 거레처 비교분석 세분화: 기존 동일등급거레처 비교분석을 단순 하나의 집단으로 묶어 분류 했다면, 진료과를 기준으로  두 옵션으로 나누어 따로 비교하여 더 세분화된 분석작업을 진행한다.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17375" y="6154875"/>
            <a:ext cx="1692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예외 처리 전역화: 기존 기능들에서 빠져있었거나 제대로 되어 있지 않았던 예외처리기능을 데이터 불러오는 부분부터 추가하여 사용자 편의성을 증가시키고 오류발생시 원인추적을 더 용이하게 하였다.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에이전트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RAW데이터 증강작업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425150" y="2508300"/>
            <a:ext cx="123237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목적 : </a:t>
            </a:r>
            <a:r>
              <a:rPr lang="en-US" sz="2400">
                <a:solidFill>
                  <a:schemeClr val="dk1"/>
                </a:solidFill>
              </a:rPr>
              <a:t>기존 </a:t>
            </a:r>
            <a:r>
              <a:rPr i="1" lang="en-US" sz="2400">
                <a:solidFill>
                  <a:schemeClr val="dk1"/>
                </a:solidFill>
              </a:rPr>
              <a:t>실적·거래처 데이터의 분포와 규칙</a:t>
            </a:r>
            <a:r>
              <a:rPr lang="en-US" sz="2400">
                <a:solidFill>
                  <a:schemeClr val="dk1"/>
                </a:solidFill>
              </a:rPr>
              <a:t>을 유지하면서, LLM에 </a:t>
            </a:r>
            <a:r>
              <a:rPr b="1" lang="en-US" sz="2400">
                <a:solidFill>
                  <a:schemeClr val="dk1"/>
                </a:solidFill>
              </a:rPr>
              <a:t>패턴 제약</a:t>
            </a:r>
            <a:r>
              <a:rPr lang="en-US" sz="2400">
                <a:solidFill>
                  <a:schemeClr val="dk1"/>
                </a:solidFill>
              </a:rPr>
              <a:t>을 부여해 분석·모델학습에 적합한 </a:t>
            </a:r>
            <a:r>
              <a:rPr b="1" lang="en-US" sz="2400">
                <a:solidFill>
                  <a:schemeClr val="dk1"/>
                </a:solidFill>
              </a:rPr>
              <a:t>고품질 합성 데이터</a:t>
            </a:r>
            <a:r>
              <a:rPr lang="en-US" sz="2400">
                <a:solidFill>
                  <a:schemeClr val="dk1"/>
                </a:solidFill>
              </a:rPr>
              <a:t>를 확장 생성.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475" y="2392375"/>
            <a:ext cx="4237650" cy="74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9525" y="4429200"/>
            <a:ext cx="7746200" cy="529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753600" y="26289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213575" y="25083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2019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2019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프론트엔드 기능추가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969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6" title="스크린샷 2025-08-10 2030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2500" y="2804188"/>
            <a:ext cx="10439398" cy="472193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7022950" y="7900775"/>
            <a:ext cx="33585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생성 api 연동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743df644b4_1_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0"/>
              </a:srgbClr>
            </a:outerShdw>
          </a:effectLst>
        </p:spPr>
      </p:pic>
      <p:pic>
        <p:nvPicPr>
          <p:cNvPr id="166" name="Google Shape;166;g3743df644b4_1_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pic>
        <p:nvPicPr>
          <p:cNvPr id="167" name="Google Shape;167;g3743df644b4_1_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0"/>
              </a:srgbClr>
            </a:outerShdw>
          </a:effectLst>
        </p:spPr>
      </p:pic>
      <p:pic>
        <p:nvPicPr>
          <p:cNvPr id="168" name="Google Shape;168;g3743df644b4_1_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69" name="Google Shape;169;g3743df644b4_1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743df644b4_1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743df644b4_1_2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743df644b4_1_2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743df644b4_1_2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프론트엔드 기능추가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743df644b4_1_2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43df644b4_1_2"/>
          <p:cNvSpPr txBox="1"/>
          <p:nvPr/>
        </p:nvSpPr>
        <p:spPr>
          <a:xfrm>
            <a:off x="685800" y="7853825"/>
            <a:ext cx="43920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일정 관리 페이지 구현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743df644b4_1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475" y="2636274"/>
            <a:ext cx="5132400" cy="46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743df644b4_1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6400" y="2686238"/>
            <a:ext cx="8326225" cy="42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기능추가</a:t>
            </a:r>
            <a:r>
              <a:rPr b="1" lang="en-US" sz="3200"/>
              <a:t> 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b="1" sz="3200"/>
          </a:p>
        </p:txBody>
      </p:sp>
      <p:sp>
        <p:nvSpPr>
          <p:cNvPr id="191" name="Google Shape;191;p7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5055975" y="3882700"/>
            <a:ext cx="20415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조회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3253" y="4122747"/>
            <a:ext cx="2041500" cy="20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00425" y="4514975"/>
            <a:ext cx="1257050" cy="125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7"/>
          <p:cNvCxnSpPr>
            <a:endCxn id="193" idx="1"/>
          </p:cNvCxnSpPr>
          <p:nvPr/>
        </p:nvCxnSpPr>
        <p:spPr>
          <a:xfrm>
            <a:off x="4030053" y="5143497"/>
            <a:ext cx="4093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pic>
        <p:nvPicPr>
          <p:cNvPr id="196" name="Google Shape;196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868412" y="4122750"/>
            <a:ext cx="2041500" cy="204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7"/>
          <p:cNvCxnSpPr/>
          <p:nvPr/>
        </p:nvCxnSpPr>
        <p:spPr>
          <a:xfrm>
            <a:off x="10164750" y="5143500"/>
            <a:ext cx="4093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8" name="Google Shape;198;p7"/>
          <p:cNvSpPr txBox="1"/>
          <p:nvPr/>
        </p:nvSpPr>
        <p:spPr>
          <a:xfrm>
            <a:off x="11190525" y="3882700"/>
            <a:ext cx="24423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7610ac0a13_3_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0"/>
              </a:srgbClr>
            </a:outerShdw>
          </a:effectLst>
        </p:spPr>
      </p:pic>
      <p:pic>
        <p:nvPicPr>
          <p:cNvPr id="204" name="Google Shape;204;g37610ac0a13_3_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pic>
        <p:nvPicPr>
          <p:cNvPr id="205" name="Google Shape;205;g37610ac0a13_3_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0"/>
              </a:srgbClr>
            </a:outerShdw>
          </a:effectLst>
        </p:spPr>
      </p:pic>
      <p:pic>
        <p:nvPicPr>
          <p:cNvPr id="206" name="Google Shape;206;g37610ac0a13_3_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07" name="Google Shape;207;g37610ac0a13_3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7610ac0a13_3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7610ac0a13_3_8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7610ac0a13_3_8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7610ac0a13_3_8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기능추가</a:t>
            </a:r>
            <a:r>
              <a:rPr b="1" lang="en-US" sz="3200"/>
              <a:t> 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b="1" sz="3200"/>
          </a:p>
        </p:txBody>
      </p:sp>
      <p:sp>
        <p:nvSpPr>
          <p:cNvPr id="212" name="Google Shape;212;g37610ac0a13_3_8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7610ac0a13_3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4223" y="4399059"/>
            <a:ext cx="3615587" cy="361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7610ac0a13_3_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5384" y="4399051"/>
            <a:ext cx="3615587" cy="3615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g37610ac0a13_3_8"/>
          <p:cNvCxnSpPr>
            <a:endCxn id="214" idx="1"/>
          </p:cNvCxnSpPr>
          <p:nvPr/>
        </p:nvCxnSpPr>
        <p:spPr>
          <a:xfrm>
            <a:off x="4849684" y="6206845"/>
            <a:ext cx="2195700" cy="0"/>
          </a:xfrm>
          <a:prstGeom prst="straightConnector1">
            <a:avLst/>
          </a:prstGeom>
          <a:noFill/>
          <a:ln cap="flat" cmpd="sng" w="13495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16" name="Google Shape;216;g37610ac0a13_3_8"/>
          <p:cNvSpPr txBox="1"/>
          <p:nvPr/>
        </p:nvSpPr>
        <p:spPr>
          <a:xfrm>
            <a:off x="11379550" y="4698993"/>
            <a:ext cx="60492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900"/>
              <a:t>문서 하나하나 넣지 않고</a:t>
            </a:r>
            <a:endParaRPr b="1" sz="3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900"/>
              <a:t>여러 종류의 문서를</a:t>
            </a:r>
            <a:endParaRPr b="1" sz="3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900"/>
              <a:t>한 번에</a:t>
            </a:r>
            <a:endParaRPr b="1" sz="3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7610ac0a13_3_29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0"/>
              </a:srgbClr>
            </a:outerShdw>
          </a:effectLst>
        </p:spPr>
      </p:pic>
      <p:pic>
        <p:nvPicPr>
          <p:cNvPr id="222" name="Google Shape;222;g37610ac0a13_3_29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pic>
        <p:nvPicPr>
          <p:cNvPr id="223" name="Google Shape;223;g37610ac0a13_3_29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0"/>
              </a:srgbClr>
            </a:outerShdw>
          </a:effectLst>
        </p:spPr>
      </p:pic>
      <p:pic>
        <p:nvPicPr>
          <p:cNvPr id="224" name="Google Shape;224;g37610ac0a13_3_29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25" name="Google Shape;225;g37610ac0a13_3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7610ac0a13_3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7610ac0a13_3_29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7610ac0a13_3_29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7610ac0a13_3_29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기능추가</a:t>
            </a:r>
            <a:r>
              <a:rPr b="1" lang="en-US" sz="3200"/>
              <a:t> 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b="1" sz="3200"/>
          </a:p>
        </p:txBody>
      </p:sp>
      <p:sp>
        <p:nvSpPr>
          <p:cNvPr id="230" name="Google Shape;230;g37610ac0a13_3_29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7610ac0a13_3_29"/>
          <p:cNvSpPr txBox="1"/>
          <p:nvPr/>
        </p:nvSpPr>
        <p:spPr>
          <a:xfrm>
            <a:off x="7532975" y="3650525"/>
            <a:ext cx="9616500" cy="4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900"/>
              <a:t>텍스트 문서 업로드 시</a:t>
            </a:r>
            <a:endParaRPr b="1" sz="3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900"/>
              <a:t>자동 청킹 후 </a:t>
            </a:r>
            <a:endParaRPr b="1" sz="3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900"/>
              <a:t>데이터베이스에 저장</a:t>
            </a:r>
            <a:endParaRPr b="1" sz="39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800"/>
              <a:t>텍스트 문서는 규정 문서만 있기 때문에 </a:t>
            </a:r>
            <a:endParaRPr b="1" sz="2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800"/>
              <a:t>‘장’, ‘조’를 기준으로 청킹</a:t>
            </a:r>
            <a:endParaRPr b="1" sz="2800"/>
          </a:p>
        </p:txBody>
      </p:sp>
      <p:pic>
        <p:nvPicPr>
          <p:cNvPr id="232" name="Google Shape;232;g37610ac0a13_3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300" y="31014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7610ac0a13_3_4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0"/>
              </a:srgbClr>
            </a:outerShdw>
          </a:effectLst>
        </p:spPr>
      </p:pic>
      <p:pic>
        <p:nvPicPr>
          <p:cNvPr id="238" name="Google Shape;238;g37610ac0a13_3_4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pic>
        <p:nvPicPr>
          <p:cNvPr id="239" name="Google Shape;239;g37610ac0a13_3_4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0"/>
              </a:srgbClr>
            </a:outerShdw>
          </a:effectLst>
        </p:spPr>
      </p:pic>
      <p:pic>
        <p:nvPicPr>
          <p:cNvPr id="240" name="Google Shape;240;g37610ac0a13_3_4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41" name="Google Shape;241;g37610ac0a13_3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7610ac0a13_3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7610ac0a13_3_47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7610ac0a13_3_47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7610ac0a13_3_47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기능추가</a:t>
            </a:r>
            <a:r>
              <a:rPr b="1" lang="en-US" sz="3200"/>
              <a:t> 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b="1" sz="3200"/>
          </a:p>
        </p:txBody>
      </p:sp>
      <p:sp>
        <p:nvSpPr>
          <p:cNvPr id="246" name="Google Shape;246;g37610ac0a13_3_47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7610ac0a13_3_47"/>
          <p:cNvSpPr txBox="1"/>
          <p:nvPr/>
        </p:nvSpPr>
        <p:spPr>
          <a:xfrm>
            <a:off x="8776525" y="3339875"/>
            <a:ext cx="8328600" cy="4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테이블 문서 업로드 시 테이블 컬럼과 연관있는 테이블 정보 로드</a:t>
            </a:r>
            <a:endParaRPr b="1" sz="3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LLM이 데이터를 어떻게 저장할 지 판단하여 자동 저장</a:t>
            </a:r>
            <a:endParaRPr b="1" sz="3800"/>
          </a:p>
        </p:txBody>
      </p:sp>
      <p:pic>
        <p:nvPicPr>
          <p:cNvPr id="248" name="Google Shape;248;g37610ac0a13_3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675" y="3339875"/>
            <a:ext cx="7738074" cy="35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7610ac0a13_3_6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0"/>
              </a:srgbClr>
            </a:outerShdw>
          </a:effectLst>
        </p:spPr>
      </p:pic>
      <p:pic>
        <p:nvPicPr>
          <p:cNvPr id="254" name="Google Shape;254;g37610ac0a13_3_6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pic>
        <p:nvPicPr>
          <p:cNvPr id="255" name="Google Shape;255;g37610ac0a13_3_6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0"/>
              </a:srgbClr>
            </a:outerShdw>
          </a:effectLst>
        </p:spPr>
      </p:pic>
      <p:pic>
        <p:nvPicPr>
          <p:cNvPr id="256" name="Google Shape;256;g37610ac0a13_3_6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57" name="Google Shape;257;g37610ac0a13_3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7610ac0a13_3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7610ac0a13_3_64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7610ac0a13_3_64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7610ac0a13_3_64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기능추가</a:t>
            </a:r>
            <a:r>
              <a:rPr b="1" lang="en-US" sz="3200"/>
              <a:t> 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b="1" sz="3200"/>
          </a:p>
        </p:txBody>
      </p:sp>
      <p:sp>
        <p:nvSpPr>
          <p:cNvPr id="262" name="Google Shape;262;g37610ac0a13_3_64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g37610ac0a13_3_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3350" y="4581600"/>
            <a:ext cx="27813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7610ac0a13_3_64"/>
          <p:cNvSpPr txBox="1"/>
          <p:nvPr/>
        </p:nvSpPr>
        <p:spPr>
          <a:xfrm>
            <a:off x="1047750" y="5384800"/>
            <a:ext cx="5490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사번, 담당자, ID, 품목…</a:t>
            </a:r>
            <a:endParaRPr b="1" sz="3800"/>
          </a:p>
        </p:txBody>
      </p:sp>
      <p:sp>
        <p:nvSpPr>
          <p:cNvPr id="265" name="Google Shape;265;g37610ac0a13_3_64"/>
          <p:cNvSpPr txBox="1"/>
          <p:nvPr/>
        </p:nvSpPr>
        <p:spPr>
          <a:xfrm>
            <a:off x="6398700" y="3100575"/>
            <a:ext cx="5490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데이터베이스 테이블 설명 벡터 DB</a:t>
            </a:r>
            <a:endParaRPr b="1" sz="3800"/>
          </a:p>
        </p:txBody>
      </p:sp>
      <p:cxnSp>
        <p:nvCxnSpPr>
          <p:cNvPr id="266" name="Google Shape;266;g37610ac0a13_3_64"/>
          <p:cNvCxnSpPr/>
          <p:nvPr/>
        </p:nvCxnSpPr>
        <p:spPr>
          <a:xfrm>
            <a:off x="6538350" y="5957650"/>
            <a:ext cx="5760000" cy="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g37610ac0a13_3_64"/>
          <p:cNvSpPr txBox="1"/>
          <p:nvPr/>
        </p:nvSpPr>
        <p:spPr>
          <a:xfrm>
            <a:off x="12519850" y="3619500"/>
            <a:ext cx="5490600" cy="4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employee_info,</a:t>
            </a:r>
            <a:endParaRPr b="1" sz="3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customers,</a:t>
            </a:r>
            <a:endParaRPr b="1" sz="3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products,</a:t>
            </a:r>
            <a:endParaRPr b="1" sz="3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sales_records</a:t>
            </a:r>
            <a:endParaRPr b="1" sz="38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…</a:t>
            </a:r>
            <a:endParaRPr b="1" sz="3800"/>
          </a:p>
        </p:txBody>
      </p:sp>
      <p:sp>
        <p:nvSpPr>
          <p:cNvPr id="268" name="Google Shape;268;g37610ac0a13_3_64"/>
          <p:cNvSpPr txBox="1"/>
          <p:nvPr/>
        </p:nvSpPr>
        <p:spPr>
          <a:xfrm>
            <a:off x="6398700" y="7793950"/>
            <a:ext cx="54906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관련 테이블 정보 </a:t>
            </a:r>
            <a:endParaRPr b="1" sz="38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800"/>
              <a:t>벡터 유사도로 검색</a:t>
            </a:r>
            <a:endParaRPr b="1"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7610ac0a13_3_8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0"/>
              </a:srgbClr>
            </a:outerShdw>
          </a:effectLst>
        </p:spPr>
      </p:pic>
      <p:pic>
        <p:nvPicPr>
          <p:cNvPr id="274" name="Google Shape;274;g37610ac0a13_3_8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pic>
        <p:nvPicPr>
          <p:cNvPr id="275" name="Google Shape;275;g37610ac0a13_3_86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0"/>
              </a:srgbClr>
            </a:outerShdw>
          </a:effectLst>
        </p:spPr>
      </p:pic>
      <p:pic>
        <p:nvPicPr>
          <p:cNvPr id="276" name="Google Shape;276;g37610ac0a13_3_86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77" name="Google Shape;277;g37610ac0a13_3_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7610ac0a13_3_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7610ac0a13_3_86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7610ac0a13_3_86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7610ac0a13_3_86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기능추가</a:t>
            </a:r>
            <a:r>
              <a:rPr b="1" lang="en-US" sz="3200"/>
              <a:t> 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b="1" sz="3200"/>
          </a:p>
        </p:txBody>
      </p:sp>
      <p:sp>
        <p:nvSpPr>
          <p:cNvPr id="282" name="Google Shape;282;g37610ac0a13_3_86"/>
          <p:cNvSpPr txBox="1"/>
          <p:nvPr/>
        </p:nvSpPr>
        <p:spPr>
          <a:xfrm>
            <a:off x="588475" y="2508300"/>
            <a:ext cx="87609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7610ac0a13_3_86"/>
          <p:cNvSpPr txBox="1"/>
          <p:nvPr/>
        </p:nvSpPr>
        <p:spPr>
          <a:xfrm>
            <a:off x="14592250" y="3604025"/>
            <a:ext cx="5490600" cy="4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700"/>
              <a:t>employee_info,</a:t>
            </a:r>
            <a:endParaRPr b="1" sz="2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700"/>
              <a:t>customers,</a:t>
            </a:r>
            <a:endParaRPr b="1" sz="2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700"/>
              <a:t>products,</a:t>
            </a:r>
            <a:endParaRPr b="1" sz="2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700"/>
              <a:t>sales_records</a:t>
            </a:r>
            <a:endParaRPr b="1" sz="2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2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2700"/>
              <a:t>데이터( 레코드 ) 저장</a:t>
            </a:r>
            <a:endParaRPr b="1" sz="2700"/>
          </a:p>
        </p:txBody>
      </p:sp>
      <p:pic>
        <p:nvPicPr>
          <p:cNvPr id="284" name="Google Shape;284;g37610ac0a13_3_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50" y="3180750"/>
            <a:ext cx="13214499" cy="48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290" name="Google Shape;290;p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291" name="Google Shape;291;p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292" name="Google Shape;292;p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93" name="Google Shape;2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어플리케이션 기능구현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588475" y="1409688"/>
            <a:ext cx="604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Airflow 구현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588475" y="1703575"/>
            <a:ext cx="150096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사회 이슈 뉴스와 제약 뉴스를 기반으로 레포트를 작성하여 기업 방향성 및 전략 수립에 도움.</a:t>
            </a:r>
            <a:endParaRPr sz="2400"/>
          </a:p>
          <a:p>
            <a:pPr indent="-3810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법률 위반 사항 체크에 도움을 얻을 수 있음.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721100"/>
            <a:ext cx="4068890" cy="284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796" y="4007123"/>
            <a:ext cx="3763395" cy="244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70288" y="3924650"/>
            <a:ext cx="4513374" cy="2281226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sp>
        <p:nvSpPr>
          <p:cNvPr id="302" name="Google Shape;302;p8"/>
          <p:cNvSpPr txBox="1"/>
          <p:nvPr/>
        </p:nvSpPr>
        <p:spPr>
          <a:xfrm>
            <a:off x="697225" y="6451325"/>
            <a:ext cx="4262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네이버 헤드라인 뉴스(매일 9, 13시)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4419600" y="6610350"/>
            <a:ext cx="4757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제약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정책 뉴스 및 인기 뉴스(월~금 9시,13시)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14543813" y="6205875"/>
            <a:ext cx="4262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법제처 법률 정보 (매일 13시)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74250" y="3679525"/>
            <a:ext cx="4262699" cy="2927943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0"/>
              </a:srgbClr>
            </a:outerShdw>
          </a:effectLst>
        </p:spPr>
      </p:pic>
      <p:sp>
        <p:nvSpPr>
          <p:cNvPr id="306" name="Google Shape;306;p8"/>
          <p:cNvSpPr txBox="1"/>
          <p:nvPr/>
        </p:nvSpPr>
        <p:spPr>
          <a:xfrm>
            <a:off x="9786125" y="6623050"/>
            <a:ext cx="4757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보험인정기준 고시 (매일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13시)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"/>
          <p:cNvSpPr txBox="1"/>
          <p:nvPr/>
        </p:nvSpPr>
        <p:spPr>
          <a:xfrm>
            <a:off x="4666125" y="39965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             서류 작성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2628025" y="1360850"/>
            <a:ext cx="15335400" cy="78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12315748" y="2302702"/>
            <a:ext cx="5722325" cy="71298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테스트 계획 및 결과 보고서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에이전트 라우팅 테스트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문서자동생성 에이전트 테스트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규정DB테스트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거래처분석 에이전트 테스트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실적분석 에이전트 테스트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프론트엔드 테스트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웹 애플리케이션 기능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오픈서치 구현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관리자 로그인 기능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챗봇 기능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문서 생성 기능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거래처관리 기능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일정관리 기능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356" y="2275248"/>
            <a:ext cx="5499439" cy="7157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1443" y="2275247"/>
            <a:ext cx="5733223" cy="7157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0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금주 진행 예정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1341550" y="2788750"/>
            <a:ext cx="16159200" cy="6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연동 : Docker 이미지를 AWS에 연동해서 어플리케이션,DB작동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기능테스트 : 정상작동 및 디버깅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에이전트 고도화 마무리 후 백엔드 - 프론트엔드 API 연동 마무리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최종발표준비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ppt 준비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서류보완작업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411"/>
              </a:srgbClr>
            </a:outerShdw>
          </a:effectLst>
        </p:spPr>
      </p:pic>
      <p:pic>
        <p:nvPicPr>
          <p:cNvPr id="330" name="Google Shape;3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411"/>
              </a:srgbClr>
            </a:outerShdw>
          </a:effectLst>
        </p:spPr>
      </p:pic>
      <p:pic>
        <p:nvPicPr>
          <p:cNvPr id="331" name="Google Shape;3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411"/>
              </a:srgbClr>
            </a:outerShdw>
          </a:effectLst>
        </p:spPr>
      </p:pic>
      <p:pic>
        <p:nvPicPr>
          <p:cNvPr id="332" name="Google Shape;3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333" name="Google Shape;33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 txBox="1"/>
          <p:nvPr/>
        </p:nvSpPr>
        <p:spPr>
          <a:xfrm>
            <a:off x="3568700" y="3937000"/>
            <a:ext cx="111507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0" i="0" lang="en-US" sz="1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4064000" y="3632200"/>
            <a:ext cx="101727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HANKS</a:t>
            </a:r>
            <a:r>
              <a:rPr b="0" i="0" lang="en-US" sz="26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26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W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kdy</dc:creator>
</cp:coreProperties>
</file>