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Oswald SemiBold" panose="00000700000000000000" pitchFamily="2"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720" y="2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70bec3b5c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g370bec3b5c0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2afe02be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g372afe02be3_2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72afe02be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g372afe02be3_3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72afe02be3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372afe02be3_3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63b2fe7844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63b2fe7844_2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63b2fe784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363b2fe7844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63b2fe784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363b2fe7844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63b2fe784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g363b2fe7844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63b2fe7844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g363b2fe7844_0_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72afe02be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g372afe02be3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72afe02be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g372afe02be3_0_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2afe02be3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g372afe02be3_7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63b2fe7844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g363b2fe7844_4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a:stretch/>
        </p:blipFill>
        <p:spPr>
          <a:xfrm>
            <a:off x="9829800" y="2705100"/>
            <a:ext cx="8661400" cy="8877300"/>
          </a:xfrm>
          <a:prstGeom prst="rect">
            <a:avLst/>
          </a:prstGeom>
          <a:noFill/>
          <a:ln>
            <a:noFill/>
          </a:ln>
          <a:effectLst>
            <a:outerShdw blurRad="466322" dist="133161" dir="1800000">
              <a:srgbClr val="000000">
                <a:alpha val="9803"/>
              </a:srgbClr>
            </a:outerShdw>
          </a:effectLst>
        </p:spPr>
      </p:pic>
      <p:pic>
        <p:nvPicPr>
          <p:cNvPr id="85" name="Google Shape;85;p13"/>
          <p:cNvPicPr preferRelativeResize="0"/>
          <p:nvPr/>
        </p:nvPicPr>
        <p:blipFill rotWithShape="1">
          <a:blip r:embed="rId3">
            <a:alphaModFix/>
          </a:blip>
          <a:srcRect/>
          <a:stretch/>
        </p:blipFill>
        <p:spPr>
          <a:xfrm>
            <a:off x="9842500" y="2717800"/>
            <a:ext cx="8661400" cy="8877300"/>
          </a:xfrm>
          <a:prstGeom prst="rect">
            <a:avLst/>
          </a:prstGeom>
          <a:noFill/>
          <a:ln>
            <a:noFill/>
          </a:ln>
          <a:effectLst>
            <a:outerShdw blurRad="466322" dist="199741" dir="12600000">
              <a:srgbClr val="FFFFFF">
                <a:alpha val="49803"/>
              </a:srgbClr>
            </a:outerShdw>
          </a:effectLst>
        </p:spPr>
      </p:pic>
      <p:pic>
        <p:nvPicPr>
          <p:cNvPr id="86" name="Google Shape;86;p13"/>
          <p:cNvPicPr preferRelativeResize="0"/>
          <p:nvPr/>
        </p:nvPicPr>
        <p:blipFill rotWithShape="1">
          <a:blip r:embed="rId4">
            <a:alphaModFix/>
          </a:blip>
          <a:srcRect/>
          <a:stretch/>
        </p:blipFill>
        <p:spPr>
          <a:xfrm>
            <a:off x="9067800" y="1206500"/>
            <a:ext cx="2108200" cy="2159000"/>
          </a:xfrm>
          <a:prstGeom prst="rect">
            <a:avLst/>
          </a:prstGeom>
          <a:noFill/>
          <a:ln>
            <a:noFill/>
          </a:ln>
          <a:effectLst>
            <a:outerShdw blurRad="27558" dist="32371" dir="1800000">
              <a:srgbClr val="000000">
                <a:alpha val="9803"/>
              </a:srgbClr>
            </a:outerShdw>
          </a:effectLst>
        </p:spPr>
      </p:pic>
      <p:pic>
        <p:nvPicPr>
          <p:cNvPr id="87" name="Google Shape;87;p13"/>
          <p:cNvPicPr preferRelativeResize="0"/>
          <p:nvPr/>
        </p:nvPicPr>
        <p:blipFill rotWithShape="1">
          <a:blip r:embed="rId4">
            <a:alphaModFix/>
          </a:blip>
          <a:srcRect/>
          <a:stretch/>
        </p:blipFill>
        <p:spPr>
          <a:xfrm>
            <a:off x="9067800" y="1206500"/>
            <a:ext cx="2108200" cy="2159000"/>
          </a:xfrm>
          <a:prstGeom prst="rect">
            <a:avLst/>
          </a:prstGeom>
          <a:noFill/>
          <a:ln>
            <a:noFill/>
          </a:ln>
          <a:effectLst>
            <a:outerShdw blurRad="27558" dist="48557" dir="12600000">
              <a:srgbClr val="FFFFFF">
                <a:alpha val="60000"/>
              </a:srgbClr>
            </a:outerShdw>
          </a:effectLst>
        </p:spPr>
      </p:pic>
      <p:pic>
        <p:nvPicPr>
          <p:cNvPr id="88" name="Google Shape;88;p13"/>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89" name="Google Shape;89;p13"/>
          <p:cNvSpPr txBox="1"/>
          <p:nvPr/>
        </p:nvSpPr>
        <p:spPr>
          <a:xfrm>
            <a:off x="1054100" y="3937000"/>
            <a:ext cx="10477500" cy="2197100"/>
          </a:xfrm>
          <a:prstGeom prst="rect">
            <a:avLst/>
          </a:prstGeom>
          <a:noFill/>
          <a:ln>
            <a:noFill/>
          </a:ln>
        </p:spPr>
        <p:txBody>
          <a:bodyPr spcFirstLastPara="1" wrap="square" lIns="0" tIns="0" rIns="0" bIns="0" anchor="ctr" anchorCtr="0">
            <a:noAutofit/>
          </a:bodyPr>
          <a:lstStyle/>
          <a:p>
            <a:pPr marL="0" marR="0" lvl="0" indent="0" algn="l" rtl="0">
              <a:lnSpc>
                <a:spcPct val="83000"/>
              </a:lnSpc>
              <a:spcBef>
                <a:spcPts val="0"/>
              </a:spcBef>
              <a:spcAft>
                <a:spcPts val="0"/>
              </a:spcAft>
              <a:buNone/>
            </a:pPr>
            <a:r>
              <a:rPr lang="en-US" sz="7200" b="0" i="0" u="none" strike="noStrike" cap="none" dirty="0">
                <a:solidFill>
                  <a:srgbClr val="000000"/>
                </a:solidFill>
                <a:latin typeface="Arial"/>
                <a:ea typeface="Arial"/>
                <a:cs typeface="Arial"/>
                <a:sym typeface="Arial"/>
              </a:rPr>
              <a:t>1</a:t>
            </a:r>
            <a:r>
              <a:rPr lang="en-US" sz="7200" b="0" i="0" u="none" strike="noStrike" cap="none" dirty="0">
                <a:solidFill>
                  <a:srgbClr val="000000"/>
                </a:solidFill>
                <a:latin typeface="Calibri"/>
                <a:ea typeface="Calibri"/>
                <a:cs typeface="Calibri"/>
                <a:sym typeface="Calibri"/>
              </a:rPr>
              <a:t>팀</a:t>
            </a:r>
            <a:r>
              <a:rPr lang="en-US" sz="7200" b="0" i="0" u="none" strike="noStrike" cap="none" dirty="0">
                <a:solidFill>
                  <a:srgbClr val="000000"/>
                </a:solidFill>
                <a:latin typeface="Arial"/>
                <a:ea typeface="Arial"/>
                <a:cs typeface="Arial"/>
                <a:sym typeface="Arial"/>
              </a:rPr>
              <a:t>_JJS</a:t>
            </a:r>
            <a:br>
              <a:rPr lang="en-US" sz="7200" b="0" i="0" u="none" strike="noStrike" cap="none" dirty="0">
                <a:solidFill>
                  <a:srgbClr val="000000"/>
                </a:solidFill>
                <a:latin typeface="Arial"/>
                <a:ea typeface="Arial"/>
                <a:cs typeface="Arial"/>
                <a:sym typeface="Arial"/>
              </a:rPr>
            </a:br>
            <a:endParaRPr dirty="0"/>
          </a:p>
          <a:p>
            <a:pPr marL="0" marR="0" lvl="0" indent="0" algn="l" rtl="0">
              <a:lnSpc>
                <a:spcPct val="83000"/>
              </a:lnSpc>
              <a:spcBef>
                <a:spcPts val="0"/>
              </a:spcBef>
              <a:spcAft>
                <a:spcPts val="0"/>
              </a:spcAft>
              <a:buNone/>
            </a:pPr>
            <a:r>
              <a:rPr lang="en-US" sz="7200" b="0" i="0" u="none" strike="noStrike" cap="none" dirty="0">
                <a:solidFill>
                  <a:srgbClr val="000000"/>
                </a:solidFill>
                <a:latin typeface="Calibri"/>
                <a:ea typeface="Calibri"/>
                <a:cs typeface="Calibri"/>
                <a:sym typeface="Calibri"/>
              </a:rPr>
              <a:t>6주차</a:t>
            </a:r>
            <a:r>
              <a:rPr lang="en-US" sz="7200" dirty="0">
                <a:latin typeface="Calibri"/>
                <a:ea typeface="Calibri"/>
                <a:cs typeface="Calibri"/>
                <a:sym typeface="Calibri"/>
              </a:rPr>
              <a:t>_5</a:t>
            </a:r>
            <a:r>
              <a:rPr lang="ko-KR" altLang="en-US" sz="7200" dirty="0">
                <a:latin typeface="Calibri"/>
                <a:ea typeface="Calibri"/>
                <a:cs typeface="Calibri"/>
                <a:sym typeface="Calibri"/>
              </a:rPr>
              <a:t>차</a:t>
            </a:r>
            <a:r>
              <a:rPr lang="en-US" altLang="ko-KR" sz="7200" dirty="0">
                <a:latin typeface="Calibri"/>
                <a:ea typeface="Calibri"/>
                <a:cs typeface="Calibri"/>
                <a:sym typeface="Calibri"/>
              </a:rPr>
              <a:t>_</a:t>
            </a:r>
            <a:r>
              <a:rPr lang="en-US" sz="7200" b="0" i="0" u="none" strike="noStrike" cap="none" dirty="0" err="1">
                <a:solidFill>
                  <a:srgbClr val="000000"/>
                </a:solidFill>
                <a:latin typeface="Calibri"/>
                <a:ea typeface="Calibri"/>
                <a:cs typeface="Calibri"/>
                <a:sym typeface="Calibri"/>
              </a:rPr>
              <a:t>주간</a:t>
            </a:r>
            <a:r>
              <a:rPr lang="en-US" sz="7200" b="0" i="0" u="none" strike="noStrike" cap="none" dirty="0">
                <a:solidFill>
                  <a:srgbClr val="000000"/>
                </a:solidFill>
                <a:latin typeface="Arial"/>
                <a:ea typeface="Arial"/>
                <a:cs typeface="Arial"/>
                <a:sym typeface="Arial"/>
              </a:rPr>
              <a:t> </a:t>
            </a:r>
            <a:r>
              <a:rPr lang="en-US" sz="7200" b="0" i="0" u="none" strike="noStrike" cap="none" dirty="0" err="1">
                <a:solidFill>
                  <a:srgbClr val="000000"/>
                </a:solidFill>
                <a:latin typeface="Calibri"/>
                <a:ea typeface="Calibri"/>
                <a:cs typeface="Calibri"/>
                <a:sym typeface="Calibri"/>
              </a:rPr>
              <a:t>스탠딩</a:t>
            </a:r>
            <a:endParaRPr dirty="0"/>
          </a:p>
        </p:txBody>
      </p:sp>
      <p:sp>
        <p:nvSpPr>
          <p:cNvPr id="90" name="Google Shape;90;p13"/>
          <p:cNvSpPr txBox="1"/>
          <p:nvPr/>
        </p:nvSpPr>
        <p:spPr>
          <a:xfrm>
            <a:off x="1054100" y="3384550"/>
            <a:ext cx="10172700" cy="5334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3000" b="0" i="0" u="none" strike="noStrike" cap="none">
                <a:solidFill>
                  <a:srgbClr val="11359A"/>
                </a:solidFill>
                <a:latin typeface="Arial"/>
                <a:ea typeface="Arial"/>
                <a:cs typeface="Arial"/>
                <a:sym typeface="Arial"/>
              </a:rPr>
              <a:t>SKN12</a:t>
            </a:r>
            <a:r>
              <a:rPr lang="en-US" sz="3000" b="0" i="0" u="none" strike="noStrike" cap="none">
                <a:solidFill>
                  <a:srgbClr val="11359A"/>
                </a:solidFill>
                <a:latin typeface="Calibri"/>
                <a:ea typeface="Calibri"/>
                <a:cs typeface="Calibri"/>
                <a:sym typeface="Calibri"/>
              </a:rPr>
              <a:t>기</a:t>
            </a:r>
            <a:r>
              <a:rPr lang="en-US" sz="3000" b="0" i="0" u="none" strike="noStrike" cap="none">
                <a:solidFill>
                  <a:srgbClr val="11359A"/>
                </a:solidFill>
                <a:latin typeface="Arial"/>
                <a:ea typeface="Arial"/>
                <a:cs typeface="Arial"/>
                <a:sym typeface="Arial"/>
              </a:rPr>
              <a:t> FIANL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94"/>
        <p:cNvGrpSpPr/>
        <p:nvPr/>
      </p:nvGrpSpPr>
      <p:grpSpPr>
        <a:xfrm>
          <a:off x="0" y="0"/>
          <a:ext cx="0" cy="0"/>
          <a:chOff x="0" y="0"/>
          <a:chExt cx="0" cy="0"/>
        </a:xfrm>
      </p:grpSpPr>
      <p:pic>
        <p:nvPicPr>
          <p:cNvPr id="95" name="Google Shape;95;p14"/>
          <p:cNvPicPr preferRelativeResize="0"/>
          <p:nvPr/>
        </p:nvPicPr>
        <p:blipFill rotWithShape="1">
          <a:blip r:embed="rId3">
            <a:alphaModFix amt="70000"/>
          </a:blip>
          <a:srcRect/>
          <a:stretch/>
        </p:blipFill>
        <p:spPr>
          <a:xfrm>
            <a:off x="9829800" y="2705100"/>
            <a:ext cx="8661400" cy="8877300"/>
          </a:xfrm>
          <a:prstGeom prst="rect">
            <a:avLst/>
          </a:prstGeom>
          <a:noFill/>
          <a:ln>
            <a:noFill/>
          </a:ln>
          <a:effectLst>
            <a:outerShdw blurRad="466322" dist="133161" dir="1800000">
              <a:srgbClr val="000000">
                <a:alpha val="9803"/>
              </a:srgbClr>
            </a:outerShdw>
          </a:effectLst>
        </p:spPr>
      </p:pic>
      <p:pic>
        <p:nvPicPr>
          <p:cNvPr id="96" name="Google Shape;96;p14"/>
          <p:cNvPicPr preferRelativeResize="0"/>
          <p:nvPr/>
        </p:nvPicPr>
        <p:blipFill rotWithShape="1">
          <a:blip r:embed="rId3">
            <a:alphaModFix amt="70000"/>
          </a:blip>
          <a:srcRect/>
          <a:stretch/>
        </p:blipFill>
        <p:spPr>
          <a:xfrm>
            <a:off x="9842500" y="2717800"/>
            <a:ext cx="8661400" cy="8877300"/>
          </a:xfrm>
          <a:prstGeom prst="rect">
            <a:avLst/>
          </a:prstGeom>
          <a:noFill/>
          <a:ln>
            <a:noFill/>
          </a:ln>
          <a:effectLst>
            <a:outerShdw blurRad="466322" dist="199741" dir="12600000">
              <a:srgbClr val="FFFFFF">
                <a:alpha val="49803"/>
              </a:srgbClr>
            </a:outerShdw>
          </a:effectLst>
        </p:spPr>
      </p:pic>
      <p:pic>
        <p:nvPicPr>
          <p:cNvPr id="97" name="Google Shape;97;p14"/>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3"/>
              </a:srgbClr>
            </a:outerShdw>
          </a:effectLst>
        </p:spPr>
      </p:pic>
      <p:pic>
        <p:nvPicPr>
          <p:cNvPr id="98" name="Google Shape;98;p14"/>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99" name="Google Shape;99;p14"/>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100" name="Google Shape;100;p14"/>
          <p:cNvPicPr preferRelativeResize="0"/>
          <p:nvPr/>
        </p:nvPicPr>
        <p:blipFill rotWithShape="1">
          <a:blip r:embed="rId5">
            <a:alphaModFix/>
          </a:blip>
          <a:srcRect/>
          <a:stretch/>
        </p:blipFill>
        <p:spPr>
          <a:xfrm>
            <a:off x="16764000" y="762000"/>
            <a:ext cx="482600" cy="1511300"/>
          </a:xfrm>
          <a:prstGeom prst="rect">
            <a:avLst/>
          </a:prstGeom>
          <a:noFill/>
          <a:ln>
            <a:noFill/>
          </a:ln>
        </p:spPr>
      </p:pic>
      <p:pic>
        <p:nvPicPr>
          <p:cNvPr id="101" name="Google Shape;101;p14"/>
          <p:cNvPicPr preferRelativeResize="0"/>
          <p:nvPr/>
        </p:nvPicPr>
        <p:blipFill rotWithShape="1">
          <a:blip r:embed="rId6">
            <a:alphaModFix amt="20000"/>
          </a:blip>
          <a:srcRect/>
          <a:stretch/>
        </p:blipFill>
        <p:spPr>
          <a:xfrm rot="5400000">
            <a:off x="10388600" y="6235700"/>
            <a:ext cx="4191000" cy="12700"/>
          </a:xfrm>
          <a:prstGeom prst="rect">
            <a:avLst/>
          </a:prstGeom>
          <a:noFill/>
          <a:ln>
            <a:noFill/>
          </a:ln>
        </p:spPr>
      </p:pic>
      <p:pic>
        <p:nvPicPr>
          <p:cNvPr id="102" name="Google Shape;102;p14"/>
          <p:cNvPicPr preferRelativeResize="0"/>
          <p:nvPr/>
        </p:nvPicPr>
        <p:blipFill rotWithShape="1">
          <a:blip r:embed="rId6">
            <a:alphaModFix amt="20000"/>
          </a:blip>
          <a:srcRect/>
          <a:stretch/>
        </p:blipFill>
        <p:spPr>
          <a:xfrm rot="5400000">
            <a:off x="7048500" y="6235700"/>
            <a:ext cx="4191000" cy="12700"/>
          </a:xfrm>
          <a:prstGeom prst="rect">
            <a:avLst/>
          </a:prstGeom>
          <a:noFill/>
          <a:ln>
            <a:noFill/>
          </a:ln>
        </p:spPr>
      </p:pic>
      <p:pic>
        <p:nvPicPr>
          <p:cNvPr id="103" name="Google Shape;103;p14"/>
          <p:cNvPicPr preferRelativeResize="0"/>
          <p:nvPr/>
        </p:nvPicPr>
        <p:blipFill rotWithShape="1">
          <a:blip r:embed="rId6">
            <a:alphaModFix amt="20000"/>
          </a:blip>
          <a:srcRect/>
          <a:stretch/>
        </p:blipFill>
        <p:spPr>
          <a:xfrm rot="5400000">
            <a:off x="3708400" y="6235700"/>
            <a:ext cx="4191000" cy="12700"/>
          </a:xfrm>
          <a:prstGeom prst="rect">
            <a:avLst/>
          </a:prstGeom>
          <a:noFill/>
          <a:ln>
            <a:noFill/>
          </a:ln>
        </p:spPr>
      </p:pic>
      <p:sp>
        <p:nvSpPr>
          <p:cNvPr id="104" name="Google Shape;104;p14"/>
          <p:cNvSpPr txBox="1"/>
          <p:nvPr/>
        </p:nvSpPr>
        <p:spPr>
          <a:xfrm>
            <a:off x="12992100" y="6096000"/>
            <a:ext cx="2222500" cy="4953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2800" b="0" i="0" u="none" strike="noStrike" cap="none">
                <a:solidFill>
                  <a:srgbClr val="000000"/>
                </a:solidFill>
                <a:latin typeface="Calibri"/>
                <a:ea typeface="Calibri"/>
                <a:cs typeface="Calibri"/>
                <a:sym typeface="Calibri"/>
              </a:rPr>
              <a:t>진행</a:t>
            </a:r>
            <a:r>
              <a:rPr lang="en-US" sz="2800" b="0" i="0" u="none" strike="noStrike" cap="none">
                <a:solidFill>
                  <a:srgbClr val="000000"/>
                </a:solidFill>
                <a:latin typeface="Arial"/>
                <a:ea typeface="Arial"/>
                <a:cs typeface="Arial"/>
                <a:sym typeface="Arial"/>
              </a:rPr>
              <a:t> </a:t>
            </a:r>
            <a:r>
              <a:rPr lang="en-US" sz="2800" b="0" i="0" u="none" strike="noStrike" cap="none">
                <a:solidFill>
                  <a:srgbClr val="000000"/>
                </a:solidFill>
                <a:latin typeface="Calibri"/>
                <a:ea typeface="Calibri"/>
                <a:cs typeface="Calibri"/>
                <a:sym typeface="Calibri"/>
              </a:rPr>
              <a:t>예정</a:t>
            </a:r>
            <a:r>
              <a:rPr lang="en-US" sz="2800" b="0" i="0" u="none" strike="noStrike" cap="none">
                <a:solidFill>
                  <a:srgbClr val="000000"/>
                </a:solidFill>
                <a:latin typeface="Arial"/>
                <a:ea typeface="Arial"/>
                <a:cs typeface="Arial"/>
                <a:sym typeface="Arial"/>
              </a:rPr>
              <a:t> </a:t>
            </a:r>
            <a:r>
              <a:rPr lang="en-US" sz="2800" b="0" i="0" u="none" strike="noStrike" cap="none">
                <a:solidFill>
                  <a:srgbClr val="000000"/>
                </a:solidFill>
                <a:latin typeface="Calibri"/>
                <a:ea typeface="Calibri"/>
                <a:cs typeface="Calibri"/>
                <a:sym typeface="Calibri"/>
              </a:rPr>
              <a:t>사항</a:t>
            </a:r>
            <a:endParaRPr/>
          </a:p>
        </p:txBody>
      </p:sp>
      <p:sp>
        <p:nvSpPr>
          <p:cNvPr id="105" name="Google Shape;105;p14"/>
          <p:cNvSpPr txBox="1"/>
          <p:nvPr/>
        </p:nvSpPr>
        <p:spPr>
          <a:xfrm>
            <a:off x="9652000" y="6096000"/>
            <a:ext cx="2222500" cy="4953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2800" b="0" i="0" u="none" strike="noStrike" cap="none">
                <a:solidFill>
                  <a:srgbClr val="000000"/>
                </a:solidFill>
                <a:latin typeface="Calibri"/>
                <a:ea typeface="Calibri"/>
                <a:cs typeface="Calibri"/>
                <a:sym typeface="Calibri"/>
              </a:rPr>
              <a:t>서류</a:t>
            </a:r>
            <a:r>
              <a:rPr lang="en-US" sz="2800" b="0" i="0" u="none" strike="noStrike" cap="none">
                <a:solidFill>
                  <a:srgbClr val="000000"/>
                </a:solidFill>
                <a:latin typeface="Arial"/>
                <a:ea typeface="Arial"/>
                <a:cs typeface="Arial"/>
                <a:sym typeface="Arial"/>
              </a:rPr>
              <a:t> </a:t>
            </a:r>
            <a:r>
              <a:rPr lang="en-US" sz="2800" b="0" i="0" u="none" strike="noStrike" cap="none">
                <a:solidFill>
                  <a:srgbClr val="000000"/>
                </a:solidFill>
                <a:latin typeface="Calibri"/>
                <a:ea typeface="Calibri"/>
                <a:cs typeface="Calibri"/>
                <a:sym typeface="Calibri"/>
              </a:rPr>
              <a:t>작성</a:t>
            </a:r>
            <a:endParaRPr/>
          </a:p>
        </p:txBody>
      </p:sp>
      <p:sp>
        <p:nvSpPr>
          <p:cNvPr id="106" name="Google Shape;106;p14"/>
          <p:cNvSpPr txBox="1"/>
          <p:nvPr/>
        </p:nvSpPr>
        <p:spPr>
          <a:xfrm>
            <a:off x="6170700" y="5834550"/>
            <a:ext cx="2516100" cy="11706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2800">
                <a:latin typeface="Calibri"/>
                <a:ea typeface="Calibri"/>
                <a:cs typeface="Calibri"/>
                <a:sym typeface="Calibri"/>
              </a:rPr>
              <a:t>프론트엔드 수정</a:t>
            </a:r>
            <a:endParaRPr/>
          </a:p>
        </p:txBody>
      </p:sp>
      <p:sp>
        <p:nvSpPr>
          <p:cNvPr id="107" name="Google Shape;107;p14"/>
          <p:cNvSpPr txBox="1"/>
          <p:nvPr/>
        </p:nvSpPr>
        <p:spPr>
          <a:xfrm>
            <a:off x="2959100" y="6083300"/>
            <a:ext cx="2222400" cy="10287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2800">
                <a:latin typeface="Calibri"/>
                <a:ea typeface="Calibri"/>
                <a:cs typeface="Calibri"/>
                <a:sym typeface="Calibri"/>
              </a:rPr>
              <a:t>에이전트</a:t>
            </a:r>
            <a:endParaRPr sz="2800">
              <a:latin typeface="Calibri"/>
              <a:ea typeface="Calibri"/>
              <a:cs typeface="Calibri"/>
              <a:sym typeface="Calibri"/>
            </a:endParaRPr>
          </a:p>
          <a:p>
            <a:pPr marL="0" marR="0" lvl="0" indent="0" algn="l" rtl="0">
              <a:lnSpc>
                <a:spcPct val="124499"/>
              </a:lnSpc>
              <a:spcBef>
                <a:spcPts val="0"/>
              </a:spcBef>
              <a:spcAft>
                <a:spcPts val="0"/>
              </a:spcAft>
              <a:buNone/>
            </a:pPr>
            <a:r>
              <a:rPr lang="en-US" sz="2800">
                <a:latin typeface="Calibri"/>
                <a:ea typeface="Calibri"/>
                <a:cs typeface="Calibri"/>
                <a:sym typeface="Calibri"/>
              </a:rPr>
              <a:t>수정 내용</a:t>
            </a:r>
            <a:endParaRPr/>
          </a:p>
        </p:txBody>
      </p:sp>
      <p:sp>
        <p:nvSpPr>
          <p:cNvPr id="108" name="Google Shape;108;p14"/>
          <p:cNvSpPr txBox="1"/>
          <p:nvPr/>
        </p:nvSpPr>
        <p:spPr>
          <a:xfrm>
            <a:off x="12992100" y="3632200"/>
            <a:ext cx="2463800" cy="21336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12000" b="0" i="0" u="none" strike="noStrike" cap="none">
                <a:solidFill>
                  <a:srgbClr val="11359A"/>
                </a:solidFill>
                <a:latin typeface="Oswald SemiBold"/>
                <a:ea typeface="Oswald SemiBold"/>
                <a:cs typeface="Oswald SemiBold"/>
                <a:sym typeface="Oswald SemiBold"/>
              </a:rPr>
              <a:t>4</a:t>
            </a:r>
            <a:endParaRPr/>
          </a:p>
        </p:txBody>
      </p:sp>
      <p:sp>
        <p:nvSpPr>
          <p:cNvPr id="109" name="Google Shape;109;p14"/>
          <p:cNvSpPr txBox="1"/>
          <p:nvPr/>
        </p:nvSpPr>
        <p:spPr>
          <a:xfrm>
            <a:off x="9652000" y="3632200"/>
            <a:ext cx="2463800" cy="21336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12000" b="0" i="0" u="none" strike="noStrike" cap="none">
                <a:solidFill>
                  <a:srgbClr val="11359A"/>
                </a:solidFill>
                <a:latin typeface="Oswald SemiBold"/>
                <a:ea typeface="Oswald SemiBold"/>
                <a:cs typeface="Oswald SemiBold"/>
                <a:sym typeface="Oswald SemiBold"/>
              </a:rPr>
              <a:t>3</a:t>
            </a:r>
            <a:endParaRPr/>
          </a:p>
        </p:txBody>
      </p:sp>
      <p:sp>
        <p:nvSpPr>
          <p:cNvPr id="110" name="Google Shape;110;p14"/>
          <p:cNvSpPr txBox="1"/>
          <p:nvPr/>
        </p:nvSpPr>
        <p:spPr>
          <a:xfrm>
            <a:off x="6299200" y="3632200"/>
            <a:ext cx="2463800" cy="21336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12000" b="0" i="0" u="none" strike="noStrike" cap="none">
                <a:solidFill>
                  <a:srgbClr val="11359A"/>
                </a:solidFill>
                <a:latin typeface="Oswald SemiBold"/>
                <a:ea typeface="Oswald SemiBold"/>
                <a:cs typeface="Oswald SemiBold"/>
                <a:sym typeface="Oswald SemiBold"/>
              </a:rPr>
              <a:t>2</a:t>
            </a:r>
            <a:endParaRPr/>
          </a:p>
        </p:txBody>
      </p:sp>
      <p:sp>
        <p:nvSpPr>
          <p:cNvPr id="111" name="Google Shape;111;p14"/>
          <p:cNvSpPr txBox="1"/>
          <p:nvPr/>
        </p:nvSpPr>
        <p:spPr>
          <a:xfrm>
            <a:off x="2959100" y="3632200"/>
            <a:ext cx="2463800" cy="21336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12000" b="0" i="0" u="none" strike="noStrike" cap="none">
                <a:solidFill>
                  <a:srgbClr val="11359A"/>
                </a:solidFill>
                <a:latin typeface="Oswald SemiBold"/>
                <a:ea typeface="Oswald SemiBold"/>
                <a:cs typeface="Oswald SemiBold"/>
                <a:sym typeface="Oswald SemiBold"/>
              </a:rPr>
              <a:t>1</a:t>
            </a:r>
            <a:endParaRPr/>
          </a:p>
        </p:txBody>
      </p:sp>
      <p:sp>
        <p:nvSpPr>
          <p:cNvPr id="112" name="Google Shape;112;p14"/>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None/>
            </a:pPr>
            <a:r>
              <a:rPr lang="en-US" sz="6000" b="0" i="0" u="none" strike="noStrike" cap="none">
                <a:solidFill>
                  <a:srgbClr val="11359A"/>
                </a:solidFill>
                <a:latin typeface="Calibri"/>
                <a:ea typeface="Calibri"/>
                <a:cs typeface="Calibri"/>
                <a:sym typeface="Calibri"/>
              </a:rPr>
              <a:t>목차</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116"/>
        <p:cNvGrpSpPr/>
        <p:nvPr/>
      </p:nvGrpSpPr>
      <p:grpSpPr>
        <a:xfrm>
          <a:off x="0" y="0"/>
          <a:ext cx="0" cy="0"/>
          <a:chOff x="0" y="0"/>
          <a:chExt cx="0" cy="0"/>
        </a:xfrm>
      </p:grpSpPr>
      <p:pic>
        <p:nvPicPr>
          <p:cNvPr id="117" name="Google Shape;117;p15"/>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118" name="Google Shape;118;p15"/>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119" name="Google Shape;119;p15"/>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120" name="Google Shape;120;p15"/>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121" name="Google Shape;121;p15"/>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122" name="Google Shape;122;p15"/>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123" name="Google Shape;123;p15"/>
          <p:cNvSpPr txBox="1"/>
          <p:nvPr/>
        </p:nvSpPr>
        <p:spPr>
          <a:xfrm>
            <a:off x="3924300" y="4572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에이전트 수정 내용</a:t>
            </a:r>
            <a:endParaRPr/>
          </a:p>
        </p:txBody>
      </p:sp>
      <p:sp>
        <p:nvSpPr>
          <p:cNvPr id="124" name="Google Shape;124;p15"/>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sp>
        <p:nvSpPr>
          <p:cNvPr id="125" name="Google Shape;125;p15"/>
          <p:cNvSpPr txBox="1"/>
          <p:nvPr/>
        </p:nvSpPr>
        <p:spPr>
          <a:xfrm>
            <a:off x="588475" y="1409688"/>
            <a:ext cx="6049200" cy="10668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2800">
                <a:latin typeface="Calibri"/>
                <a:ea typeface="Calibri"/>
                <a:cs typeface="Calibri"/>
                <a:sym typeface="Calibri"/>
              </a:rPr>
              <a:t>(김도윤) 라우터 수정 : </a:t>
            </a:r>
            <a:r>
              <a:rPr lang="en-US" sz="2800">
                <a:solidFill>
                  <a:schemeClr val="dk1"/>
                </a:solidFill>
                <a:latin typeface="Calibri"/>
                <a:ea typeface="Calibri"/>
                <a:cs typeface="Calibri"/>
                <a:sym typeface="Calibri"/>
              </a:rPr>
              <a:t>프레임워크 구조</a:t>
            </a:r>
            <a:endParaRPr/>
          </a:p>
        </p:txBody>
      </p:sp>
      <p:sp>
        <p:nvSpPr>
          <p:cNvPr id="126" name="Google Shape;126;p15"/>
          <p:cNvSpPr txBox="1"/>
          <p:nvPr/>
        </p:nvSpPr>
        <p:spPr>
          <a:xfrm>
            <a:off x="8611900" y="7920025"/>
            <a:ext cx="8760900" cy="20415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2800">
                <a:latin typeface="Calibri"/>
                <a:ea typeface="Calibri"/>
                <a:cs typeface="Calibri"/>
                <a:sym typeface="Calibri"/>
              </a:rPr>
              <a:t> 상태기반 랭그래프 구현으로 대화의 연속의 구현하여 기존 에이전트 사용시 질의를 이어가고 상호작용하는 agent 호출시 자연스럽게 상호작용 가능</a:t>
            </a:r>
            <a:br>
              <a:rPr lang="en-US" sz="2800">
                <a:latin typeface="Calibri"/>
                <a:ea typeface="Calibri"/>
                <a:cs typeface="Calibri"/>
                <a:sym typeface="Calibri"/>
              </a:rPr>
            </a:br>
            <a:endParaRPr/>
          </a:p>
        </p:txBody>
      </p:sp>
      <p:pic>
        <p:nvPicPr>
          <p:cNvPr id="127" name="Google Shape;127;p15"/>
          <p:cNvPicPr preferRelativeResize="0"/>
          <p:nvPr/>
        </p:nvPicPr>
        <p:blipFill>
          <a:blip r:embed="rId6">
            <a:alphaModFix/>
          </a:blip>
          <a:stretch>
            <a:fillRect/>
          </a:stretch>
        </p:blipFill>
        <p:spPr>
          <a:xfrm>
            <a:off x="588475" y="2395875"/>
            <a:ext cx="7729274" cy="7288350"/>
          </a:xfrm>
          <a:prstGeom prst="rect">
            <a:avLst/>
          </a:prstGeom>
          <a:noFill/>
          <a:ln>
            <a:noFill/>
          </a:ln>
        </p:spPr>
      </p:pic>
      <p:pic>
        <p:nvPicPr>
          <p:cNvPr id="128" name="Google Shape;128;p15"/>
          <p:cNvPicPr preferRelativeResize="0"/>
          <p:nvPr/>
        </p:nvPicPr>
        <p:blipFill>
          <a:blip r:embed="rId7">
            <a:alphaModFix/>
          </a:blip>
          <a:stretch>
            <a:fillRect/>
          </a:stretch>
        </p:blipFill>
        <p:spPr>
          <a:xfrm>
            <a:off x="8611900" y="2366950"/>
            <a:ext cx="8661400" cy="5428663"/>
          </a:xfrm>
          <a:prstGeom prst="rect">
            <a:avLst/>
          </a:prstGeom>
          <a:noFill/>
          <a:ln>
            <a:noFill/>
          </a:ln>
        </p:spPr>
      </p:pic>
      <p:sp>
        <p:nvSpPr>
          <p:cNvPr id="129" name="Google Shape;129;p15"/>
          <p:cNvSpPr/>
          <p:nvPr/>
        </p:nvSpPr>
        <p:spPr>
          <a:xfrm>
            <a:off x="6303625" y="1695400"/>
            <a:ext cx="2434800" cy="482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30" name="Google Shape;130;p15"/>
          <p:cNvSpPr txBox="1"/>
          <p:nvPr/>
        </p:nvSpPr>
        <p:spPr>
          <a:xfrm>
            <a:off x="8738425" y="1274050"/>
            <a:ext cx="3666900" cy="1325400"/>
          </a:xfrm>
          <a:prstGeom prst="rect">
            <a:avLst/>
          </a:prstGeom>
          <a:noFill/>
          <a:ln>
            <a:noFill/>
          </a:ln>
        </p:spPr>
        <p:txBody>
          <a:bodyPr spcFirstLastPara="1" wrap="square" lIns="0" tIns="0" rIns="0" bIns="0" anchor="ctr" anchorCtr="0">
            <a:noAutofit/>
          </a:bodyPr>
          <a:lstStyle/>
          <a:p>
            <a:pPr marL="0" marR="0" lvl="0" indent="0" algn="l" rtl="0">
              <a:lnSpc>
                <a:spcPct val="124499"/>
              </a:lnSpc>
              <a:spcBef>
                <a:spcPts val="0"/>
              </a:spcBef>
              <a:spcAft>
                <a:spcPts val="0"/>
              </a:spcAft>
              <a:buNone/>
            </a:pPr>
            <a:r>
              <a:rPr lang="en-US" sz="2800">
                <a:latin typeface="Calibri"/>
                <a:ea typeface="Calibri"/>
                <a:cs typeface="Calibri"/>
                <a:sym typeface="Calibri"/>
              </a:rPr>
              <a:t>   </a:t>
            </a:r>
            <a:r>
              <a:rPr lang="en-US" sz="2800">
                <a:solidFill>
                  <a:schemeClr val="dk1"/>
                </a:solidFill>
                <a:latin typeface="Calibri"/>
                <a:ea typeface="Calibri"/>
                <a:cs typeface="Calibri"/>
                <a:sym typeface="Calibri"/>
              </a:rPr>
              <a:t>랭그래프 구조로 변경</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134"/>
        <p:cNvGrpSpPr/>
        <p:nvPr/>
      </p:nvGrpSpPr>
      <p:grpSpPr>
        <a:xfrm>
          <a:off x="0" y="0"/>
          <a:ext cx="0" cy="0"/>
          <a:chOff x="0" y="0"/>
          <a:chExt cx="0" cy="0"/>
        </a:xfrm>
      </p:grpSpPr>
      <p:pic>
        <p:nvPicPr>
          <p:cNvPr id="135" name="Google Shape;135;p16"/>
          <p:cNvPicPr preferRelativeResize="0"/>
          <p:nvPr/>
        </p:nvPicPr>
        <p:blipFill rotWithShape="1">
          <a:blip r:embed="rId3">
            <a:alphaModFix amt="70000"/>
          </a:blip>
          <a:srcRect/>
          <a:stretch/>
        </p:blipFill>
        <p:spPr>
          <a:xfrm>
            <a:off x="9792650" y="3169300"/>
            <a:ext cx="8661400" cy="8877299"/>
          </a:xfrm>
          <a:prstGeom prst="rect">
            <a:avLst/>
          </a:prstGeom>
          <a:noFill/>
          <a:ln>
            <a:noFill/>
          </a:ln>
          <a:effectLst>
            <a:outerShdw blurRad="466322" dist="133161" dir="1800000">
              <a:srgbClr val="000000">
                <a:alpha val="9800"/>
              </a:srgbClr>
            </a:outerShdw>
          </a:effectLst>
        </p:spPr>
      </p:pic>
      <p:pic>
        <p:nvPicPr>
          <p:cNvPr id="136" name="Google Shape;136;p16"/>
          <p:cNvPicPr preferRelativeResize="0"/>
          <p:nvPr/>
        </p:nvPicPr>
        <p:blipFill rotWithShape="1">
          <a:blip r:embed="rId3">
            <a:alphaModFix amt="70000"/>
          </a:blip>
          <a:srcRect/>
          <a:stretch/>
        </p:blipFill>
        <p:spPr>
          <a:xfrm>
            <a:off x="9805350" y="3182000"/>
            <a:ext cx="8661400" cy="8877299"/>
          </a:xfrm>
          <a:prstGeom prst="rect">
            <a:avLst/>
          </a:prstGeom>
          <a:noFill/>
          <a:ln>
            <a:noFill/>
          </a:ln>
          <a:effectLst>
            <a:outerShdw blurRad="466322" dist="199741" dir="12600000">
              <a:srgbClr val="FFFFFF">
                <a:alpha val="49800"/>
              </a:srgbClr>
            </a:outerShdw>
          </a:effectLst>
        </p:spPr>
      </p:pic>
      <p:pic>
        <p:nvPicPr>
          <p:cNvPr id="137" name="Google Shape;137;p16"/>
          <p:cNvPicPr preferRelativeResize="0"/>
          <p:nvPr/>
        </p:nvPicPr>
        <p:blipFill rotWithShape="1">
          <a:blip r:embed="rId4">
            <a:alphaModFix amt="80000"/>
          </a:blip>
          <a:srcRect/>
          <a:stretch/>
        </p:blipFill>
        <p:spPr>
          <a:xfrm>
            <a:off x="1638300" y="2277575"/>
            <a:ext cx="2781300" cy="2844800"/>
          </a:xfrm>
          <a:prstGeom prst="rect">
            <a:avLst/>
          </a:prstGeom>
          <a:noFill/>
          <a:ln>
            <a:noFill/>
          </a:ln>
          <a:effectLst>
            <a:outerShdw blurRad="47986" dist="42716" dir="1800000">
              <a:srgbClr val="000000">
                <a:alpha val="9800"/>
              </a:srgbClr>
            </a:outerShdw>
          </a:effectLst>
        </p:spPr>
      </p:pic>
      <p:pic>
        <p:nvPicPr>
          <p:cNvPr id="138" name="Google Shape;138;p16"/>
          <p:cNvPicPr preferRelativeResize="0"/>
          <p:nvPr/>
        </p:nvPicPr>
        <p:blipFill rotWithShape="1">
          <a:blip r:embed="rId4">
            <a:alphaModFix amt="80000"/>
          </a:blip>
          <a:srcRect/>
          <a:stretch/>
        </p:blipFill>
        <p:spPr>
          <a:xfrm>
            <a:off x="1638300" y="2277575"/>
            <a:ext cx="2781300" cy="2844800"/>
          </a:xfrm>
          <a:prstGeom prst="rect">
            <a:avLst/>
          </a:prstGeom>
          <a:noFill/>
          <a:ln>
            <a:noFill/>
          </a:ln>
          <a:effectLst>
            <a:outerShdw blurRad="47986" dist="64074" dir="12600000">
              <a:srgbClr val="FFFFFF">
                <a:alpha val="60000"/>
              </a:srgbClr>
            </a:outerShdw>
          </a:effectLst>
        </p:spPr>
      </p:pic>
      <p:pic>
        <p:nvPicPr>
          <p:cNvPr id="139" name="Google Shape;139;p16"/>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140" name="Google Shape;140;p16"/>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141" name="Google Shape;141;p16"/>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에이전트 수정 내용</a:t>
            </a:r>
            <a:endParaRPr/>
          </a:p>
        </p:txBody>
      </p:sp>
      <p:sp>
        <p:nvSpPr>
          <p:cNvPr id="142" name="Google Shape;142;p16"/>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sp>
        <p:nvSpPr>
          <p:cNvPr id="143" name="Google Shape;143;p16"/>
          <p:cNvSpPr txBox="1"/>
          <p:nvPr/>
        </p:nvSpPr>
        <p:spPr>
          <a:xfrm>
            <a:off x="930300" y="1981200"/>
            <a:ext cx="16427400" cy="44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(손현성) 문서 생성 에이전트</a:t>
            </a:r>
            <a:endParaRPr sz="3200">
              <a:solidFill>
                <a:schemeClr val="dk1"/>
              </a:solidFill>
              <a:latin typeface="Calibri"/>
              <a:ea typeface="Calibri"/>
              <a:cs typeface="Calibri"/>
              <a:sym typeface="Calibri"/>
            </a:endParaRPr>
          </a:p>
          <a:p>
            <a:pPr marL="0" lvl="0" indent="0" algn="l" rtl="0">
              <a:spcBef>
                <a:spcPts val="0"/>
              </a:spcBef>
              <a:spcAft>
                <a:spcPts val="0"/>
              </a:spcAft>
              <a:buNone/>
            </a:pPr>
            <a:br>
              <a:rPr lang="en-US" sz="1600" b="1">
                <a:solidFill>
                  <a:schemeClr val="dk1"/>
                </a:solidFill>
                <a:latin typeface="Calibri"/>
                <a:ea typeface="Calibri"/>
                <a:cs typeface="Calibri"/>
                <a:sym typeface="Calibri"/>
              </a:rPr>
            </a:br>
            <a:r>
              <a:rPr lang="en-US" sz="1600" b="1">
                <a:solidFill>
                  <a:schemeClr val="dk1"/>
                </a:solidFill>
                <a:latin typeface="Calibri"/>
                <a:ea typeface="Calibri"/>
                <a:cs typeface="Calibri"/>
                <a:sym typeface="Calibri"/>
              </a:rPr>
              <a:t>입력 메세지 : </a:t>
            </a:r>
            <a:r>
              <a:rPr lang="en-US" sz="1600">
                <a:solidFill>
                  <a:schemeClr val="dk1"/>
                </a:solidFill>
                <a:latin typeface="Calibri"/>
                <a:ea typeface="Calibri"/>
                <a:cs typeface="Calibri"/>
                <a:sym typeface="Calibri"/>
              </a:rPr>
              <a:t>영업방문결과보고서를 작성할거야  방문 제목은 유미가정의학과 신약 홍보이고 방문일은 250725이고 client는 유미가정의학과 방문사이트는 www.yumibanplz.com 담담자는 손현성이고 소속은 영업팀 연락처는  010-1234-5678이야 영업제공자는  김도윤이고 연락처는 010-8765-4321이야 방문자는 허한결이고 소속은 영업팀이야 고객사 개요는 이번에 새로 오픈한 가정의학과로 사용 약품에 대해 많은 논의가 필요해보이는 잠재력이 있는 고객이야 프로젝트 개요는 신규고객 유치로 자사 약품홍보 후, 타사와의 차별점을 강조하며 로얄티 및 메리트 소개를 할거야 방문 및 협의 내용은 자사 약품 소개와 로얄티 및 자사 약품 사용시 메리트를 소개하였음 향후계획및일정은 7월 27일에 다시 방문하여 자사 판촉물 전달과 로얄티 협상을 할 예정이야 협조사항으로 자사 판촉물 1개 지급 요망  </a:t>
            </a:r>
            <a:r>
              <a:rPr lang="en-US" sz="1600" b="1" i="1">
                <a:solidFill>
                  <a:schemeClr val="dk1"/>
                </a:solidFill>
                <a:latin typeface="Calibri"/>
                <a:ea typeface="Calibri"/>
                <a:cs typeface="Calibri"/>
                <a:sym typeface="Calibri"/>
              </a:rPr>
              <a:t>(규정 확인 부터 문서 생성까지 약 1분 ~1분 30초 소요)</a:t>
            </a:r>
            <a:endParaRPr sz="1600" b="1" i="1">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pic>
        <p:nvPicPr>
          <p:cNvPr id="144" name="Google Shape;144;p16"/>
          <p:cNvPicPr preferRelativeResize="0"/>
          <p:nvPr/>
        </p:nvPicPr>
        <p:blipFill>
          <a:blip r:embed="rId6">
            <a:alphaModFix/>
          </a:blip>
          <a:stretch>
            <a:fillRect/>
          </a:stretch>
        </p:blipFill>
        <p:spPr>
          <a:xfrm>
            <a:off x="986425" y="4114163"/>
            <a:ext cx="5791200" cy="1685925"/>
          </a:xfrm>
          <a:prstGeom prst="rect">
            <a:avLst/>
          </a:prstGeom>
          <a:noFill/>
          <a:ln>
            <a:noFill/>
          </a:ln>
        </p:spPr>
      </p:pic>
      <p:pic>
        <p:nvPicPr>
          <p:cNvPr id="145" name="Google Shape;145;p16"/>
          <p:cNvPicPr preferRelativeResize="0"/>
          <p:nvPr/>
        </p:nvPicPr>
        <p:blipFill>
          <a:blip r:embed="rId7">
            <a:alphaModFix/>
          </a:blip>
          <a:stretch>
            <a:fillRect/>
          </a:stretch>
        </p:blipFill>
        <p:spPr>
          <a:xfrm>
            <a:off x="986425" y="6347238"/>
            <a:ext cx="5791200" cy="2154369"/>
          </a:xfrm>
          <a:prstGeom prst="rect">
            <a:avLst/>
          </a:prstGeom>
          <a:noFill/>
          <a:ln>
            <a:noFill/>
          </a:ln>
        </p:spPr>
      </p:pic>
      <p:sp>
        <p:nvSpPr>
          <p:cNvPr id="146" name="Google Shape;146;p16"/>
          <p:cNvSpPr txBox="1"/>
          <p:nvPr/>
        </p:nvSpPr>
        <p:spPr>
          <a:xfrm>
            <a:off x="2397400" y="5828075"/>
            <a:ext cx="6387600" cy="68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Calibri"/>
                <a:ea typeface="Calibri"/>
                <a:cs typeface="Calibri"/>
                <a:sym typeface="Calibri"/>
              </a:rPr>
              <a:t>문서 분류 결과 확인 메세지</a:t>
            </a:r>
            <a:endParaRPr sz="1800">
              <a:solidFill>
                <a:schemeClr val="dk1"/>
              </a:solidFill>
              <a:latin typeface="Calibri"/>
              <a:ea typeface="Calibri"/>
              <a:cs typeface="Calibri"/>
              <a:sym typeface="Calibri"/>
            </a:endParaRPr>
          </a:p>
        </p:txBody>
      </p:sp>
      <p:sp>
        <p:nvSpPr>
          <p:cNvPr id="147" name="Google Shape;147;p16"/>
          <p:cNvSpPr txBox="1"/>
          <p:nvPr/>
        </p:nvSpPr>
        <p:spPr>
          <a:xfrm>
            <a:off x="2118875" y="8501600"/>
            <a:ext cx="3918000" cy="9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Calibri"/>
                <a:ea typeface="Calibri"/>
                <a:cs typeface="Calibri"/>
                <a:sym typeface="Calibri"/>
              </a:rPr>
              <a:t>분류 실패시 생성 문서 선택 메세지</a:t>
            </a:r>
            <a:endParaRPr sz="1800">
              <a:solidFill>
                <a:schemeClr val="dk1"/>
              </a:solidFill>
              <a:latin typeface="Calibri"/>
              <a:ea typeface="Calibri"/>
              <a:cs typeface="Calibri"/>
              <a:sym typeface="Calibri"/>
            </a:endParaRPr>
          </a:p>
        </p:txBody>
      </p:sp>
      <p:pic>
        <p:nvPicPr>
          <p:cNvPr id="148" name="Google Shape;148;p16"/>
          <p:cNvPicPr preferRelativeResize="0"/>
          <p:nvPr/>
        </p:nvPicPr>
        <p:blipFill>
          <a:blip r:embed="rId8">
            <a:alphaModFix/>
          </a:blip>
          <a:stretch>
            <a:fillRect/>
          </a:stretch>
        </p:blipFill>
        <p:spPr>
          <a:xfrm>
            <a:off x="8174025" y="4120113"/>
            <a:ext cx="8804813" cy="794963"/>
          </a:xfrm>
          <a:prstGeom prst="rect">
            <a:avLst/>
          </a:prstGeom>
          <a:noFill/>
          <a:ln>
            <a:noFill/>
          </a:ln>
        </p:spPr>
      </p:pic>
      <p:sp>
        <p:nvSpPr>
          <p:cNvPr id="149" name="Google Shape;149;p16"/>
          <p:cNvSpPr txBox="1"/>
          <p:nvPr/>
        </p:nvSpPr>
        <p:spPr>
          <a:xfrm>
            <a:off x="8470175" y="5018475"/>
            <a:ext cx="8212500" cy="11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Calibri"/>
                <a:ea typeface="Calibri"/>
                <a:cs typeface="Calibri"/>
                <a:sym typeface="Calibri"/>
              </a:rPr>
              <a:t>생성 할 문서 선택 메세지에 작성될 내용을 동시 입력 시, 문서 내용 입력  절차 pass</a:t>
            </a:r>
            <a:endParaRPr sz="1800">
              <a:solidFill>
                <a:schemeClr val="dk1"/>
              </a:solidFill>
              <a:latin typeface="Calibri"/>
              <a:ea typeface="Calibri"/>
              <a:cs typeface="Calibri"/>
              <a:sym typeface="Calibri"/>
            </a:endParaRPr>
          </a:p>
        </p:txBody>
      </p:sp>
      <p:pic>
        <p:nvPicPr>
          <p:cNvPr id="150" name="Google Shape;150;p16"/>
          <p:cNvPicPr preferRelativeResize="0"/>
          <p:nvPr/>
        </p:nvPicPr>
        <p:blipFill>
          <a:blip r:embed="rId9">
            <a:alphaModFix/>
          </a:blip>
          <a:stretch>
            <a:fillRect/>
          </a:stretch>
        </p:blipFill>
        <p:spPr>
          <a:xfrm>
            <a:off x="8047875" y="5696800"/>
            <a:ext cx="9365824" cy="2844800"/>
          </a:xfrm>
          <a:prstGeom prst="rect">
            <a:avLst/>
          </a:prstGeom>
          <a:noFill/>
          <a:ln>
            <a:noFill/>
          </a:ln>
        </p:spPr>
      </p:pic>
      <p:sp>
        <p:nvSpPr>
          <p:cNvPr id="151" name="Google Shape;151;p16"/>
          <p:cNvSpPr txBox="1"/>
          <p:nvPr/>
        </p:nvSpPr>
        <p:spPr>
          <a:xfrm>
            <a:off x="10942250" y="8541600"/>
            <a:ext cx="6387600" cy="79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Calibri"/>
                <a:ea typeface="Calibri"/>
                <a:cs typeface="Calibri"/>
                <a:sym typeface="Calibri"/>
              </a:rPr>
              <a:t>규정 벡터DB를 사용한 규정 위반 툴</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155"/>
        <p:cNvGrpSpPr/>
        <p:nvPr/>
      </p:nvGrpSpPr>
      <p:grpSpPr>
        <a:xfrm>
          <a:off x="0" y="0"/>
          <a:ext cx="0" cy="0"/>
          <a:chOff x="0" y="0"/>
          <a:chExt cx="0" cy="0"/>
        </a:xfrm>
      </p:grpSpPr>
      <p:pic>
        <p:nvPicPr>
          <p:cNvPr id="156" name="Google Shape;156;p17"/>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157" name="Google Shape;157;p17"/>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158" name="Google Shape;158;p17"/>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159" name="Google Shape;159;p17"/>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160" name="Google Shape;160;p17"/>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161" name="Google Shape;161;p17"/>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162" name="Google Shape;162;p17"/>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에이전트 수정 내용</a:t>
            </a:r>
            <a:endParaRPr/>
          </a:p>
        </p:txBody>
      </p:sp>
      <p:sp>
        <p:nvSpPr>
          <p:cNvPr id="163" name="Google Shape;163;p17"/>
          <p:cNvSpPr txBox="1"/>
          <p:nvPr/>
        </p:nvSpPr>
        <p:spPr>
          <a:xfrm>
            <a:off x="17106900" y="9512300"/>
            <a:ext cx="444600" cy="241200"/>
          </a:xfrm>
          <a:prstGeom prst="rect">
            <a:avLst/>
          </a:prstGeom>
          <a:noFill/>
          <a:ln>
            <a:noFill/>
          </a:ln>
        </p:spPr>
        <p:txBody>
          <a:bodyPr spcFirstLastPara="1" wrap="square" lIns="0" tIns="0" rIns="0" bIns="0" anchor="ctr" anchorCtr="0">
            <a:noAutofit/>
          </a:bodyPr>
          <a:lstStyle/>
          <a:p>
            <a:pPr marL="0" marR="0" lvl="0" indent="0" algn="r" rtl="0">
              <a:lnSpc>
                <a:spcPct val="99600"/>
              </a:lnSpc>
              <a:spcBef>
                <a:spcPts val="0"/>
              </a:spcBef>
              <a:spcAft>
                <a:spcPts val="0"/>
              </a:spcAft>
              <a:buNone/>
            </a:pPr>
            <a:r>
              <a:rPr lang="en-US" sz="1400" b="0" i="0" u="none" strike="noStrike" cap="none">
                <a:solidFill>
                  <a:srgbClr val="000000"/>
                </a:solidFill>
                <a:latin typeface="Arial"/>
                <a:ea typeface="Arial"/>
                <a:cs typeface="Arial"/>
                <a:sym typeface="Arial"/>
              </a:rPr>
              <a:t>03</a:t>
            </a:r>
            <a:endParaRPr/>
          </a:p>
        </p:txBody>
      </p:sp>
      <p:sp>
        <p:nvSpPr>
          <p:cNvPr id="164" name="Google Shape;164;p17"/>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sp>
        <p:nvSpPr>
          <p:cNvPr id="165" name="Google Shape;165;p17"/>
          <p:cNvSpPr txBox="1"/>
          <p:nvPr/>
        </p:nvSpPr>
        <p:spPr>
          <a:xfrm>
            <a:off x="613775" y="1854200"/>
            <a:ext cx="6872100" cy="8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(이용규) 거래처 분석 에이전트</a:t>
            </a:r>
            <a:endParaRPr sz="3200">
              <a:solidFill>
                <a:schemeClr val="dk1"/>
              </a:solidFill>
              <a:latin typeface="Calibri"/>
              <a:ea typeface="Calibri"/>
              <a:cs typeface="Calibri"/>
              <a:sym typeface="Calibri"/>
            </a:endParaRPr>
          </a:p>
        </p:txBody>
      </p:sp>
      <p:sp>
        <p:nvSpPr>
          <p:cNvPr id="166" name="Google Shape;166;p17"/>
          <p:cNvSpPr txBox="1"/>
          <p:nvPr/>
        </p:nvSpPr>
        <p:spPr>
          <a:xfrm>
            <a:off x="119700" y="2454000"/>
            <a:ext cx="17902800" cy="773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67" name="Google Shape;167;p17"/>
          <p:cNvSpPr/>
          <p:nvPr/>
        </p:nvSpPr>
        <p:spPr>
          <a:xfrm>
            <a:off x="4250750" y="2825400"/>
            <a:ext cx="2434800" cy="482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8" name="Google Shape;168;p17"/>
          <p:cNvSpPr txBox="1"/>
          <p:nvPr/>
        </p:nvSpPr>
        <p:spPr>
          <a:xfrm>
            <a:off x="7111600" y="2606400"/>
            <a:ext cx="9739200" cy="164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Calibri"/>
                <a:ea typeface="Calibri"/>
                <a:cs typeface="Calibri"/>
                <a:sym typeface="Calibri"/>
              </a:rPr>
              <a:t>LLM이 단순 등급분류기준에 한정하지 않고 다양한 기준으로 세부 분석하여 영업전략과 관계성장분석을 보다 여러시각과 지표로 답변을 할수 있게 함</a:t>
            </a:r>
            <a:endParaRPr sz="2400">
              <a:solidFill>
                <a:schemeClr val="dk1"/>
              </a:solidFill>
              <a:latin typeface="Calibri"/>
              <a:ea typeface="Calibri"/>
              <a:cs typeface="Calibri"/>
              <a:sym typeface="Calibri"/>
            </a:endParaRPr>
          </a:p>
        </p:txBody>
      </p:sp>
      <p:sp>
        <p:nvSpPr>
          <p:cNvPr id="169" name="Google Shape;169;p17"/>
          <p:cNvSpPr txBox="1"/>
          <p:nvPr/>
        </p:nvSpPr>
        <p:spPr>
          <a:xfrm>
            <a:off x="119700" y="2825400"/>
            <a:ext cx="3804600" cy="66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Calibri"/>
                <a:ea typeface="Calibri"/>
                <a:cs typeface="Calibri"/>
                <a:sym typeface="Calibri"/>
              </a:rPr>
              <a:t>프롬프트 엔지니어링 고도화</a:t>
            </a:r>
            <a:endParaRPr sz="2400">
              <a:solidFill>
                <a:schemeClr val="dk1"/>
              </a:solidFill>
              <a:latin typeface="Calibri"/>
              <a:ea typeface="Calibri"/>
              <a:cs typeface="Calibri"/>
              <a:sym typeface="Calibri"/>
            </a:endParaRPr>
          </a:p>
        </p:txBody>
      </p:sp>
      <p:sp>
        <p:nvSpPr>
          <p:cNvPr id="170" name="Google Shape;170;p17"/>
          <p:cNvSpPr txBox="1"/>
          <p:nvPr/>
        </p:nvSpPr>
        <p:spPr>
          <a:xfrm>
            <a:off x="119700" y="4152300"/>
            <a:ext cx="5424600" cy="115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Calibri"/>
                <a:ea typeface="Calibri"/>
                <a:cs typeface="Calibri"/>
                <a:sym typeface="Calibri"/>
              </a:rPr>
              <a:t>예시: 다음과 같은 등급기준에 활용된 지표들을 가지고 거래처 영업전략을 분석해줘</a:t>
            </a:r>
            <a:endParaRPr sz="2400">
              <a:solidFill>
                <a:schemeClr val="dk1"/>
              </a:solidFill>
              <a:latin typeface="Calibri"/>
              <a:ea typeface="Calibri"/>
              <a:cs typeface="Calibri"/>
              <a:sym typeface="Calibri"/>
            </a:endParaRPr>
          </a:p>
        </p:txBody>
      </p:sp>
      <p:pic>
        <p:nvPicPr>
          <p:cNvPr id="171" name="Google Shape;171;p17"/>
          <p:cNvPicPr preferRelativeResize="0"/>
          <p:nvPr/>
        </p:nvPicPr>
        <p:blipFill>
          <a:blip r:embed="rId6">
            <a:alphaModFix/>
          </a:blip>
          <a:stretch>
            <a:fillRect/>
          </a:stretch>
        </p:blipFill>
        <p:spPr>
          <a:xfrm>
            <a:off x="7735575" y="3672475"/>
            <a:ext cx="8156525" cy="3074675"/>
          </a:xfrm>
          <a:prstGeom prst="rect">
            <a:avLst/>
          </a:prstGeom>
          <a:noFill/>
          <a:ln>
            <a:noFill/>
          </a:ln>
        </p:spPr>
      </p:pic>
      <p:sp>
        <p:nvSpPr>
          <p:cNvPr id="172" name="Google Shape;172;p17"/>
          <p:cNvSpPr/>
          <p:nvPr/>
        </p:nvSpPr>
        <p:spPr>
          <a:xfrm>
            <a:off x="5026825" y="4377550"/>
            <a:ext cx="2343600" cy="578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3" name="Google Shape;173;p17"/>
          <p:cNvSpPr txBox="1"/>
          <p:nvPr/>
        </p:nvSpPr>
        <p:spPr>
          <a:xfrm>
            <a:off x="248550" y="6842800"/>
            <a:ext cx="6330600" cy="168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177"/>
        <p:cNvGrpSpPr/>
        <p:nvPr/>
      </p:nvGrpSpPr>
      <p:grpSpPr>
        <a:xfrm>
          <a:off x="0" y="0"/>
          <a:ext cx="0" cy="0"/>
          <a:chOff x="0" y="0"/>
          <a:chExt cx="0" cy="0"/>
        </a:xfrm>
      </p:grpSpPr>
      <p:pic>
        <p:nvPicPr>
          <p:cNvPr id="178" name="Google Shape;178;p18"/>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179" name="Google Shape;179;p18"/>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180" name="Google Shape;180;p18"/>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181" name="Google Shape;181;p18"/>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182" name="Google Shape;182;p18"/>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183" name="Google Shape;183;p18"/>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184" name="Google Shape;184;p18"/>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에이전트 수정 내용</a:t>
            </a:r>
            <a:endParaRPr/>
          </a:p>
        </p:txBody>
      </p:sp>
      <p:sp>
        <p:nvSpPr>
          <p:cNvPr id="185" name="Google Shape;185;p18"/>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186" name="Google Shape;186;p18"/>
          <p:cNvPicPr preferRelativeResize="0"/>
          <p:nvPr/>
        </p:nvPicPr>
        <p:blipFill>
          <a:blip r:embed="rId6">
            <a:alphaModFix/>
          </a:blip>
          <a:stretch>
            <a:fillRect/>
          </a:stretch>
        </p:blipFill>
        <p:spPr>
          <a:xfrm>
            <a:off x="685075" y="2883200"/>
            <a:ext cx="8734425" cy="3076575"/>
          </a:xfrm>
          <a:prstGeom prst="rect">
            <a:avLst/>
          </a:prstGeom>
          <a:noFill/>
          <a:ln>
            <a:noFill/>
          </a:ln>
        </p:spPr>
      </p:pic>
      <p:sp>
        <p:nvSpPr>
          <p:cNvPr id="187" name="Google Shape;187;p18"/>
          <p:cNvSpPr txBox="1"/>
          <p:nvPr/>
        </p:nvSpPr>
        <p:spPr>
          <a:xfrm>
            <a:off x="613775" y="1854200"/>
            <a:ext cx="6872100" cy="8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(최문영) 직원 실적 분석 에이전트</a:t>
            </a:r>
            <a:endParaRPr sz="3200">
              <a:solidFill>
                <a:schemeClr val="dk1"/>
              </a:solidFill>
              <a:latin typeface="Calibri"/>
              <a:ea typeface="Calibri"/>
              <a:cs typeface="Calibri"/>
              <a:sym typeface="Calibri"/>
            </a:endParaRPr>
          </a:p>
        </p:txBody>
      </p:sp>
      <p:pic>
        <p:nvPicPr>
          <p:cNvPr id="188" name="Google Shape;188;p18"/>
          <p:cNvPicPr preferRelativeResize="0"/>
          <p:nvPr/>
        </p:nvPicPr>
        <p:blipFill>
          <a:blip r:embed="rId7">
            <a:alphaModFix/>
          </a:blip>
          <a:stretch>
            <a:fillRect/>
          </a:stretch>
        </p:blipFill>
        <p:spPr>
          <a:xfrm>
            <a:off x="8268750" y="6454150"/>
            <a:ext cx="9586578" cy="2990500"/>
          </a:xfrm>
          <a:prstGeom prst="rect">
            <a:avLst/>
          </a:prstGeom>
          <a:noFill/>
          <a:ln>
            <a:noFill/>
          </a:ln>
        </p:spPr>
      </p:pic>
      <p:sp>
        <p:nvSpPr>
          <p:cNvPr id="189" name="Google Shape;189;p18"/>
          <p:cNvSpPr txBox="1"/>
          <p:nvPr/>
        </p:nvSpPr>
        <p:spPr>
          <a:xfrm>
            <a:off x="10538600" y="3630875"/>
            <a:ext cx="6978600" cy="117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실적 분석 계산법들 수정</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달성률, 성장, 계절성 분석 계산</a:t>
            </a:r>
            <a:endParaRPr sz="2800">
              <a:solidFill>
                <a:schemeClr val="dk1"/>
              </a:solidFill>
              <a:latin typeface="Calibri"/>
              <a:ea typeface="Calibri"/>
              <a:cs typeface="Calibri"/>
              <a:sym typeface="Calibri"/>
            </a:endParaRPr>
          </a:p>
        </p:txBody>
      </p:sp>
      <p:pic>
        <p:nvPicPr>
          <p:cNvPr id="190" name="Google Shape;190;p18"/>
          <p:cNvPicPr preferRelativeResize="0"/>
          <p:nvPr/>
        </p:nvPicPr>
        <p:blipFill rotWithShape="1">
          <a:blip r:embed="rId8">
            <a:alphaModFix/>
          </a:blip>
          <a:srcRect l="4315"/>
          <a:stretch/>
        </p:blipFill>
        <p:spPr>
          <a:xfrm>
            <a:off x="685075" y="6229875"/>
            <a:ext cx="7129925" cy="3376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194"/>
        <p:cNvGrpSpPr/>
        <p:nvPr/>
      </p:nvGrpSpPr>
      <p:grpSpPr>
        <a:xfrm>
          <a:off x="0" y="0"/>
          <a:ext cx="0" cy="0"/>
          <a:chOff x="0" y="0"/>
          <a:chExt cx="0" cy="0"/>
        </a:xfrm>
      </p:grpSpPr>
      <p:pic>
        <p:nvPicPr>
          <p:cNvPr id="195" name="Google Shape;195;p19"/>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196" name="Google Shape;196;p19"/>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197" name="Google Shape;197;p19"/>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198" name="Google Shape;198;p19"/>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199" name="Google Shape;199;p19"/>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200" name="Google Shape;200;p19"/>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에이전트 수정 내용</a:t>
            </a:r>
            <a:endParaRPr/>
          </a:p>
        </p:txBody>
      </p:sp>
      <p:sp>
        <p:nvSpPr>
          <p:cNvPr id="201" name="Google Shape;201;p19"/>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sp>
        <p:nvSpPr>
          <p:cNvPr id="202" name="Google Shape;202;p19"/>
          <p:cNvSpPr txBox="1"/>
          <p:nvPr/>
        </p:nvSpPr>
        <p:spPr>
          <a:xfrm>
            <a:off x="613775" y="1854200"/>
            <a:ext cx="6872100" cy="8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(최문영) 직원 실적 분석 에이전트</a:t>
            </a:r>
            <a:endParaRPr sz="3200">
              <a:solidFill>
                <a:schemeClr val="dk1"/>
              </a:solidFill>
              <a:latin typeface="Calibri"/>
              <a:ea typeface="Calibri"/>
              <a:cs typeface="Calibri"/>
              <a:sym typeface="Calibri"/>
            </a:endParaRPr>
          </a:p>
        </p:txBody>
      </p:sp>
      <p:pic>
        <p:nvPicPr>
          <p:cNvPr id="203" name="Google Shape;203;p19"/>
          <p:cNvPicPr preferRelativeResize="0"/>
          <p:nvPr/>
        </p:nvPicPr>
        <p:blipFill>
          <a:blip r:embed="rId6">
            <a:alphaModFix/>
          </a:blip>
          <a:stretch>
            <a:fillRect/>
          </a:stretch>
        </p:blipFill>
        <p:spPr>
          <a:xfrm>
            <a:off x="3585150" y="2946400"/>
            <a:ext cx="11010074" cy="5907400"/>
          </a:xfrm>
          <a:prstGeom prst="rect">
            <a:avLst/>
          </a:prstGeom>
          <a:noFill/>
          <a:ln>
            <a:noFill/>
          </a:ln>
        </p:spPr>
      </p:pic>
      <p:sp>
        <p:nvSpPr>
          <p:cNvPr id="204" name="Google Shape;204;p19"/>
          <p:cNvSpPr txBox="1"/>
          <p:nvPr/>
        </p:nvSpPr>
        <p:spPr>
          <a:xfrm>
            <a:off x="5233650" y="9149050"/>
            <a:ext cx="6978600" cy="11736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en-US" sz="3000">
                <a:solidFill>
                  <a:schemeClr val="dk1"/>
                </a:solidFill>
                <a:latin typeface="Calibri"/>
                <a:ea typeface="Calibri"/>
                <a:cs typeface="Calibri"/>
                <a:sym typeface="Calibri"/>
              </a:rPr>
              <a:t>수정된 계산 방법을 통해 나온 보고서</a:t>
            </a:r>
            <a:endParaRPr sz="3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208"/>
        <p:cNvGrpSpPr/>
        <p:nvPr/>
      </p:nvGrpSpPr>
      <p:grpSpPr>
        <a:xfrm>
          <a:off x="0" y="0"/>
          <a:ext cx="0" cy="0"/>
          <a:chOff x="0" y="0"/>
          <a:chExt cx="0" cy="0"/>
        </a:xfrm>
      </p:grpSpPr>
      <p:pic>
        <p:nvPicPr>
          <p:cNvPr id="209" name="Google Shape;209;p20"/>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210" name="Google Shape;210;p20"/>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211" name="Google Shape;211;p20"/>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212" name="Google Shape;212;p20"/>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213" name="Google Shape;213;p20"/>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214" name="Google Shape;214;p20"/>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215" name="Google Shape;215;p20"/>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데이터베이스 구조 수정</a:t>
            </a:r>
            <a:endParaRPr/>
          </a:p>
        </p:txBody>
      </p:sp>
      <p:sp>
        <p:nvSpPr>
          <p:cNvPr id="216" name="Google Shape;216;p20"/>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217" name="Google Shape;217;p20" title="내부문서_PostgreSQL_ERD_0.2.png"/>
          <p:cNvPicPr preferRelativeResize="0"/>
          <p:nvPr/>
        </p:nvPicPr>
        <p:blipFill>
          <a:blip r:embed="rId6">
            <a:alphaModFix/>
          </a:blip>
          <a:stretch>
            <a:fillRect/>
          </a:stretch>
        </p:blipFill>
        <p:spPr>
          <a:xfrm>
            <a:off x="722050" y="2403775"/>
            <a:ext cx="6994924" cy="7228901"/>
          </a:xfrm>
          <a:prstGeom prst="rect">
            <a:avLst/>
          </a:prstGeom>
          <a:noFill/>
          <a:ln>
            <a:noFill/>
          </a:ln>
        </p:spPr>
      </p:pic>
      <p:sp>
        <p:nvSpPr>
          <p:cNvPr id="218" name="Google Shape;218;p20"/>
          <p:cNvSpPr txBox="1"/>
          <p:nvPr/>
        </p:nvSpPr>
        <p:spPr>
          <a:xfrm>
            <a:off x="9286075" y="3429000"/>
            <a:ext cx="5180700" cy="365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4000" b="1">
                <a:solidFill>
                  <a:schemeClr val="dk1"/>
                </a:solidFill>
                <a:latin typeface="Calibri"/>
                <a:ea typeface="Calibri"/>
                <a:cs typeface="Calibri"/>
                <a:sym typeface="Calibri"/>
              </a:rPr>
              <a:t>직원과 채팅 기록 관련 테이블 수정</a:t>
            </a:r>
            <a:endParaRPr sz="4000" b="1">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a:p>
            <a:pPr marL="457200" lvl="0" indent="-412750" algn="l" rtl="0">
              <a:spcBef>
                <a:spcPts val="0"/>
              </a:spcBef>
              <a:spcAft>
                <a:spcPts val="0"/>
              </a:spcAft>
              <a:buClr>
                <a:schemeClr val="dk1"/>
              </a:buClr>
              <a:buSzPts val="2900"/>
              <a:buFont typeface="Calibri"/>
              <a:buChar char="●"/>
            </a:pPr>
            <a:r>
              <a:rPr lang="en-US" sz="2900">
                <a:solidFill>
                  <a:schemeClr val="dk1"/>
                </a:solidFill>
                <a:latin typeface="Calibri"/>
                <a:ea typeface="Calibri"/>
                <a:cs typeface="Calibri"/>
                <a:sym typeface="Calibri"/>
              </a:rPr>
              <a:t>유저의 권한 관리</a:t>
            </a:r>
            <a:endParaRPr sz="2900">
              <a:solidFill>
                <a:schemeClr val="dk1"/>
              </a:solidFill>
              <a:latin typeface="Calibri"/>
              <a:ea typeface="Calibri"/>
              <a:cs typeface="Calibri"/>
              <a:sym typeface="Calibri"/>
            </a:endParaRPr>
          </a:p>
          <a:p>
            <a:pPr marL="457200" lvl="0" indent="-412750" algn="l" rtl="0">
              <a:spcBef>
                <a:spcPts val="0"/>
              </a:spcBef>
              <a:spcAft>
                <a:spcPts val="0"/>
              </a:spcAft>
              <a:buClr>
                <a:schemeClr val="dk1"/>
              </a:buClr>
              <a:buSzPts val="2900"/>
              <a:buFont typeface="Calibri"/>
              <a:buChar char="●"/>
            </a:pPr>
            <a:r>
              <a:rPr lang="en-US" sz="2900">
                <a:solidFill>
                  <a:schemeClr val="dk1"/>
                </a:solidFill>
                <a:latin typeface="Calibri"/>
                <a:ea typeface="Calibri"/>
                <a:cs typeface="Calibri"/>
                <a:sym typeface="Calibri"/>
              </a:rPr>
              <a:t>이용 기록 유지</a:t>
            </a:r>
            <a:endParaRPr sz="2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222"/>
        <p:cNvGrpSpPr/>
        <p:nvPr/>
      </p:nvGrpSpPr>
      <p:grpSpPr>
        <a:xfrm>
          <a:off x="0" y="0"/>
          <a:ext cx="0" cy="0"/>
          <a:chOff x="0" y="0"/>
          <a:chExt cx="0" cy="0"/>
        </a:xfrm>
      </p:grpSpPr>
      <p:pic>
        <p:nvPicPr>
          <p:cNvPr id="223" name="Google Shape;223;p21"/>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224" name="Google Shape;224;p21"/>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225" name="Google Shape;225;p21"/>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226" name="Google Shape;226;p21"/>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227" name="Google Shape;227;p21"/>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228" name="Google Shape;228;p21"/>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229" name="Google Shape;229;p21"/>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데이터베이스 구조 수정</a:t>
            </a:r>
            <a:endParaRPr/>
          </a:p>
        </p:txBody>
      </p:sp>
      <p:sp>
        <p:nvSpPr>
          <p:cNvPr id="230" name="Google Shape;230;p21"/>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231" name="Google Shape;231;p21" title="내부문서_PostgreSQL_ERD_0.2.png"/>
          <p:cNvPicPr preferRelativeResize="0"/>
          <p:nvPr/>
        </p:nvPicPr>
        <p:blipFill rotWithShape="1">
          <a:blip r:embed="rId6">
            <a:alphaModFix/>
          </a:blip>
          <a:srcRect t="36133" r="62931" b="29407"/>
          <a:stretch/>
        </p:blipFill>
        <p:spPr>
          <a:xfrm>
            <a:off x="612775" y="2578101"/>
            <a:ext cx="7547225" cy="7250424"/>
          </a:xfrm>
          <a:prstGeom prst="rect">
            <a:avLst/>
          </a:prstGeom>
          <a:noFill/>
          <a:ln>
            <a:noFill/>
          </a:ln>
        </p:spPr>
      </p:pic>
      <p:sp>
        <p:nvSpPr>
          <p:cNvPr id="232" name="Google Shape;232;p21"/>
          <p:cNvSpPr txBox="1"/>
          <p:nvPr/>
        </p:nvSpPr>
        <p:spPr>
          <a:xfrm>
            <a:off x="9286100" y="3429000"/>
            <a:ext cx="7960500" cy="56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000" b="1">
                <a:solidFill>
                  <a:schemeClr val="dk1"/>
                </a:solidFill>
                <a:latin typeface="Calibri"/>
                <a:ea typeface="Calibri"/>
                <a:cs typeface="Calibri"/>
                <a:sym typeface="Calibri"/>
              </a:rPr>
              <a:t>직원 테이블</a:t>
            </a:r>
            <a:endParaRPr sz="4000" b="1">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a:p>
            <a:pPr marL="0" lvl="0" indent="0" algn="l" rtl="0">
              <a:spcBef>
                <a:spcPts val="0"/>
              </a:spcBef>
              <a:spcAft>
                <a:spcPts val="0"/>
              </a:spcAft>
              <a:buNone/>
            </a:pPr>
            <a:r>
              <a:rPr lang="en-US" sz="2400">
                <a:solidFill>
                  <a:schemeClr val="dk1"/>
                </a:solidFill>
                <a:latin typeface="Calibri"/>
                <a:ea typeface="Calibri"/>
                <a:cs typeface="Calibri"/>
                <a:sym typeface="Calibri"/>
              </a:rPr>
              <a:t>직원의 계정이 사라지더라도 이용 기록 추적을 위해 직원 정보는 남겨둬야 함</a:t>
            </a:r>
            <a:endParaRPr sz="2400">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a:p>
            <a:pPr marL="0" lvl="0" indent="0" algn="l" rtl="0">
              <a:spcBef>
                <a:spcPts val="0"/>
              </a:spcBef>
              <a:spcAft>
                <a:spcPts val="0"/>
              </a:spcAft>
              <a:buNone/>
            </a:pPr>
            <a:r>
              <a:rPr lang="en-US" sz="2400" b="1">
                <a:solidFill>
                  <a:schemeClr val="dk1"/>
                </a:solidFill>
                <a:latin typeface="Calibri"/>
                <a:ea typeface="Calibri"/>
                <a:cs typeface="Calibri"/>
                <a:sym typeface="Calibri"/>
              </a:rPr>
              <a:t>employees를 employee_info와 employees로 분리</a:t>
            </a:r>
            <a:endParaRPr sz="2400" b="1">
              <a:solidFill>
                <a:schemeClr val="dk1"/>
              </a:solidFill>
              <a:latin typeface="Calibri"/>
              <a:ea typeface="Calibri"/>
              <a:cs typeface="Calibri"/>
              <a:sym typeface="Calibri"/>
            </a:endParaRPr>
          </a:p>
          <a:p>
            <a:pPr marL="0" lvl="0" indent="0" algn="l" rtl="0">
              <a:spcBef>
                <a:spcPts val="0"/>
              </a:spcBef>
              <a:spcAft>
                <a:spcPts val="0"/>
              </a:spcAft>
              <a:buNone/>
            </a:pPr>
            <a:r>
              <a:rPr lang="en-US" sz="2400">
                <a:solidFill>
                  <a:schemeClr val="dk1"/>
                </a:solidFill>
                <a:latin typeface="Calibri"/>
                <a:ea typeface="Calibri"/>
                <a:cs typeface="Calibri"/>
                <a:sym typeface="Calibri"/>
              </a:rPr>
              <a:t>employee_info는 직원의 인사 정보를 저장</a:t>
            </a:r>
            <a:endParaRPr sz="2400">
              <a:solidFill>
                <a:schemeClr val="dk1"/>
              </a:solidFill>
              <a:latin typeface="Calibri"/>
              <a:ea typeface="Calibri"/>
              <a:cs typeface="Calibri"/>
              <a:sym typeface="Calibri"/>
            </a:endParaRPr>
          </a:p>
          <a:p>
            <a:pPr marL="0" lvl="0" indent="0" algn="l" rtl="0">
              <a:spcBef>
                <a:spcPts val="0"/>
              </a:spcBef>
              <a:spcAft>
                <a:spcPts val="0"/>
              </a:spcAft>
              <a:buNone/>
            </a:pPr>
            <a:r>
              <a:rPr lang="en-US" sz="2400">
                <a:solidFill>
                  <a:schemeClr val="dk1"/>
                </a:solidFill>
                <a:latin typeface="Calibri"/>
                <a:ea typeface="Calibri"/>
                <a:cs typeface="Calibri"/>
                <a:sym typeface="Calibri"/>
              </a:rPr>
              <a:t>employees는 직원의 계정 정보를 저장</a:t>
            </a:r>
            <a:endParaRPr sz="2400">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a:p>
            <a:pPr marL="0" lvl="0" indent="0" algn="l" rtl="0">
              <a:spcBef>
                <a:spcPts val="0"/>
              </a:spcBef>
              <a:spcAft>
                <a:spcPts val="0"/>
              </a:spcAft>
              <a:buNone/>
            </a:pP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a:p>
            <a:pPr marL="0" lvl="0" indent="0" algn="l" rtl="0">
              <a:spcBef>
                <a:spcPts val="0"/>
              </a:spcBef>
              <a:spcAft>
                <a:spcPts val="0"/>
              </a:spcAft>
              <a:buNone/>
            </a:pPr>
            <a:r>
              <a:rPr lang="en-US" sz="2400">
                <a:solidFill>
                  <a:schemeClr val="dk1"/>
                </a:solidFill>
                <a:latin typeface="Calibri"/>
                <a:ea typeface="Calibri"/>
                <a:cs typeface="Calibri"/>
                <a:sym typeface="Calibri"/>
              </a:rPr>
              <a:t>직원 계정을 삭제해도 직원 정보 유지</a:t>
            </a:r>
            <a:endParaRPr sz="2400">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236"/>
        <p:cNvGrpSpPr/>
        <p:nvPr/>
      </p:nvGrpSpPr>
      <p:grpSpPr>
        <a:xfrm>
          <a:off x="0" y="0"/>
          <a:ext cx="0" cy="0"/>
          <a:chOff x="0" y="0"/>
          <a:chExt cx="0" cy="0"/>
        </a:xfrm>
      </p:grpSpPr>
      <p:pic>
        <p:nvPicPr>
          <p:cNvPr id="237" name="Google Shape;237;p22"/>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238" name="Google Shape;238;p22"/>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239" name="Google Shape;239;p22"/>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240" name="Google Shape;240;p22"/>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241" name="Google Shape;241;p22"/>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242" name="Google Shape;242;p22"/>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243" name="Google Shape;243;p22"/>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데이터베이스 구조 수정</a:t>
            </a:r>
            <a:endParaRPr/>
          </a:p>
        </p:txBody>
      </p:sp>
      <p:sp>
        <p:nvSpPr>
          <p:cNvPr id="244" name="Google Shape;244;p22"/>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245" name="Google Shape;245;p22" title="내부문서_PostgreSQL_ERD_0.2.png"/>
          <p:cNvPicPr preferRelativeResize="0"/>
          <p:nvPr/>
        </p:nvPicPr>
        <p:blipFill rotWithShape="1">
          <a:blip r:embed="rId6">
            <a:alphaModFix/>
          </a:blip>
          <a:srcRect t="77054" r="45184"/>
          <a:stretch/>
        </p:blipFill>
        <p:spPr>
          <a:xfrm>
            <a:off x="308325" y="3585375"/>
            <a:ext cx="9678575" cy="4186826"/>
          </a:xfrm>
          <a:prstGeom prst="rect">
            <a:avLst/>
          </a:prstGeom>
          <a:noFill/>
          <a:ln>
            <a:noFill/>
          </a:ln>
        </p:spPr>
      </p:pic>
      <p:sp>
        <p:nvSpPr>
          <p:cNvPr id="246" name="Google Shape;246;p22"/>
          <p:cNvSpPr txBox="1"/>
          <p:nvPr/>
        </p:nvSpPr>
        <p:spPr>
          <a:xfrm>
            <a:off x="10327500" y="3429000"/>
            <a:ext cx="7960500" cy="56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000" b="1">
                <a:solidFill>
                  <a:schemeClr val="dk1"/>
                </a:solidFill>
                <a:latin typeface="Calibri"/>
                <a:ea typeface="Calibri"/>
                <a:cs typeface="Calibri"/>
                <a:sym typeface="Calibri"/>
              </a:rPr>
              <a:t>채팅 테이블</a:t>
            </a:r>
            <a:endParaRPr sz="4000" b="1">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a:p>
            <a:pPr marL="0" lvl="0" indent="0" algn="l" rtl="0">
              <a:spcBef>
                <a:spcPts val="0"/>
              </a:spcBef>
              <a:spcAft>
                <a:spcPts val="0"/>
              </a:spcAft>
              <a:buNone/>
            </a:pPr>
            <a:r>
              <a:rPr lang="en-US" sz="2400">
                <a:solidFill>
                  <a:schemeClr val="dk1"/>
                </a:solidFill>
                <a:latin typeface="Calibri"/>
                <a:ea typeface="Calibri"/>
                <a:cs typeface="Calibri"/>
                <a:sym typeface="Calibri"/>
              </a:rPr>
              <a:t>유저의 채팅 기록을 저장하기 위해 </a:t>
            </a:r>
            <a:endParaRPr sz="2400">
              <a:solidFill>
                <a:schemeClr val="dk1"/>
              </a:solidFill>
              <a:latin typeface="Calibri"/>
              <a:ea typeface="Calibri"/>
              <a:cs typeface="Calibri"/>
              <a:sym typeface="Calibri"/>
            </a:endParaRPr>
          </a:p>
          <a:p>
            <a:pPr marL="0" lvl="0" indent="0" algn="l" rtl="0">
              <a:spcBef>
                <a:spcPts val="0"/>
              </a:spcBef>
              <a:spcAft>
                <a:spcPts val="0"/>
              </a:spcAft>
              <a:buNone/>
            </a:pPr>
            <a:r>
              <a:rPr lang="en-US" sz="2400" b="1">
                <a:solidFill>
                  <a:schemeClr val="dk1"/>
                </a:solidFill>
                <a:latin typeface="Calibri"/>
                <a:ea typeface="Calibri"/>
                <a:cs typeface="Calibri"/>
                <a:sym typeface="Calibri"/>
              </a:rPr>
              <a:t>chat_sessions</a:t>
            </a:r>
            <a:r>
              <a:rPr lang="en-US" sz="2400">
                <a:solidFill>
                  <a:schemeClr val="dk1"/>
                </a:solidFill>
                <a:latin typeface="Calibri"/>
                <a:ea typeface="Calibri"/>
                <a:cs typeface="Calibri"/>
                <a:sym typeface="Calibri"/>
              </a:rPr>
              <a:t>, </a:t>
            </a:r>
            <a:r>
              <a:rPr lang="en-US" sz="2400" b="1">
                <a:solidFill>
                  <a:schemeClr val="dk1"/>
                </a:solidFill>
                <a:latin typeface="Calibri"/>
                <a:ea typeface="Calibri"/>
                <a:cs typeface="Calibri"/>
                <a:sym typeface="Calibri"/>
              </a:rPr>
              <a:t>chat_history </a:t>
            </a:r>
            <a:r>
              <a:rPr lang="en-US" sz="2400">
                <a:solidFill>
                  <a:schemeClr val="dk1"/>
                </a:solidFill>
                <a:latin typeface="Calibri"/>
                <a:ea typeface="Calibri"/>
                <a:cs typeface="Calibri"/>
                <a:sym typeface="Calibri"/>
              </a:rPr>
              <a:t>테이블 추가</a:t>
            </a:r>
            <a:endParaRPr sz="2400">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250"/>
        <p:cNvGrpSpPr/>
        <p:nvPr/>
      </p:nvGrpSpPr>
      <p:grpSpPr>
        <a:xfrm>
          <a:off x="0" y="0"/>
          <a:ext cx="0" cy="0"/>
          <a:chOff x="0" y="0"/>
          <a:chExt cx="0" cy="0"/>
        </a:xfrm>
      </p:grpSpPr>
      <p:pic>
        <p:nvPicPr>
          <p:cNvPr id="251" name="Google Shape;251;p23"/>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252" name="Google Shape;252;p23"/>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253" name="Google Shape;253;p23"/>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254" name="Google Shape;254;p23"/>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255" name="Google Shape;255;p23"/>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256" name="Google Shape;256;p23"/>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257" name="Google Shape;257;p23"/>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채팅 저장 api</a:t>
            </a:r>
            <a:endParaRPr/>
          </a:p>
        </p:txBody>
      </p:sp>
      <p:sp>
        <p:nvSpPr>
          <p:cNvPr id="258" name="Google Shape;258;p23"/>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sp>
        <p:nvSpPr>
          <p:cNvPr id="259" name="Google Shape;259;p23"/>
          <p:cNvSpPr txBox="1"/>
          <p:nvPr/>
        </p:nvSpPr>
        <p:spPr>
          <a:xfrm>
            <a:off x="9564675" y="3289700"/>
            <a:ext cx="5228700" cy="56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000" b="1">
                <a:solidFill>
                  <a:schemeClr val="dk1"/>
                </a:solidFill>
                <a:latin typeface="Calibri"/>
                <a:ea typeface="Calibri"/>
                <a:cs typeface="Calibri"/>
                <a:sym typeface="Calibri"/>
              </a:rPr>
              <a:t>구현 api</a:t>
            </a:r>
            <a:endParaRPr sz="4000" b="1">
              <a:solidFill>
                <a:schemeClr val="dk1"/>
              </a:solidFill>
              <a:latin typeface="Calibri"/>
              <a:ea typeface="Calibri"/>
              <a:cs typeface="Calibri"/>
              <a:sym typeface="Calibri"/>
            </a:endParaRPr>
          </a:p>
          <a:p>
            <a:pPr marL="0" lvl="0" indent="0" algn="l" rtl="0">
              <a:spcBef>
                <a:spcPts val="0"/>
              </a:spcBef>
              <a:spcAft>
                <a:spcPts val="0"/>
              </a:spcAft>
              <a:buNone/>
            </a:pPr>
            <a:endParaRPr sz="2400">
              <a:solidFill>
                <a:schemeClr val="dk1"/>
              </a:solidFill>
              <a:latin typeface="Calibri"/>
              <a:ea typeface="Calibri"/>
              <a:cs typeface="Calibri"/>
              <a:sym typeface="Calibri"/>
            </a:endParaRPr>
          </a:p>
          <a:p>
            <a:pPr marL="457200" lvl="0" indent="-381000" algn="l" rtl="0">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메시지 저장</a:t>
            </a:r>
            <a:endParaRPr sz="2400">
              <a:solidFill>
                <a:schemeClr val="dk1"/>
              </a:solidFill>
              <a:latin typeface="Calibri"/>
              <a:ea typeface="Calibri"/>
              <a:cs typeface="Calibri"/>
              <a:sym typeface="Calibri"/>
            </a:endParaRPr>
          </a:p>
          <a:p>
            <a:pPr marL="457200" lvl="0" indent="-381000" algn="l" rtl="0">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대화 기록 조회</a:t>
            </a:r>
            <a:endParaRPr sz="2400">
              <a:solidFill>
                <a:schemeClr val="dk1"/>
              </a:solidFill>
              <a:latin typeface="Calibri"/>
              <a:ea typeface="Calibri"/>
              <a:cs typeface="Calibri"/>
              <a:sym typeface="Calibri"/>
            </a:endParaRPr>
          </a:p>
          <a:p>
            <a:pPr marL="457200" lvl="0" indent="-381000" algn="l" rtl="0">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세션 정보 저장</a:t>
            </a:r>
            <a:endParaRPr sz="2400">
              <a:solidFill>
                <a:schemeClr val="dk1"/>
              </a:solidFill>
              <a:latin typeface="Calibri"/>
              <a:ea typeface="Calibri"/>
              <a:cs typeface="Calibri"/>
              <a:sym typeface="Calibri"/>
            </a:endParaRPr>
          </a:p>
          <a:p>
            <a:pPr marL="457200" lvl="0" indent="-381000" algn="l" rtl="0">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사용자 세션 목록 조회</a:t>
            </a:r>
            <a:endParaRPr sz="2400">
              <a:solidFill>
                <a:schemeClr val="dk1"/>
              </a:solidFill>
              <a:latin typeface="Calibri"/>
              <a:ea typeface="Calibri"/>
              <a:cs typeface="Calibri"/>
              <a:sym typeface="Calibri"/>
            </a:endParaRPr>
          </a:p>
        </p:txBody>
      </p:sp>
      <p:pic>
        <p:nvPicPr>
          <p:cNvPr id="260" name="Google Shape;260;p23"/>
          <p:cNvPicPr preferRelativeResize="0"/>
          <p:nvPr/>
        </p:nvPicPr>
        <p:blipFill>
          <a:blip r:embed="rId6">
            <a:alphaModFix/>
          </a:blip>
          <a:stretch>
            <a:fillRect/>
          </a:stretch>
        </p:blipFill>
        <p:spPr>
          <a:xfrm>
            <a:off x="754075" y="2273300"/>
            <a:ext cx="7678849" cy="7652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264"/>
        <p:cNvGrpSpPr/>
        <p:nvPr/>
      </p:nvGrpSpPr>
      <p:grpSpPr>
        <a:xfrm>
          <a:off x="0" y="0"/>
          <a:ext cx="0" cy="0"/>
          <a:chOff x="0" y="0"/>
          <a:chExt cx="0" cy="0"/>
        </a:xfrm>
      </p:grpSpPr>
      <p:pic>
        <p:nvPicPr>
          <p:cNvPr id="265" name="Google Shape;265;p24"/>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266" name="Google Shape;266;p24"/>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99741" dir="12600000">
              <a:srgbClr val="FFFFFF">
                <a:alpha val="49800"/>
              </a:srgbClr>
            </a:outerShdw>
          </a:effectLst>
        </p:spPr>
      </p:pic>
      <p:pic>
        <p:nvPicPr>
          <p:cNvPr id="267" name="Google Shape;267;p24"/>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268" name="Google Shape;268;p24"/>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269" name="Google Shape;269;p24"/>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270" name="Google Shape;270;p24"/>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271" name="Google Shape;271;p24"/>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프론트엔드 관리자 화면 구현</a:t>
            </a:r>
            <a:endParaRPr/>
          </a:p>
        </p:txBody>
      </p:sp>
      <p:sp>
        <p:nvSpPr>
          <p:cNvPr id="272" name="Google Shape;272;p24"/>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273" name="Google Shape;273;p24"/>
          <p:cNvPicPr preferRelativeResize="0"/>
          <p:nvPr/>
        </p:nvPicPr>
        <p:blipFill rotWithShape="1">
          <a:blip r:embed="rId6">
            <a:alphaModFix/>
          </a:blip>
          <a:srcRect l="17033" b="-6033"/>
          <a:stretch/>
        </p:blipFill>
        <p:spPr>
          <a:xfrm>
            <a:off x="609499" y="2273300"/>
            <a:ext cx="8255773" cy="4849057"/>
          </a:xfrm>
          <a:prstGeom prst="rect">
            <a:avLst/>
          </a:prstGeom>
          <a:noFill/>
          <a:ln>
            <a:noFill/>
          </a:ln>
        </p:spPr>
      </p:pic>
      <p:pic>
        <p:nvPicPr>
          <p:cNvPr id="274" name="Google Shape;274;p24"/>
          <p:cNvPicPr preferRelativeResize="0"/>
          <p:nvPr/>
        </p:nvPicPr>
        <p:blipFill rotWithShape="1">
          <a:blip r:embed="rId7">
            <a:alphaModFix/>
          </a:blip>
          <a:srcRect l="16043"/>
          <a:stretch/>
        </p:blipFill>
        <p:spPr>
          <a:xfrm>
            <a:off x="9178700" y="4359388"/>
            <a:ext cx="8255776" cy="4475289"/>
          </a:xfrm>
          <a:prstGeom prst="rect">
            <a:avLst/>
          </a:prstGeom>
          <a:noFill/>
          <a:ln>
            <a:noFill/>
          </a:ln>
        </p:spPr>
      </p:pic>
      <p:sp>
        <p:nvSpPr>
          <p:cNvPr id="275" name="Google Shape;275;p24"/>
          <p:cNvSpPr txBox="1"/>
          <p:nvPr/>
        </p:nvSpPr>
        <p:spPr>
          <a:xfrm>
            <a:off x="761475" y="7262050"/>
            <a:ext cx="7186800" cy="183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a:solidFill>
                  <a:schemeClr val="dk1"/>
                </a:solidFill>
                <a:latin typeface="Calibri"/>
                <a:ea typeface="Calibri"/>
                <a:cs typeface="Calibri"/>
                <a:sym typeface="Calibri"/>
              </a:rPr>
              <a:t>관리자 로그인시 직원 로그인 화면과는</a:t>
            </a:r>
            <a:endParaRPr sz="3000">
              <a:solidFill>
                <a:schemeClr val="dk1"/>
              </a:solidFill>
              <a:latin typeface="Calibri"/>
              <a:ea typeface="Calibri"/>
              <a:cs typeface="Calibri"/>
              <a:sym typeface="Calibri"/>
            </a:endParaRPr>
          </a:p>
          <a:p>
            <a:pPr marL="0" lvl="0" indent="0" algn="l" rtl="0">
              <a:spcBef>
                <a:spcPts val="0"/>
              </a:spcBef>
              <a:spcAft>
                <a:spcPts val="0"/>
              </a:spcAft>
              <a:buNone/>
            </a:pPr>
            <a:r>
              <a:rPr lang="en-US" sz="3000">
                <a:solidFill>
                  <a:schemeClr val="dk1"/>
                </a:solidFill>
                <a:latin typeface="Calibri"/>
                <a:ea typeface="Calibri"/>
                <a:cs typeface="Calibri"/>
                <a:sym typeface="Calibri"/>
              </a:rPr>
              <a:t>다른 화면</a:t>
            </a:r>
            <a:endParaRPr sz="3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279"/>
        <p:cNvGrpSpPr/>
        <p:nvPr/>
      </p:nvGrpSpPr>
      <p:grpSpPr>
        <a:xfrm>
          <a:off x="0" y="0"/>
          <a:ext cx="0" cy="0"/>
          <a:chOff x="0" y="0"/>
          <a:chExt cx="0" cy="0"/>
        </a:xfrm>
      </p:grpSpPr>
      <p:pic>
        <p:nvPicPr>
          <p:cNvPr id="280" name="Google Shape;280;p25"/>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281" name="Google Shape;281;p25"/>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282" name="Google Shape;282;p25"/>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283" name="Google Shape;283;p25"/>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284" name="Google Shape;284;p25"/>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285" name="Google Shape;285;p25"/>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286" name="Google Shape;286;p25"/>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프론트엔드 관리자 화면 구현</a:t>
            </a:r>
            <a:endParaRPr/>
          </a:p>
        </p:txBody>
      </p:sp>
      <p:sp>
        <p:nvSpPr>
          <p:cNvPr id="287" name="Google Shape;287;p25"/>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288" name="Google Shape;288;p25"/>
          <p:cNvPicPr preferRelativeResize="0"/>
          <p:nvPr/>
        </p:nvPicPr>
        <p:blipFill>
          <a:blip r:embed="rId6">
            <a:alphaModFix/>
          </a:blip>
          <a:stretch>
            <a:fillRect/>
          </a:stretch>
        </p:blipFill>
        <p:spPr>
          <a:xfrm>
            <a:off x="789400" y="2381062"/>
            <a:ext cx="9544999" cy="3844274"/>
          </a:xfrm>
          <a:prstGeom prst="rect">
            <a:avLst/>
          </a:prstGeom>
          <a:noFill/>
          <a:ln>
            <a:noFill/>
          </a:ln>
        </p:spPr>
      </p:pic>
      <p:pic>
        <p:nvPicPr>
          <p:cNvPr id="289" name="Google Shape;289;p25"/>
          <p:cNvPicPr preferRelativeResize="0"/>
          <p:nvPr/>
        </p:nvPicPr>
        <p:blipFill>
          <a:blip r:embed="rId7">
            <a:alphaModFix/>
          </a:blip>
          <a:stretch>
            <a:fillRect/>
          </a:stretch>
        </p:blipFill>
        <p:spPr>
          <a:xfrm>
            <a:off x="7055675" y="6625201"/>
            <a:ext cx="10089313" cy="3175974"/>
          </a:xfrm>
          <a:prstGeom prst="rect">
            <a:avLst/>
          </a:prstGeom>
          <a:noFill/>
          <a:ln>
            <a:noFill/>
          </a:ln>
        </p:spPr>
      </p:pic>
      <p:sp>
        <p:nvSpPr>
          <p:cNvPr id="290" name="Google Shape;290;p25"/>
          <p:cNvSpPr txBox="1"/>
          <p:nvPr/>
        </p:nvSpPr>
        <p:spPr>
          <a:xfrm>
            <a:off x="10744475" y="2980900"/>
            <a:ext cx="7186800" cy="183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관리자의 기능 - 직원 등록 및 리스트 확인</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API 연동</a:t>
            </a:r>
            <a:endParaRPr sz="3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294"/>
        <p:cNvGrpSpPr/>
        <p:nvPr/>
      </p:nvGrpSpPr>
      <p:grpSpPr>
        <a:xfrm>
          <a:off x="0" y="0"/>
          <a:ext cx="0" cy="0"/>
          <a:chOff x="0" y="0"/>
          <a:chExt cx="0" cy="0"/>
        </a:xfrm>
      </p:grpSpPr>
      <p:pic>
        <p:nvPicPr>
          <p:cNvPr id="295" name="Google Shape;295;p26"/>
          <p:cNvPicPr preferRelativeResize="0"/>
          <p:nvPr/>
        </p:nvPicPr>
        <p:blipFill rotWithShape="1">
          <a:blip r:embed="rId3">
            <a:alphaModFix amt="70000"/>
          </a:blip>
          <a:srcRect/>
          <a:stretch/>
        </p:blipFill>
        <p:spPr>
          <a:xfrm>
            <a:off x="9829800" y="2705100"/>
            <a:ext cx="8661400" cy="8877299"/>
          </a:xfrm>
          <a:prstGeom prst="rect">
            <a:avLst/>
          </a:prstGeom>
          <a:noFill/>
          <a:ln>
            <a:noFill/>
          </a:ln>
          <a:effectLst>
            <a:outerShdw blurRad="466322" dist="133161" dir="1800000">
              <a:srgbClr val="000000">
                <a:alpha val="9800"/>
              </a:srgbClr>
            </a:outerShdw>
          </a:effectLst>
        </p:spPr>
      </p:pic>
      <p:pic>
        <p:nvPicPr>
          <p:cNvPr id="296" name="Google Shape;296;p26"/>
          <p:cNvPicPr preferRelativeResize="0"/>
          <p:nvPr/>
        </p:nvPicPr>
        <p:blipFill rotWithShape="1">
          <a:blip r:embed="rId3">
            <a:alphaModFix amt="70000"/>
          </a:blip>
          <a:srcRect/>
          <a:stretch/>
        </p:blipFill>
        <p:spPr>
          <a:xfrm>
            <a:off x="9842500" y="2717800"/>
            <a:ext cx="8661400" cy="8877299"/>
          </a:xfrm>
          <a:prstGeom prst="rect">
            <a:avLst/>
          </a:prstGeom>
          <a:noFill/>
          <a:ln>
            <a:noFill/>
          </a:ln>
          <a:effectLst>
            <a:outerShdw blurRad="466322" dist="199741" dir="12600000">
              <a:srgbClr val="FFFFFF">
                <a:alpha val="49800"/>
              </a:srgbClr>
            </a:outerShdw>
          </a:effectLst>
        </p:spPr>
      </p:pic>
      <p:pic>
        <p:nvPicPr>
          <p:cNvPr id="297" name="Google Shape;297;p26"/>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42716" dir="1800000">
              <a:srgbClr val="000000">
                <a:alpha val="9800"/>
              </a:srgbClr>
            </a:outerShdw>
          </a:effectLst>
        </p:spPr>
      </p:pic>
      <p:pic>
        <p:nvPicPr>
          <p:cNvPr id="298" name="Google Shape;298;p26"/>
          <p:cNvPicPr preferRelativeResize="0"/>
          <p:nvPr/>
        </p:nvPicPr>
        <p:blipFill rotWithShape="1">
          <a:blip r:embed="rId4">
            <a:alphaModFix amt="80000"/>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299" name="Google Shape;299;p26"/>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300" name="Google Shape;300;p26"/>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301" name="Google Shape;301;p26"/>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Clr>
                <a:srgbClr val="000000"/>
              </a:buClr>
              <a:buFont typeface="Arial"/>
              <a:buNone/>
            </a:pPr>
            <a:r>
              <a:rPr lang="en-US" sz="6000">
                <a:solidFill>
                  <a:srgbClr val="11359A"/>
                </a:solidFill>
              </a:rPr>
              <a:t>프론트엔드 관리자 화면 구현</a:t>
            </a:r>
            <a:endParaRPr/>
          </a:p>
        </p:txBody>
      </p:sp>
      <p:sp>
        <p:nvSpPr>
          <p:cNvPr id="302" name="Google Shape;302;p26"/>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303" name="Google Shape;303;p26"/>
          <p:cNvPicPr preferRelativeResize="0"/>
          <p:nvPr/>
        </p:nvPicPr>
        <p:blipFill>
          <a:blip r:embed="rId6">
            <a:alphaModFix/>
          </a:blip>
          <a:stretch>
            <a:fillRect/>
          </a:stretch>
        </p:blipFill>
        <p:spPr>
          <a:xfrm>
            <a:off x="908550" y="2470250"/>
            <a:ext cx="8795976" cy="3904925"/>
          </a:xfrm>
          <a:prstGeom prst="rect">
            <a:avLst/>
          </a:prstGeom>
          <a:noFill/>
          <a:ln>
            <a:noFill/>
          </a:ln>
        </p:spPr>
      </p:pic>
      <p:pic>
        <p:nvPicPr>
          <p:cNvPr id="304" name="Google Shape;304;p26"/>
          <p:cNvPicPr preferRelativeResize="0"/>
          <p:nvPr/>
        </p:nvPicPr>
        <p:blipFill rotWithShape="1">
          <a:blip r:embed="rId7">
            <a:alphaModFix/>
          </a:blip>
          <a:srcRect t="8037"/>
          <a:stretch/>
        </p:blipFill>
        <p:spPr>
          <a:xfrm>
            <a:off x="8400625" y="6086600"/>
            <a:ext cx="9317300" cy="3368550"/>
          </a:xfrm>
          <a:prstGeom prst="rect">
            <a:avLst/>
          </a:prstGeom>
          <a:noFill/>
          <a:ln>
            <a:noFill/>
          </a:ln>
        </p:spPr>
      </p:pic>
      <p:sp>
        <p:nvSpPr>
          <p:cNvPr id="305" name="Google Shape;305;p26"/>
          <p:cNvSpPr txBox="1"/>
          <p:nvPr/>
        </p:nvSpPr>
        <p:spPr>
          <a:xfrm>
            <a:off x="10251275" y="2980900"/>
            <a:ext cx="7186800" cy="183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관리자의 기능 - 문서 등록  및 리스트 확인</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API 연동</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309"/>
        <p:cNvGrpSpPr/>
        <p:nvPr/>
      </p:nvGrpSpPr>
      <p:grpSpPr>
        <a:xfrm>
          <a:off x="0" y="0"/>
          <a:ext cx="0" cy="0"/>
          <a:chOff x="0" y="0"/>
          <a:chExt cx="0" cy="0"/>
        </a:xfrm>
      </p:grpSpPr>
      <p:sp>
        <p:nvSpPr>
          <p:cNvPr id="310" name="Google Shape;310;p27"/>
          <p:cNvSpPr txBox="1"/>
          <p:nvPr/>
        </p:nvSpPr>
        <p:spPr>
          <a:xfrm>
            <a:off x="4132725" y="171050"/>
            <a:ext cx="10439400" cy="1066800"/>
          </a:xfrm>
          <a:prstGeom prst="rect">
            <a:avLst/>
          </a:prstGeom>
          <a:noFill/>
          <a:ln>
            <a:noFill/>
          </a:ln>
        </p:spPr>
        <p:txBody>
          <a:bodyPr spcFirstLastPara="1" wrap="square" lIns="0" tIns="0" rIns="0" bIns="0" anchor="ctr" anchorCtr="0">
            <a:noAutofit/>
          </a:bodyPr>
          <a:lstStyle/>
          <a:p>
            <a:pPr marL="0" marR="0" lvl="0" indent="0" algn="l" rtl="0">
              <a:lnSpc>
                <a:spcPct val="83000"/>
              </a:lnSpc>
              <a:spcBef>
                <a:spcPts val="0"/>
              </a:spcBef>
              <a:spcAft>
                <a:spcPts val="0"/>
              </a:spcAft>
              <a:buNone/>
            </a:pPr>
            <a:r>
              <a:rPr lang="en-US" sz="6000">
                <a:solidFill>
                  <a:srgbClr val="11359A"/>
                </a:solidFill>
              </a:rPr>
              <a:t>              챗봇 UX 개선</a:t>
            </a:r>
            <a:endParaRPr/>
          </a:p>
        </p:txBody>
      </p:sp>
      <p:sp>
        <p:nvSpPr>
          <p:cNvPr id="311" name="Google Shape;311;p27"/>
          <p:cNvSpPr txBox="1"/>
          <p:nvPr/>
        </p:nvSpPr>
        <p:spPr>
          <a:xfrm>
            <a:off x="829000" y="6794775"/>
            <a:ext cx="13167900" cy="2916900"/>
          </a:xfrm>
          <a:prstGeom prst="rect">
            <a:avLst/>
          </a:prstGeom>
          <a:noFill/>
          <a:ln>
            <a:noFill/>
          </a:ln>
        </p:spPr>
        <p:txBody>
          <a:bodyPr spcFirstLastPara="1" wrap="square" lIns="0" tIns="0" rIns="0" bIns="0" anchor="ctr" anchorCtr="0">
            <a:noAutofit/>
          </a:bodyPr>
          <a:lstStyle/>
          <a:p>
            <a:pPr marL="0" marR="0" lvl="0" indent="0" algn="l" rtl="0">
              <a:lnSpc>
                <a:spcPct val="116199"/>
              </a:lnSpc>
              <a:spcBef>
                <a:spcPts val="0"/>
              </a:spcBef>
              <a:spcAft>
                <a:spcPts val="0"/>
              </a:spcAft>
              <a:buNone/>
            </a:pPr>
            <a:r>
              <a:rPr lang="en-US" sz="2600" b="1"/>
              <a:t>길고 복잡한 텍스트 중심 구조  -&gt;  카드형 UI로 직관성·초보자 친화성 강화</a:t>
            </a:r>
            <a:br>
              <a:rPr lang="en-US" sz="2400"/>
            </a:br>
            <a:br>
              <a:rPr lang="en-US" sz="2400"/>
            </a:br>
            <a:r>
              <a:rPr lang="en-US" sz="2400"/>
              <a:t>- (기존) </a:t>
            </a:r>
            <a:r>
              <a:rPr lang="en-US" sz="2400">
                <a:solidFill>
                  <a:schemeClr val="dk1"/>
                </a:solidFill>
              </a:rPr>
              <a:t>직관성·시각적 유도·초보자 친화성 부족으로 가독성이 떨어짐</a:t>
            </a:r>
            <a:br>
              <a:rPr lang="en-US" sz="2400"/>
            </a:br>
            <a:r>
              <a:rPr lang="en-US" sz="2400"/>
              <a:t>- (신규) 챗봇 시작 페이지에서 제공되는 예시 질문과 설명을 통해 챗봇 가이드제공. </a:t>
            </a:r>
            <a:br>
              <a:rPr lang="en-US" sz="2400"/>
            </a:br>
            <a:r>
              <a:rPr lang="en-US" sz="2400"/>
              <a:t>- (신규) 처음 접속한 사용자도 직관적인 가이드를 따라 바로 챗봇을 이용할 수 있도록 설계</a:t>
            </a:r>
            <a:br>
              <a:rPr lang="en-US" sz="2400"/>
            </a:br>
            <a:endParaRPr sz="2400"/>
          </a:p>
        </p:txBody>
      </p:sp>
      <p:sp>
        <p:nvSpPr>
          <p:cNvPr id="312" name="Google Shape;312;p27"/>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313" name="Google Shape;313;p27"/>
          <p:cNvPicPr preferRelativeResize="0"/>
          <p:nvPr/>
        </p:nvPicPr>
        <p:blipFill>
          <a:blip r:embed="rId3">
            <a:alphaModFix/>
          </a:blip>
          <a:stretch>
            <a:fillRect/>
          </a:stretch>
        </p:blipFill>
        <p:spPr>
          <a:xfrm>
            <a:off x="8579900" y="1502600"/>
            <a:ext cx="8992748" cy="5269176"/>
          </a:xfrm>
          <a:prstGeom prst="rect">
            <a:avLst/>
          </a:prstGeom>
          <a:noFill/>
          <a:ln>
            <a:noFill/>
          </a:ln>
        </p:spPr>
      </p:pic>
      <p:pic>
        <p:nvPicPr>
          <p:cNvPr id="314" name="Google Shape;314;p27"/>
          <p:cNvPicPr preferRelativeResize="0"/>
          <p:nvPr/>
        </p:nvPicPr>
        <p:blipFill>
          <a:blip r:embed="rId4">
            <a:alphaModFix/>
          </a:blip>
          <a:stretch>
            <a:fillRect/>
          </a:stretch>
        </p:blipFill>
        <p:spPr>
          <a:xfrm>
            <a:off x="676600" y="1509325"/>
            <a:ext cx="9424622" cy="5269175"/>
          </a:xfrm>
          <a:prstGeom prst="rect">
            <a:avLst/>
          </a:prstGeom>
          <a:noFill/>
          <a:ln>
            <a:noFill/>
          </a:ln>
        </p:spPr>
      </p:pic>
      <p:sp>
        <p:nvSpPr>
          <p:cNvPr id="315" name="Google Shape;315;p27"/>
          <p:cNvSpPr/>
          <p:nvPr/>
        </p:nvSpPr>
        <p:spPr>
          <a:xfrm>
            <a:off x="7491000" y="4046375"/>
            <a:ext cx="2434800" cy="482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319"/>
        <p:cNvGrpSpPr/>
        <p:nvPr/>
      </p:nvGrpSpPr>
      <p:grpSpPr>
        <a:xfrm>
          <a:off x="0" y="0"/>
          <a:ext cx="0" cy="0"/>
          <a:chOff x="0" y="0"/>
          <a:chExt cx="0" cy="0"/>
        </a:xfrm>
      </p:grpSpPr>
      <p:sp>
        <p:nvSpPr>
          <p:cNvPr id="320" name="Google Shape;320;p28"/>
          <p:cNvSpPr txBox="1"/>
          <p:nvPr/>
        </p:nvSpPr>
        <p:spPr>
          <a:xfrm>
            <a:off x="4666125" y="399650"/>
            <a:ext cx="10439400" cy="1066800"/>
          </a:xfrm>
          <a:prstGeom prst="rect">
            <a:avLst/>
          </a:prstGeom>
          <a:noFill/>
          <a:ln>
            <a:noFill/>
          </a:ln>
        </p:spPr>
        <p:txBody>
          <a:bodyPr spcFirstLastPara="1" wrap="square" lIns="0" tIns="0" rIns="0" bIns="0" anchor="ctr" anchorCtr="0">
            <a:noAutofit/>
          </a:bodyPr>
          <a:lstStyle/>
          <a:p>
            <a:pPr marL="0" marR="0" lvl="0" indent="0" algn="l" rtl="0">
              <a:lnSpc>
                <a:spcPct val="83000"/>
              </a:lnSpc>
              <a:spcBef>
                <a:spcPts val="0"/>
              </a:spcBef>
              <a:spcAft>
                <a:spcPts val="0"/>
              </a:spcAft>
              <a:buNone/>
            </a:pPr>
            <a:r>
              <a:rPr lang="en-US" sz="6000">
                <a:solidFill>
                  <a:srgbClr val="11359A"/>
                </a:solidFill>
              </a:rPr>
              <a:t>              서류 작성</a:t>
            </a:r>
            <a:endParaRPr/>
          </a:p>
        </p:txBody>
      </p:sp>
      <p:sp>
        <p:nvSpPr>
          <p:cNvPr id="321" name="Google Shape;321;p28"/>
          <p:cNvSpPr txBox="1"/>
          <p:nvPr/>
        </p:nvSpPr>
        <p:spPr>
          <a:xfrm>
            <a:off x="2628025" y="1360850"/>
            <a:ext cx="15335400" cy="7802700"/>
          </a:xfrm>
          <a:prstGeom prst="rect">
            <a:avLst/>
          </a:prstGeom>
          <a:noFill/>
          <a:ln>
            <a:noFill/>
          </a:ln>
        </p:spPr>
        <p:txBody>
          <a:bodyPr spcFirstLastPara="1" wrap="square" lIns="0" tIns="0" rIns="0" bIns="0" anchor="ctr" anchorCtr="0">
            <a:noAutofit/>
          </a:bodyPr>
          <a:lstStyle/>
          <a:p>
            <a:pPr marL="0" marR="0" lvl="0" indent="0" algn="l" rtl="0">
              <a:lnSpc>
                <a:spcPct val="116199"/>
              </a:lnSpc>
              <a:spcBef>
                <a:spcPts val="0"/>
              </a:spcBef>
              <a:spcAft>
                <a:spcPts val="0"/>
              </a:spcAft>
              <a:buNone/>
            </a:pPr>
            <a:endParaRPr sz="2400"/>
          </a:p>
        </p:txBody>
      </p:sp>
      <p:sp>
        <p:nvSpPr>
          <p:cNvPr id="322" name="Google Shape;322;p28"/>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pic>
        <p:nvPicPr>
          <p:cNvPr id="323" name="Google Shape;323;p28"/>
          <p:cNvPicPr preferRelativeResize="0"/>
          <p:nvPr/>
        </p:nvPicPr>
        <p:blipFill>
          <a:blip r:embed="rId3">
            <a:alphaModFix/>
          </a:blip>
          <a:stretch>
            <a:fillRect/>
          </a:stretch>
        </p:blipFill>
        <p:spPr>
          <a:xfrm>
            <a:off x="2628025" y="1827775"/>
            <a:ext cx="7381376" cy="7925725"/>
          </a:xfrm>
          <a:prstGeom prst="rect">
            <a:avLst/>
          </a:prstGeom>
          <a:noFill/>
          <a:ln>
            <a:noFill/>
          </a:ln>
        </p:spPr>
      </p:pic>
      <p:sp>
        <p:nvSpPr>
          <p:cNvPr id="324" name="Google Shape;324;p28"/>
          <p:cNvSpPr txBox="1"/>
          <p:nvPr/>
        </p:nvSpPr>
        <p:spPr>
          <a:xfrm>
            <a:off x="11660125" y="4409000"/>
            <a:ext cx="4197900" cy="204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서류 포함 내용</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아키텍처</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구조 및 기능</a:t>
            </a:r>
            <a:endParaRPr sz="2800">
              <a:solidFill>
                <a:schemeClr val="dk1"/>
              </a:solidFill>
              <a:latin typeface="Calibri"/>
              <a:ea typeface="Calibri"/>
              <a:cs typeface="Calibri"/>
              <a:sym typeface="Calibri"/>
            </a:endParaRPr>
          </a:p>
          <a:p>
            <a:pPr marL="457200" lvl="0" indent="-406400" algn="l" rtl="0">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코드</a:t>
            </a:r>
            <a:endParaRPr sz="2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328"/>
        <p:cNvGrpSpPr/>
        <p:nvPr/>
      </p:nvGrpSpPr>
      <p:grpSpPr>
        <a:xfrm>
          <a:off x="0" y="0"/>
          <a:ext cx="0" cy="0"/>
          <a:chOff x="0" y="0"/>
          <a:chExt cx="0" cy="0"/>
        </a:xfrm>
      </p:grpSpPr>
      <p:pic>
        <p:nvPicPr>
          <p:cNvPr id="329" name="Google Shape;329;p29"/>
          <p:cNvPicPr preferRelativeResize="0"/>
          <p:nvPr/>
        </p:nvPicPr>
        <p:blipFill rotWithShape="1">
          <a:blip r:embed="rId3">
            <a:alphaModFix/>
          </a:blip>
          <a:srcRect/>
          <a:stretch/>
        </p:blipFill>
        <p:spPr>
          <a:xfrm>
            <a:off x="16764000" y="762000"/>
            <a:ext cx="482600" cy="1511300"/>
          </a:xfrm>
          <a:prstGeom prst="rect">
            <a:avLst/>
          </a:prstGeom>
          <a:noFill/>
          <a:ln>
            <a:noFill/>
          </a:ln>
        </p:spPr>
      </p:pic>
      <p:sp>
        <p:nvSpPr>
          <p:cNvPr id="330" name="Google Shape;330;p29"/>
          <p:cNvSpPr txBox="1"/>
          <p:nvPr/>
        </p:nvSpPr>
        <p:spPr>
          <a:xfrm>
            <a:off x="3924300" y="914400"/>
            <a:ext cx="10439400" cy="10668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None/>
            </a:pPr>
            <a:r>
              <a:rPr lang="en-US" sz="6000">
                <a:solidFill>
                  <a:srgbClr val="11359A"/>
                </a:solidFill>
              </a:rPr>
              <a:t>금주 진행 예정 사항</a:t>
            </a:r>
            <a:endParaRPr/>
          </a:p>
        </p:txBody>
      </p:sp>
      <p:sp>
        <p:nvSpPr>
          <p:cNvPr id="331" name="Google Shape;331;p29"/>
          <p:cNvSpPr txBox="1"/>
          <p:nvPr/>
        </p:nvSpPr>
        <p:spPr>
          <a:xfrm>
            <a:off x="1054100" y="749300"/>
            <a:ext cx="10160100" cy="419100"/>
          </a:xfrm>
          <a:prstGeom prst="rect">
            <a:avLst/>
          </a:prstGeom>
          <a:noFill/>
          <a:ln>
            <a:noFill/>
          </a:ln>
        </p:spPr>
        <p:txBody>
          <a:bodyPr spcFirstLastPara="1" wrap="square" lIns="0" tIns="0" rIns="0" bIns="0" anchor="ctr" anchorCtr="0">
            <a:noAutofit/>
          </a:bodyPr>
          <a:lstStyle/>
          <a:p>
            <a:pPr marL="0" marR="0" lvl="0" indent="0" algn="l" rtl="0">
              <a:lnSpc>
                <a:spcPct val="99600"/>
              </a:lnSpc>
              <a:spcBef>
                <a:spcPts val="0"/>
              </a:spcBef>
              <a:spcAft>
                <a:spcPts val="0"/>
              </a:spcAft>
              <a:buNone/>
            </a:pPr>
            <a:r>
              <a:rPr lang="en-US" sz="2400">
                <a:solidFill>
                  <a:srgbClr val="11359A"/>
                </a:solidFill>
                <a:latin typeface="Oswald SemiBold"/>
                <a:ea typeface="Oswald SemiBold"/>
                <a:cs typeface="Oswald SemiBold"/>
                <a:sym typeface="Oswald SemiBold"/>
              </a:rPr>
              <a:t>1팀_JJS</a:t>
            </a:r>
            <a:endParaRPr/>
          </a:p>
        </p:txBody>
      </p:sp>
      <p:sp>
        <p:nvSpPr>
          <p:cNvPr id="332" name="Google Shape;332;p29"/>
          <p:cNvSpPr txBox="1"/>
          <p:nvPr/>
        </p:nvSpPr>
        <p:spPr>
          <a:xfrm>
            <a:off x="1341550" y="2788750"/>
            <a:ext cx="16159200" cy="665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김도윤 : raw데이터 증강 및 router호환성 개선, 챗봇 테스트 및 ux 개선  </a:t>
            </a:r>
            <a:endParaRPr sz="32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손현성 : 규정 데이터 및 최신뉴스 수집 자동화 작업, 규정 위반 메시지 개선 (규정 출처 출력 등)</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이용규 : 거래처 분석 에이전트 고도화 마무리(약품후기데이터추가 및 그래프연결로 마무리) </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최문영 : 프론트엔드 API 연동, 실적 분석 에이전트 데이터베이스 연동</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Calibri"/>
                <a:ea typeface="Calibri"/>
                <a:cs typeface="Calibri"/>
                <a:sym typeface="Calibri"/>
              </a:rPr>
              <a:t>허한결 : 검색 에이전트 구현, 외부 데이터베이스 구축, aws 변환 작업 연구</a:t>
            </a:r>
            <a:endParaRPr sz="3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3F3"/>
        </a:solidFill>
        <a:effectLst/>
      </p:bgPr>
    </p:bg>
    <p:spTree>
      <p:nvGrpSpPr>
        <p:cNvPr id="1" name="Shape 336"/>
        <p:cNvGrpSpPr/>
        <p:nvPr/>
      </p:nvGrpSpPr>
      <p:grpSpPr>
        <a:xfrm>
          <a:off x="0" y="0"/>
          <a:ext cx="0" cy="0"/>
          <a:chOff x="0" y="0"/>
          <a:chExt cx="0" cy="0"/>
        </a:xfrm>
      </p:grpSpPr>
      <p:pic>
        <p:nvPicPr>
          <p:cNvPr id="337" name="Google Shape;337;p30"/>
          <p:cNvPicPr preferRelativeResize="0"/>
          <p:nvPr/>
        </p:nvPicPr>
        <p:blipFill rotWithShape="1">
          <a:blip r:embed="rId3">
            <a:alphaModFix/>
          </a:blip>
          <a:srcRect/>
          <a:stretch/>
        </p:blipFill>
        <p:spPr>
          <a:xfrm>
            <a:off x="9829800" y="2705100"/>
            <a:ext cx="8661400" cy="8877300"/>
          </a:xfrm>
          <a:prstGeom prst="rect">
            <a:avLst/>
          </a:prstGeom>
          <a:noFill/>
          <a:ln>
            <a:noFill/>
          </a:ln>
          <a:effectLst>
            <a:outerShdw blurRad="466322" dist="133161" dir="1800000">
              <a:srgbClr val="000000">
                <a:alpha val="9803"/>
              </a:srgbClr>
            </a:outerShdw>
          </a:effectLst>
        </p:spPr>
      </p:pic>
      <p:pic>
        <p:nvPicPr>
          <p:cNvPr id="338" name="Google Shape;338;p30"/>
          <p:cNvPicPr preferRelativeResize="0"/>
          <p:nvPr/>
        </p:nvPicPr>
        <p:blipFill rotWithShape="1">
          <a:blip r:embed="rId3">
            <a:alphaModFix/>
          </a:blip>
          <a:srcRect/>
          <a:stretch/>
        </p:blipFill>
        <p:spPr>
          <a:xfrm>
            <a:off x="9842500" y="2717800"/>
            <a:ext cx="8661400" cy="8877300"/>
          </a:xfrm>
          <a:prstGeom prst="rect">
            <a:avLst/>
          </a:prstGeom>
          <a:noFill/>
          <a:ln>
            <a:noFill/>
          </a:ln>
          <a:effectLst>
            <a:outerShdw blurRad="466322" dist="199741" dir="12600000">
              <a:srgbClr val="FFFFFF">
                <a:alpha val="49803"/>
              </a:srgbClr>
            </a:outerShdw>
          </a:effectLst>
        </p:spPr>
      </p:pic>
      <p:pic>
        <p:nvPicPr>
          <p:cNvPr id="339" name="Google Shape;339;p30"/>
          <p:cNvPicPr preferRelativeResize="0"/>
          <p:nvPr/>
        </p:nvPicPr>
        <p:blipFill rotWithShape="1">
          <a:blip r:embed="rId4">
            <a:alphaModFix/>
          </a:blip>
          <a:srcRect/>
          <a:stretch/>
        </p:blipFill>
        <p:spPr>
          <a:xfrm>
            <a:off x="1638300" y="1854200"/>
            <a:ext cx="2781300" cy="2844800"/>
          </a:xfrm>
          <a:prstGeom prst="rect">
            <a:avLst/>
          </a:prstGeom>
          <a:noFill/>
          <a:ln>
            <a:noFill/>
          </a:ln>
          <a:effectLst>
            <a:outerShdw blurRad="47986" dist="42716" dir="1800000">
              <a:srgbClr val="000000">
                <a:alpha val="9803"/>
              </a:srgbClr>
            </a:outerShdw>
          </a:effectLst>
        </p:spPr>
      </p:pic>
      <p:pic>
        <p:nvPicPr>
          <p:cNvPr id="340" name="Google Shape;340;p30"/>
          <p:cNvPicPr preferRelativeResize="0"/>
          <p:nvPr/>
        </p:nvPicPr>
        <p:blipFill rotWithShape="1">
          <a:blip r:embed="rId4">
            <a:alphaModFix/>
          </a:blip>
          <a:srcRect/>
          <a:stretch/>
        </p:blipFill>
        <p:spPr>
          <a:xfrm>
            <a:off x="1638300" y="1854200"/>
            <a:ext cx="2781300" cy="2844800"/>
          </a:xfrm>
          <a:prstGeom prst="rect">
            <a:avLst/>
          </a:prstGeom>
          <a:noFill/>
          <a:ln>
            <a:noFill/>
          </a:ln>
          <a:effectLst>
            <a:outerShdw blurRad="47986" dist="64074" dir="12600000">
              <a:srgbClr val="FFFFFF">
                <a:alpha val="60000"/>
              </a:srgbClr>
            </a:outerShdw>
          </a:effectLst>
        </p:spPr>
      </p:pic>
      <p:pic>
        <p:nvPicPr>
          <p:cNvPr id="341" name="Google Shape;341;p30"/>
          <p:cNvPicPr preferRelativeResize="0"/>
          <p:nvPr/>
        </p:nvPicPr>
        <p:blipFill rotWithShape="1">
          <a:blip r:embed="rId5">
            <a:alphaModFix/>
          </a:blip>
          <a:srcRect/>
          <a:stretch/>
        </p:blipFill>
        <p:spPr>
          <a:xfrm rot="-5400000">
            <a:off x="1562100" y="8534400"/>
            <a:ext cx="482600" cy="1511300"/>
          </a:xfrm>
          <a:prstGeom prst="rect">
            <a:avLst/>
          </a:prstGeom>
          <a:noFill/>
          <a:ln>
            <a:noFill/>
          </a:ln>
        </p:spPr>
      </p:pic>
      <p:pic>
        <p:nvPicPr>
          <p:cNvPr id="342" name="Google Shape;342;p30"/>
          <p:cNvPicPr preferRelativeResize="0"/>
          <p:nvPr/>
        </p:nvPicPr>
        <p:blipFill rotWithShape="1">
          <a:blip r:embed="rId5">
            <a:alphaModFix/>
          </a:blip>
          <a:srcRect/>
          <a:stretch/>
        </p:blipFill>
        <p:spPr>
          <a:xfrm>
            <a:off x="16764000" y="762000"/>
            <a:ext cx="482600" cy="1511300"/>
          </a:xfrm>
          <a:prstGeom prst="rect">
            <a:avLst/>
          </a:prstGeom>
          <a:noFill/>
          <a:ln>
            <a:noFill/>
          </a:ln>
        </p:spPr>
      </p:pic>
      <p:sp>
        <p:nvSpPr>
          <p:cNvPr id="343" name="Google Shape;343;p30"/>
          <p:cNvSpPr txBox="1"/>
          <p:nvPr/>
        </p:nvSpPr>
        <p:spPr>
          <a:xfrm>
            <a:off x="3568700" y="3937000"/>
            <a:ext cx="11150700" cy="2603400"/>
          </a:xfrm>
          <a:prstGeom prst="rect">
            <a:avLst/>
          </a:prstGeom>
          <a:noFill/>
          <a:ln>
            <a:noFill/>
          </a:ln>
        </p:spPr>
        <p:txBody>
          <a:bodyPr spcFirstLastPara="1" wrap="square" lIns="0" tIns="0" rIns="0" bIns="0" anchor="ctr" anchorCtr="0">
            <a:noAutofit/>
          </a:bodyPr>
          <a:lstStyle/>
          <a:p>
            <a:pPr marL="0" marR="0" lvl="0" indent="0" algn="ctr" rtl="0">
              <a:lnSpc>
                <a:spcPct val="83000"/>
              </a:lnSpc>
              <a:spcBef>
                <a:spcPts val="0"/>
              </a:spcBef>
              <a:spcAft>
                <a:spcPts val="0"/>
              </a:spcAft>
              <a:buNone/>
            </a:pPr>
            <a:r>
              <a:rPr lang="en-US" sz="13000" b="0" i="0" u="none" strike="noStrike" cap="none">
                <a:solidFill>
                  <a:srgbClr val="000000"/>
                </a:solidFill>
                <a:latin typeface="Calibri"/>
                <a:ea typeface="Calibri"/>
                <a:cs typeface="Calibri"/>
                <a:sym typeface="Calibri"/>
              </a:rPr>
              <a:t>감사합니다</a:t>
            </a:r>
            <a:endParaRPr sz="13000"/>
          </a:p>
        </p:txBody>
      </p:sp>
      <p:sp>
        <p:nvSpPr>
          <p:cNvPr id="344" name="Google Shape;344;p30"/>
          <p:cNvSpPr txBox="1"/>
          <p:nvPr/>
        </p:nvSpPr>
        <p:spPr>
          <a:xfrm>
            <a:off x="4064000" y="3632200"/>
            <a:ext cx="10172700" cy="469900"/>
          </a:xfrm>
          <a:prstGeom prst="rect">
            <a:avLst/>
          </a:prstGeom>
          <a:noFill/>
          <a:ln>
            <a:noFill/>
          </a:ln>
        </p:spPr>
        <p:txBody>
          <a:bodyPr spcFirstLastPara="1" wrap="square" lIns="0" tIns="0" rIns="0" bIns="0" anchor="ctr" anchorCtr="0">
            <a:noAutofit/>
          </a:bodyPr>
          <a:lstStyle/>
          <a:p>
            <a:pPr marL="0" marR="0" lvl="0" indent="0" algn="ctr" rtl="0">
              <a:lnSpc>
                <a:spcPct val="99600"/>
              </a:lnSpc>
              <a:spcBef>
                <a:spcPts val="0"/>
              </a:spcBef>
              <a:spcAft>
                <a:spcPts val="0"/>
              </a:spcAft>
              <a:buNone/>
            </a:pPr>
            <a:r>
              <a:rPr lang="en-US" sz="2600" b="0" i="0" u="none" strike="noStrike" cap="none">
                <a:solidFill>
                  <a:srgbClr val="11359A"/>
                </a:solidFill>
                <a:latin typeface="Arial"/>
                <a:ea typeface="Arial"/>
                <a:cs typeface="Arial"/>
                <a:sym typeface="Arial"/>
              </a:rPr>
              <a:t>T</a:t>
            </a:r>
            <a:r>
              <a:rPr lang="en-US" sz="2600" b="0" i="0" u="none" strike="noStrike" cap="none">
                <a:solidFill>
                  <a:srgbClr val="000000"/>
                </a:solidFill>
                <a:latin typeface="Arial"/>
                <a:ea typeface="Arial"/>
                <a:cs typeface="Arial"/>
                <a:sym typeface="Arial"/>
              </a:rPr>
              <a:t>HANKS</a:t>
            </a:r>
            <a:r>
              <a:rPr lang="en-US" sz="2600" b="0" i="0" u="none" strike="noStrike" cap="none">
                <a:solidFill>
                  <a:srgbClr val="11359A"/>
                </a:solidFill>
                <a:latin typeface="Arial"/>
                <a:ea typeface="Arial"/>
                <a:cs typeface="Arial"/>
                <a:sym typeface="Arial"/>
              </a:rPr>
              <a:t> F</a:t>
            </a:r>
            <a:r>
              <a:rPr lang="en-US" sz="2600" b="0" i="0" u="none" strike="noStrike" cap="none">
                <a:solidFill>
                  <a:srgbClr val="000000"/>
                </a:solidFill>
                <a:latin typeface="Arial"/>
                <a:ea typeface="Arial"/>
                <a:cs typeface="Arial"/>
                <a:sym typeface="Arial"/>
              </a:rPr>
              <a:t>OR</a:t>
            </a:r>
            <a:r>
              <a:rPr lang="en-US" sz="2600" b="0" i="0" u="none" strike="noStrike" cap="none">
                <a:solidFill>
                  <a:srgbClr val="11359A"/>
                </a:solidFill>
                <a:latin typeface="Arial"/>
                <a:ea typeface="Arial"/>
                <a:cs typeface="Arial"/>
                <a:sym typeface="Arial"/>
              </a:rPr>
              <a:t> W</a:t>
            </a:r>
            <a:r>
              <a:rPr lang="en-US" sz="2600" b="0" i="0" u="none" strike="noStrike" cap="none">
                <a:solidFill>
                  <a:srgbClr val="000000"/>
                </a:solidFill>
                <a:latin typeface="Arial"/>
                <a:ea typeface="Arial"/>
                <a:cs typeface="Arial"/>
                <a:sym typeface="Arial"/>
              </a:rPr>
              <a:t>ATCHING</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670</Words>
  <Application>Microsoft Office PowerPoint</Application>
  <PresentationFormat>사용자 지정</PresentationFormat>
  <Paragraphs>109</Paragraphs>
  <Slides>18</Slides>
  <Notes>18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18</vt:i4>
      </vt:variant>
    </vt:vector>
  </HeadingPairs>
  <TitlesOfParts>
    <vt:vector size="22" baseType="lpstr">
      <vt:lpstr>Arial</vt:lpstr>
      <vt:lpstr>Calibri</vt:lpstr>
      <vt:lpstr>Oswald SemiBold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ㄴㅇㄹㅇㄷㄹ</dc:creator>
  <cp:lastModifiedBy>ㅇㄷㄹ ㄴㅇㄹ</cp:lastModifiedBy>
  <cp:revision>1</cp:revision>
  <dcterms:modified xsi:type="dcterms:W3CDTF">2025-08-04T01:05:34Z</dcterms:modified>
</cp:coreProperties>
</file>